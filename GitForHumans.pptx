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15" r:id="rId4"/>
    <p:sldId id="258" r:id="rId5"/>
    <p:sldId id="259" r:id="rId6"/>
    <p:sldId id="260" r:id="rId7"/>
    <p:sldId id="261" r:id="rId8"/>
    <p:sldId id="262" r:id="rId9"/>
    <p:sldId id="263" r:id="rId10"/>
    <p:sldId id="264" r:id="rId11"/>
    <p:sldId id="265" r:id="rId12"/>
    <p:sldId id="266" r:id="rId13"/>
    <p:sldId id="267" r:id="rId14"/>
    <p:sldId id="268" r:id="rId15"/>
    <p:sldId id="273" r:id="rId16"/>
    <p:sldId id="274" r:id="rId17"/>
    <p:sldId id="275" r:id="rId18"/>
    <p:sldId id="276" r:id="rId19"/>
    <p:sldId id="277" r:id="rId20"/>
    <p:sldId id="278" r:id="rId21"/>
    <p:sldId id="279" r:id="rId22"/>
    <p:sldId id="280" r:id="rId23"/>
    <p:sldId id="281" r:id="rId24"/>
    <p:sldId id="286" r:id="rId25"/>
    <p:sldId id="282" r:id="rId26"/>
    <p:sldId id="283" r:id="rId27"/>
    <p:sldId id="312" r:id="rId28"/>
    <p:sldId id="284" r:id="rId29"/>
    <p:sldId id="285" r:id="rId30"/>
    <p:sldId id="287" r:id="rId31"/>
    <p:sldId id="288" r:id="rId32"/>
    <p:sldId id="289" r:id="rId33"/>
    <p:sldId id="290" r:id="rId34"/>
    <p:sldId id="291" r:id="rId35"/>
    <p:sldId id="292" r:id="rId36"/>
    <p:sldId id="293" r:id="rId37"/>
    <p:sldId id="294" r:id="rId38"/>
    <p:sldId id="295" r:id="rId39"/>
    <p:sldId id="296" r:id="rId40"/>
    <p:sldId id="297" r:id="rId41"/>
    <p:sldId id="299" r:id="rId42"/>
    <p:sldId id="298"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3" r:id="rId56"/>
    <p:sldId id="314"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1B0E8F8-F7D3-41DA-8AE0-F8E1432FDE5C}">
          <p14:sldIdLst>
            <p14:sldId id="256"/>
          </p14:sldIdLst>
        </p14:section>
        <p14:section name="Introduction" id="{7CD8A2E9-35FD-442A-9920-E164FA291440}">
          <p14:sldIdLst>
            <p14:sldId id="257"/>
            <p14:sldId id="315"/>
            <p14:sldId id="258"/>
            <p14:sldId id="259"/>
            <p14:sldId id="260"/>
          </p14:sldIdLst>
        </p14:section>
        <p14:section name="Getting started" id="{44FE8655-1151-41ED-B919-9C007E42047B}">
          <p14:sldIdLst>
            <p14:sldId id="261"/>
          </p14:sldIdLst>
        </p14:section>
        <p14:section name="Creating a GitHub project" id="{121281FF-64D8-4D4C-A9B1-66AA8EE2AB2A}">
          <p14:sldIdLst>
            <p14:sldId id="262"/>
            <p14:sldId id="263"/>
            <p14:sldId id="264"/>
          </p14:sldIdLst>
        </p14:section>
        <p14:section name="Creating a Git repository" id="{2C0D9481-5994-49B5-AE84-8FBD50286695}">
          <p14:sldIdLst>
            <p14:sldId id="265"/>
            <p14:sldId id="266"/>
            <p14:sldId id="267"/>
          </p14:sldIdLst>
        </p14:section>
        <p14:section name="Adding a remote" id="{BD30A648-8C8D-49D8-9466-28B73ED63D4A}">
          <p14:sldIdLst>
            <p14:sldId id="268"/>
            <p14:sldId id="273"/>
          </p14:sldIdLst>
        </p14:section>
        <p14:section name="Adding an upstream branch" id="{F06AD777-13A8-4FA8-A046-5148931CFBC3}">
          <p14:sldIdLst>
            <p14:sldId id="274"/>
          </p14:sldIdLst>
        </p14:section>
        <p14:section name="Pushing to GitHub" id="{89073A2C-EBBC-47EA-85D7-617699E35383}">
          <p14:sldIdLst>
            <p14:sldId id="275"/>
          </p14:sldIdLst>
        </p14:section>
        <p14:section name="Revisiting GitHub.com" id="{B5E36180-D3A7-40A4-B32F-D211DEA97AC0}">
          <p14:sldIdLst>
            <p14:sldId id="276"/>
          </p14:sldIdLst>
        </p14:section>
        <p14:section name="Making changes" id="{ED9209AC-5681-4219-826D-78845B82C52B}">
          <p14:sldIdLst>
            <p14:sldId id="277"/>
            <p14:sldId id="278"/>
            <p14:sldId id="279"/>
          </p14:sldIdLst>
        </p14:section>
        <p14:section name="Core terminology" id="{CDBAD8AB-1928-4142-AACF-8FBA094EFDFF}">
          <p14:sldIdLst>
            <p14:sldId id="280"/>
            <p14:sldId id="281"/>
            <p14:sldId id="286"/>
            <p14:sldId id="282"/>
          </p14:sldIdLst>
        </p14:section>
        <p14:section name="Checking out commits" id="{7FD25ED9-A64F-4279-B389-8052C4152503}">
          <p14:sldIdLst>
            <p14:sldId id="283"/>
            <p14:sldId id="312"/>
            <p14:sldId id="284"/>
          </p14:sldIdLst>
        </p14:section>
        <p14:section name="Reset" id="{28BEA6A3-3C29-4925-B255-8B072EA6D3E4}">
          <p14:sldIdLst>
            <p14:sldId id="285"/>
            <p14:sldId id="287"/>
            <p14:sldId id="288"/>
            <p14:sldId id="289"/>
          </p14:sldIdLst>
        </p14:section>
        <p14:section name="Branches and commits" id="{DE70F2C1-E791-4B7B-B97D-8553C8FF81B8}">
          <p14:sldIdLst>
            <p14:sldId id="290"/>
            <p14:sldId id="291"/>
          </p14:sldIdLst>
        </p14:section>
        <p14:section name="Clone" id="{F3BE5D63-73AE-45E7-B698-ABB3C087F080}">
          <p14:sldIdLst>
            <p14:sldId id="292"/>
            <p14:sldId id="293"/>
          </p14:sldIdLst>
        </p14:section>
        <p14:section name="Non-conflicting changes" id="{DDD50BF9-C68D-44DD-B342-58BE3054C4E1}">
          <p14:sldIdLst>
            <p14:sldId id="294"/>
            <p14:sldId id="295"/>
            <p14:sldId id="296"/>
            <p14:sldId id="297"/>
            <p14:sldId id="299"/>
          </p14:sldIdLst>
        </p14:section>
        <p14:section name="Conflicting changes" id="{39286919-6A0C-4AB4-9C0D-FE7B00477776}">
          <p14:sldIdLst>
            <p14:sldId id="298"/>
            <p14:sldId id="300"/>
            <p14:sldId id="301"/>
          </p14:sldIdLst>
        </p14:section>
        <p14:section name="Merging" id="{17017FDC-0317-451C-A46A-A4682EFBCAE9}">
          <p14:sldIdLst>
            <p14:sldId id="302"/>
            <p14:sldId id="303"/>
            <p14:sldId id="304"/>
          </p14:sldIdLst>
        </p14:section>
        <p14:section name="Branches" id="{C0BEE5D7-4C4B-4B59-8EA9-305F33EDA881}">
          <p14:sldIdLst>
            <p14:sldId id="305"/>
            <p14:sldId id="306"/>
            <p14:sldId id="307"/>
            <p14:sldId id="308"/>
            <p14:sldId id="309"/>
            <p14:sldId id="310"/>
          </p14:sldIdLst>
        </p14:section>
        <p14:section name="Appendix" id="{440DCA14-2297-4779-804F-22328389FB38}">
          <p14:sldIdLst>
            <p14:sldId id="311"/>
            <p14:sldId id="313"/>
            <p14:sldId id="31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m Laine" initials="KL" lastIdx="1" clrIdx="0">
    <p:extLst>
      <p:ext uri="{19B8F6BF-5375-455C-9EA6-DF929625EA0E}">
        <p15:presenceInfo xmlns:p15="http://schemas.microsoft.com/office/powerpoint/2012/main" userId="12260f69a48e5562" providerId="Windows Live"/>
      </p:ext>
    </p:extLst>
  </p:cmAuthor>
  <p:cmAuthor id="2" name="Megan Lee" initials="ML" lastIdx="8" clrIdx="1">
    <p:extLst>
      <p:ext uri="{19B8F6BF-5375-455C-9EA6-DF929625EA0E}">
        <p15:presenceInfo xmlns:p15="http://schemas.microsoft.com/office/powerpoint/2012/main" userId="9a036394966f874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747" autoAdjust="0"/>
    <p:restoredTop sz="94660"/>
  </p:normalViewPr>
  <p:slideViewPr>
    <p:cSldViewPr snapToGrid="0">
      <p:cViewPr varScale="1">
        <p:scale>
          <a:sx n="65" d="100"/>
          <a:sy n="65" d="100"/>
        </p:scale>
        <p:origin x="232" y="18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19-01-14T21:43:17.836" idx="1">
    <p:pos x="10" y="10"/>
    <p:text>need to clarify the person should make a folder on their local machine</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19-01-14T21:43:54.388" idx="2">
    <p:pos x="2812" y="1416"/>
    <p:text>i made it in vertical form, not sentence form</p:text>
    <p:extLst>
      <p:ext uri="{C676402C-5697-4E1C-873F-D02D1690AC5C}">
        <p15:threadingInfo xmlns:p15="http://schemas.microsoft.com/office/powerpoint/2012/main" timeZoneBias="4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19-01-14T21:45:39.640" idx="3">
    <p:pos x="5046" y="1728"/>
    <p:text>to see that the .git hidden folder exists, type ls -a</p:text>
    <p:extLst>
      <p:ext uri="{C676402C-5697-4E1C-873F-D02D1690AC5C}">
        <p15:threadingInfo xmlns:p15="http://schemas.microsoft.com/office/powerpoint/2012/main" timeZoneBias="480"/>
      </p:ext>
    </p:extLst>
  </p:cm>
  <p:cm authorId="2" dt="2019-01-14T21:46:33.131" idx="4">
    <p:pos x="3243" y="2367"/>
    <p:text>should include IN YOUR FAVORITE TEXT EDITOR</p:text>
    <p:extLst>
      <p:ext uri="{C676402C-5697-4E1C-873F-D02D1690AC5C}">
        <p15:threadingInfo xmlns:p15="http://schemas.microsoft.com/office/powerpoint/2012/main" timeZoneBias="4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19-01-14T21:51:03.759" idx="5">
    <p:pos x="6386" y="1640"/>
    <p:text>you don't say how to include a message</p:text>
    <p:extLst>
      <p:ext uri="{C676402C-5697-4E1C-873F-D02D1690AC5C}">
        <p15:threadingInfo xmlns:p15="http://schemas.microsoft.com/office/powerpoint/2012/main" timeZoneBias="480"/>
      </p:ext>
    </p:extLst>
  </p:cm>
  <p:cm authorId="2" dt="2019-01-14T21:51:40.474" idx="6">
    <p:pos x="6386" y="1736"/>
    <p:text>you need to say that git will prompt you to include a message</p:text>
    <p:extLst>
      <p:ext uri="{C676402C-5697-4E1C-873F-D02D1690AC5C}">
        <p15:threadingInfo xmlns:p15="http://schemas.microsoft.com/office/powerpoint/2012/main" timeZoneBias="480">
          <p15:parentCm authorId="2" idx="5"/>
        </p15:threadingInfo>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2" dt="2019-01-14T22:07:09.193" idx="7">
    <p:pos x="6349" y="1653"/>
    <p:text>there should be special instructions about how to write your comment</p:text>
    <p:extLst>
      <p:ext uri="{C676402C-5697-4E1C-873F-D02D1690AC5C}">
        <p15:threadingInfo xmlns:p15="http://schemas.microsoft.com/office/powerpoint/2012/main" timeZoneBias="4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2" dt="2019-01-14T22:20:27.256" idx="8">
    <p:pos x="6336" y="1866"/>
    <p:text>HelloWorld.java</p:text>
    <p:extLst>
      <p:ext uri="{C676402C-5697-4E1C-873F-D02D1690AC5C}">
        <p15:threadingInfo xmlns:p15="http://schemas.microsoft.com/office/powerpoint/2012/main" timeZoneBias="4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4268B-C4EC-41EC-A75B-0DD0402B17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6AD96A-561C-4F85-9334-49E3DD5112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E94C1AC-A4D9-42EE-A65A-109E6E5241F8}"/>
              </a:ext>
            </a:extLst>
          </p:cNvPr>
          <p:cNvSpPr>
            <a:spLocks noGrp="1"/>
          </p:cNvSpPr>
          <p:nvPr>
            <p:ph type="dt" sz="half" idx="10"/>
          </p:nvPr>
        </p:nvSpPr>
        <p:spPr/>
        <p:txBody>
          <a:bodyPr/>
          <a:lstStyle/>
          <a:p>
            <a:fld id="{7FC779F1-FA72-4651-A34E-5CCB109393F6}" type="datetimeFigureOut">
              <a:rPr lang="en-US" smtClean="0"/>
              <a:t>1/14/19</a:t>
            </a:fld>
            <a:endParaRPr lang="en-US"/>
          </a:p>
        </p:txBody>
      </p:sp>
      <p:sp>
        <p:nvSpPr>
          <p:cNvPr id="5" name="Footer Placeholder 4">
            <a:extLst>
              <a:ext uri="{FF2B5EF4-FFF2-40B4-BE49-F238E27FC236}">
                <a16:creationId xmlns:a16="http://schemas.microsoft.com/office/drawing/2014/main" id="{8B83BB09-E509-4409-94EF-EA6CB8D656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1A1586-13A4-4401-B637-F732B94888C4}"/>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3353267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32A72-420A-4CDB-BBC8-3E18023DE0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FE4F1E-BC29-4EE6-A4A7-05919859288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AB432B-08CB-4C81-A4F3-899165250858}"/>
              </a:ext>
            </a:extLst>
          </p:cNvPr>
          <p:cNvSpPr>
            <a:spLocks noGrp="1"/>
          </p:cNvSpPr>
          <p:nvPr>
            <p:ph type="dt" sz="half" idx="10"/>
          </p:nvPr>
        </p:nvSpPr>
        <p:spPr/>
        <p:txBody>
          <a:bodyPr/>
          <a:lstStyle/>
          <a:p>
            <a:fld id="{7FC779F1-FA72-4651-A34E-5CCB109393F6}" type="datetimeFigureOut">
              <a:rPr lang="en-US" smtClean="0"/>
              <a:t>1/14/19</a:t>
            </a:fld>
            <a:endParaRPr lang="en-US"/>
          </a:p>
        </p:txBody>
      </p:sp>
      <p:sp>
        <p:nvSpPr>
          <p:cNvPr id="5" name="Footer Placeholder 4">
            <a:extLst>
              <a:ext uri="{FF2B5EF4-FFF2-40B4-BE49-F238E27FC236}">
                <a16:creationId xmlns:a16="http://schemas.microsoft.com/office/drawing/2014/main" id="{DE926D6F-E8C4-4F7F-91D8-D356B3AE28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A85890-0D7E-49C3-9C3A-B0DF412CD155}"/>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2772704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BD94-8629-46E7-BF18-2ACE08A3E0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B0C834-681D-4648-A9B1-8167A4C4AA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E05872C-309B-49BF-98F2-0A93168BF8B6}"/>
              </a:ext>
            </a:extLst>
          </p:cNvPr>
          <p:cNvSpPr>
            <a:spLocks noGrp="1"/>
          </p:cNvSpPr>
          <p:nvPr>
            <p:ph type="dt" sz="half" idx="10"/>
          </p:nvPr>
        </p:nvSpPr>
        <p:spPr/>
        <p:txBody>
          <a:bodyPr/>
          <a:lstStyle/>
          <a:p>
            <a:fld id="{7FC779F1-FA72-4651-A34E-5CCB109393F6}" type="datetimeFigureOut">
              <a:rPr lang="en-US" smtClean="0"/>
              <a:t>1/14/19</a:t>
            </a:fld>
            <a:endParaRPr lang="en-US"/>
          </a:p>
        </p:txBody>
      </p:sp>
      <p:sp>
        <p:nvSpPr>
          <p:cNvPr id="5" name="Footer Placeholder 4">
            <a:extLst>
              <a:ext uri="{FF2B5EF4-FFF2-40B4-BE49-F238E27FC236}">
                <a16:creationId xmlns:a16="http://schemas.microsoft.com/office/drawing/2014/main" id="{4FE524DB-EAD9-4C32-8A63-C98926D26E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CC1E10-1BB0-4E94-8341-DB735E042119}"/>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3246182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12651-4253-4A6D-96DD-6CB62C0EFA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44BDF8-8444-45C4-B244-8799766CC2A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2EB29A-AC7A-428E-8685-2A204FA8618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11E961-AAFA-4ACC-9CC0-9DBC8028551D}"/>
              </a:ext>
            </a:extLst>
          </p:cNvPr>
          <p:cNvSpPr>
            <a:spLocks noGrp="1"/>
          </p:cNvSpPr>
          <p:nvPr>
            <p:ph type="dt" sz="half" idx="10"/>
          </p:nvPr>
        </p:nvSpPr>
        <p:spPr/>
        <p:txBody>
          <a:bodyPr/>
          <a:lstStyle/>
          <a:p>
            <a:fld id="{7FC779F1-FA72-4651-A34E-5CCB109393F6}" type="datetimeFigureOut">
              <a:rPr lang="en-US" smtClean="0"/>
              <a:t>1/14/19</a:t>
            </a:fld>
            <a:endParaRPr lang="en-US"/>
          </a:p>
        </p:txBody>
      </p:sp>
      <p:sp>
        <p:nvSpPr>
          <p:cNvPr id="6" name="Footer Placeholder 5">
            <a:extLst>
              <a:ext uri="{FF2B5EF4-FFF2-40B4-BE49-F238E27FC236}">
                <a16:creationId xmlns:a16="http://schemas.microsoft.com/office/drawing/2014/main" id="{456A4C59-973D-4C05-BA75-78481BF9EA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FCA3BE-8DDB-4D20-BE3B-C45F605DE457}"/>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3005655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73081-5988-40C6-8C10-FCAA6677B7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A13EED-A306-430A-9017-2C94236293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859EC48-8C55-4283-A1AE-D51BEC88D58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5CE7A1-4ACD-4E70-8B7B-9865B7B420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208FDC9-D4E6-4698-ACFA-3A4A71D5395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F07A3E0-2022-4204-81B2-86B49C21437A}"/>
              </a:ext>
            </a:extLst>
          </p:cNvPr>
          <p:cNvSpPr>
            <a:spLocks noGrp="1"/>
          </p:cNvSpPr>
          <p:nvPr>
            <p:ph type="dt" sz="half" idx="10"/>
          </p:nvPr>
        </p:nvSpPr>
        <p:spPr/>
        <p:txBody>
          <a:bodyPr/>
          <a:lstStyle/>
          <a:p>
            <a:fld id="{7FC779F1-FA72-4651-A34E-5CCB109393F6}" type="datetimeFigureOut">
              <a:rPr lang="en-US" smtClean="0"/>
              <a:t>1/14/19</a:t>
            </a:fld>
            <a:endParaRPr lang="en-US"/>
          </a:p>
        </p:txBody>
      </p:sp>
      <p:sp>
        <p:nvSpPr>
          <p:cNvPr id="8" name="Footer Placeholder 7">
            <a:extLst>
              <a:ext uri="{FF2B5EF4-FFF2-40B4-BE49-F238E27FC236}">
                <a16:creationId xmlns:a16="http://schemas.microsoft.com/office/drawing/2014/main" id="{03DD2B7C-4D27-4846-972C-568DE4CAD3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205CC7A-65B8-44D8-B3F5-3BF386A67E68}"/>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1252349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5F010-9D39-479F-93A1-9CFA69623D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23D072-FED6-4774-95C0-6923D3681151}"/>
              </a:ext>
            </a:extLst>
          </p:cNvPr>
          <p:cNvSpPr>
            <a:spLocks noGrp="1"/>
          </p:cNvSpPr>
          <p:nvPr>
            <p:ph type="dt" sz="half" idx="10"/>
          </p:nvPr>
        </p:nvSpPr>
        <p:spPr/>
        <p:txBody>
          <a:bodyPr/>
          <a:lstStyle/>
          <a:p>
            <a:fld id="{7FC779F1-FA72-4651-A34E-5CCB109393F6}" type="datetimeFigureOut">
              <a:rPr lang="en-US" smtClean="0"/>
              <a:t>1/14/19</a:t>
            </a:fld>
            <a:endParaRPr lang="en-US"/>
          </a:p>
        </p:txBody>
      </p:sp>
      <p:sp>
        <p:nvSpPr>
          <p:cNvPr id="4" name="Footer Placeholder 3">
            <a:extLst>
              <a:ext uri="{FF2B5EF4-FFF2-40B4-BE49-F238E27FC236}">
                <a16:creationId xmlns:a16="http://schemas.microsoft.com/office/drawing/2014/main" id="{E0031AF1-168F-4C0D-B589-EE0EE83E2C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ED0720-3DFF-468E-BE77-C18E01C4C801}"/>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2834557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EBFB71-61D9-4634-99FF-DEA27242D9F7}"/>
              </a:ext>
            </a:extLst>
          </p:cNvPr>
          <p:cNvSpPr>
            <a:spLocks noGrp="1"/>
          </p:cNvSpPr>
          <p:nvPr>
            <p:ph type="dt" sz="half" idx="10"/>
          </p:nvPr>
        </p:nvSpPr>
        <p:spPr/>
        <p:txBody>
          <a:bodyPr/>
          <a:lstStyle/>
          <a:p>
            <a:fld id="{7FC779F1-FA72-4651-A34E-5CCB109393F6}" type="datetimeFigureOut">
              <a:rPr lang="en-US" smtClean="0"/>
              <a:t>1/14/19</a:t>
            </a:fld>
            <a:endParaRPr lang="en-US"/>
          </a:p>
        </p:txBody>
      </p:sp>
      <p:sp>
        <p:nvSpPr>
          <p:cNvPr id="3" name="Footer Placeholder 2">
            <a:extLst>
              <a:ext uri="{FF2B5EF4-FFF2-40B4-BE49-F238E27FC236}">
                <a16:creationId xmlns:a16="http://schemas.microsoft.com/office/drawing/2014/main" id="{02425FC0-3C4C-4516-A1AC-D5C39F9B83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A1C1BD-6EBE-48F2-84C9-AC0B2DD7DFC3}"/>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561520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DD39-7FA3-4872-8904-B8B407A223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2E80075-E049-4427-AD09-BDF55CCB36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FCB9E0-4EBB-44E7-AF5D-746D7AEE5C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4EF2006-3CF7-43EF-AFD3-FB491D0F89E1}"/>
              </a:ext>
            </a:extLst>
          </p:cNvPr>
          <p:cNvSpPr>
            <a:spLocks noGrp="1"/>
          </p:cNvSpPr>
          <p:nvPr>
            <p:ph type="dt" sz="half" idx="10"/>
          </p:nvPr>
        </p:nvSpPr>
        <p:spPr/>
        <p:txBody>
          <a:bodyPr/>
          <a:lstStyle/>
          <a:p>
            <a:fld id="{7FC779F1-FA72-4651-A34E-5CCB109393F6}" type="datetimeFigureOut">
              <a:rPr lang="en-US" smtClean="0"/>
              <a:t>1/14/19</a:t>
            </a:fld>
            <a:endParaRPr lang="en-US"/>
          </a:p>
        </p:txBody>
      </p:sp>
      <p:sp>
        <p:nvSpPr>
          <p:cNvPr id="6" name="Footer Placeholder 5">
            <a:extLst>
              <a:ext uri="{FF2B5EF4-FFF2-40B4-BE49-F238E27FC236}">
                <a16:creationId xmlns:a16="http://schemas.microsoft.com/office/drawing/2014/main" id="{46C55A77-A20C-4474-8F77-C72359136B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18B7EB-372D-4A9A-8748-5C1DA0C7F187}"/>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1153378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78801-D774-420C-86C8-7FD5405EA5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DE0023D-425E-4C58-A40B-B44B3957BD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C4CCC7-6AC6-419B-ACE5-6191F48E23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DD68473-448F-4D98-A45B-A92E6D37F364}"/>
              </a:ext>
            </a:extLst>
          </p:cNvPr>
          <p:cNvSpPr>
            <a:spLocks noGrp="1"/>
          </p:cNvSpPr>
          <p:nvPr>
            <p:ph type="dt" sz="half" idx="10"/>
          </p:nvPr>
        </p:nvSpPr>
        <p:spPr/>
        <p:txBody>
          <a:bodyPr/>
          <a:lstStyle/>
          <a:p>
            <a:fld id="{7FC779F1-FA72-4651-A34E-5CCB109393F6}" type="datetimeFigureOut">
              <a:rPr lang="en-US" smtClean="0"/>
              <a:t>1/14/19</a:t>
            </a:fld>
            <a:endParaRPr lang="en-US"/>
          </a:p>
        </p:txBody>
      </p:sp>
      <p:sp>
        <p:nvSpPr>
          <p:cNvPr id="6" name="Footer Placeholder 5">
            <a:extLst>
              <a:ext uri="{FF2B5EF4-FFF2-40B4-BE49-F238E27FC236}">
                <a16:creationId xmlns:a16="http://schemas.microsoft.com/office/drawing/2014/main" id="{1B968F19-CD3F-485B-87F3-272CE33B25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283F4D-FB38-4488-89BA-65339CD1270D}"/>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3988875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1E7B9-59C3-4ECE-ACAA-FC7F4D3366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B53238-71B4-4C08-820E-072854C59E4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393741-E72B-4C45-B71D-DC82ED62BC61}"/>
              </a:ext>
            </a:extLst>
          </p:cNvPr>
          <p:cNvSpPr>
            <a:spLocks noGrp="1"/>
          </p:cNvSpPr>
          <p:nvPr>
            <p:ph type="dt" sz="half" idx="10"/>
          </p:nvPr>
        </p:nvSpPr>
        <p:spPr/>
        <p:txBody>
          <a:bodyPr/>
          <a:lstStyle/>
          <a:p>
            <a:fld id="{7FC779F1-FA72-4651-A34E-5CCB109393F6}" type="datetimeFigureOut">
              <a:rPr lang="en-US" smtClean="0"/>
              <a:t>1/14/19</a:t>
            </a:fld>
            <a:endParaRPr lang="en-US"/>
          </a:p>
        </p:txBody>
      </p:sp>
      <p:sp>
        <p:nvSpPr>
          <p:cNvPr id="5" name="Footer Placeholder 4">
            <a:extLst>
              <a:ext uri="{FF2B5EF4-FFF2-40B4-BE49-F238E27FC236}">
                <a16:creationId xmlns:a16="http://schemas.microsoft.com/office/drawing/2014/main" id="{58681FA6-390C-438D-B731-42B56A4968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FBDDF5-F845-4786-9625-03BC7EC03A70}"/>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121184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4640D2-5B07-42BB-B4EF-12572059A2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0C166C-3186-4AEF-B514-D57B982701B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809DA8-6CDE-4D3C-96B5-F9CF569BA7E0}"/>
              </a:ext>
            </a:extLst>
          </p:cNvPr>
          <p:cNvSpPr>
            <a:spLocks noGrp="1"/>
          </p:cNvSpPr>
          <p:nvPr>
            <p:ph type="dt" sz="half" idx="10"/>
          </p:nvPr>
        </p:nvSpPr>
        <p:spPr/>
        <p:txBody>
          <a:bodyPr/>
          <a:lstStyle/>
          <a:p>
            <a:fld id="{7FC779F1-FA72-4651-A34E-5CCB109393F6}" type="datetimeFigureOut">
              <a:rPr lang="en-US" smtClean="0"/>
              <a:t>1/14/19</a:t>
            </a:fld>
            <a:endParaRPr lang="en-US"/>
          </a:p>
        </p:txBody>
      </p:sp>
      <p:sp>
        <p:nvSpPr>
          <p:cNvPr id="5" name="Footer Placeholder 4">
            <a:extLst>
              <a:ext uri="{FF2B5EF4-FFF2-40B4-BE49-F238E27FC236}">
                <a16:creationId xmlns:a16="http://schemas.microsoft.com/office/drawing/2014/main" id="{4C581DCE-19A5-4B2B-A90D-B36C307E59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FBA63D-06FE-437B-8F59-23CD92B230E2}"/>
              </a:ext>
            </a:extLst>
          </p:cNvPr>
          <p:cNvSpPr>
            <a:spLocks noGrp="1"/>
          </p:cNvSpPr>
          <p:nvPr>
            <p:ph type="sldNum" sz="quarter" idx="12"/>
          </p:nvPr>
        </p:nvSpPr>
        <p:spPr/>
        <p:txBody>
          <a:bodyPr/>
          <a:lstStyle/>
          <a:p>
            <a:fld id="{8EFC8F25-AA4A-4D62-8E59-64C45255F8FB}" type="slidenum">
              <a:rPr lang="en-US" smtClean="0"/>
              <a:t>‹#›</a:t>
            </a:fld>
            <a:endParaRPr lang="en-US"/>
          </a:p>
        </p:txBody>
      </p:sp>
    </p:spTree>
    <p:extLst>
      <p:ext uri="{BB962C8B-B14F-4D97-AF65-F5344CB8AC3E}">
        <p14:creationId xmlns:p14="http://schemas.microsoft.com/office/powerpoint/2010/main" val="2706926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E4F432-ADE1-409E-A79E-ABC5D92499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5206FF-78D5-49B6-AE2A-BDA33F9AB8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F13037-7E3F-48CA-97FF-F8E91FE80E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C779F1-FA72-4651-A34E-5CCB109393F6}" type="datetimeFigureOut">
              <a:rPr lang="en-US" smtClean="0"/>
              <a:t>1/14/19</a:t>
            </a:fld>
            <a:endParaRPr lang="en-US"/>
          </a:p>
        </p:txBody>
      </p:sp>
      <p:sp>
        <p:nvSpPr>
          <p:cNvPr id="5" name="Footer Placeholder 4">
            <a:extLst>
              <a:ext uri="{FF2B5EF4-FFF2-40B4-BE49-F238E27FC236}">
                <a16:creationId xmlns:a16="http://schemas.microsoft.com/office/drawing/2014/main" id="{FC3ED445-8FC5-4263-9608-8984EEC1E7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DCB84C-898D-4C52-B02E-DE2907FE84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FC8F25-AA4A-4D62-8E59-64C45255F8FB}" type="slidenum">
              <a:rPr lang="en-US" smtClean="0"/>
              <a:t>‹#›</a:t>
            </a:fld>
            <a:endParaRPr lang="en-US"/>
          </a:p>
        </p:txBody>
      </p:sp>
    </p:spTree>
    <p:extLst>
      <p:ext uri="{BB962C8B-B14F-4D97-AF65-F5344CB8AC3E}">
        <p14:creationId xmlns:p14="http://schemas.microsoft.com/office/powerpoint/2010/main" val="324704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kim.laine@Microsoft.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scm.com/docs" TargetMode="External"/><Relationship Id="rId2" Type="http://schemas.openxmlformats.org/officeDocument/2006/relationships/hyperlink" Target="https://git-scm.com/" TargetMode="External"/><Relationship Id="rId1" Type="http://schemas.openxmlformats.org/officeDocument/2006/relationships/slideLayout" Target="../slideLayouts/slideLayout2.xml"/><Relationship Id="rId4" Type="http://schemas.openxmlformats.org/officeDocument/2006/relationships/hyperlink" Target="https://git-scm.com/book/en/v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github.com/Microsoft/SEA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hyperlink" Target="https://git-scm.co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3csomething%3e/testrepo.git"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comments" Target="../comments/comment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omments" Target="../comments/comment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git-scm.com/book/en/v2/Git-Tools-Reset-Demystified"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git-scm.com/book/en/v2/Git-Tools-Reset-Demystified"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git-scm.com/book/en/v2/Git-Branching-Branches-in-a-Nutshell"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stackoverflow.com/questions/4386959/difference-between-head-and-master"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github.com/%3csomething%3e/testrepo"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github.com/%3csomething%3e/testrepo.git"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9D17-7EC5-4D45-BEAC-79F378D35C1B}"/>
              </a:ext>
            </a:extLst>
          </p:cNvPr>
          <p:cNvSpPr>
            <a:spLocks noGrp="1"/>
          </p:cNvSpPr>
          <p:nvPr>
            <p:ph type="ctrTitle"/>
          </p:nvPr>
        </p:nvSpPr>
        <p:spPr>
          <a:xfrm>
            <a:off x="1524000" y="2009262"/>
            <a:ext cx="9144000" cy="2387600"/>
          </a:xfrm>
        </p:spPr>
        <p:txBody>
          <a:bodyPr>
            <a:normAutofit/>
          </a:bodyPr>
          <a:lstStyle/>
          <a:p>
            <a:r>
              <a:rPr lang="en-US" dirty="0"/>
              <a:t>Introduction to Git</a:t>
            </a:r>
            <a:br>
              <a:rPr lang="en-US" dirty="0"/>
            </a:br>
            <a:br>
              <a:rPr lang="en-US" dirty="0"/>
            </a:br>
            <a:r>
              <a:rPr lang="en-US" sz="2000" dirty="0">
                <a:latin typeface="+mn-lt"/>
              </a:rPr>
              <a:t>Kim Laine | </a:t>
            </a:r>
            <a:r>
              <a:rPr lang="en-US" sz="2000" dirty="0">
                <a:latin typeface="+mn-lt"/>
                <a:hlinkClick r:id="rId2"/>
              </a:rPr>
              <a:t>kim.laine@microsoft.com</a:t>
            </a:r>
            <a:endParaRPr lang="en-US" sz="2000" dirty="0">
              <a:latin typeface="+mn-lt"/>
            </a:endParaRPr>
          </a:p>
        </p:txBody>
      </p:sp>
    </p:spTree>
    <p:extLst>
      <p:ext uri="{BB962C8B-B14F-4D97-AF65-F5344CB8AC3E}">
        <p14:creationId xmlns:p14="http://schemas.microsoft.com/office/powerpoint/2010/main" val="919670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03EA-0AF9-4F15-B8F7-004FB48A49B7}"/>
              </a:ext>
            </a:extLst>
          </p:cNvPr>
          <p:cNvSpPr>
            <a:spLocks noGrp="1"/>
          </p:cNvSpPr>
          <p:nvPr>
            <p:ph type="title"/>
          </p:nvPr>
        </p:nvSpPr>
        <p:spPr/>
        <p:txBody>
          <a:bodyPr/>
          <a:lstStyle/>
          <a:p>
            <a:r>
              <a:rPr lang="en-US" dirty="0"/>
              <a:t>What is Git</a:t>
            </a:r>
          </a:p>
        </p:txBody>
      </p:sp>
      <p:sp>
        <p:nvSpPr>
          <p:cNvPr id="3" name="Content Placeholder 2">
            <a:extLst>
              <a:ext uri="{FF2B5EF4-FFF2-40B4-BE49-F238E27FC236}">
                <a16:creationId xmlns:a16="http://schemas.microsoft.com/office/drawing/2014/main" id="{B7BD494B-0308-4B91-B629-A8AA44E9AC6C}"/>
              </a:ext>
            </a:extLst>
          </p:cNvPr>
          <p:cNvSpPr>
            <a:spLocks noGrp="1"/>
          </p:cNvSpPr>
          <p:nvPr>
            <p:ph idx="1"/>
          </p:nvPr>
        </p:nvSpPr>
        <p:spPr/>
        <p:txBody>
          <a:bodyPr/>
          <a:lstStyle/>
          <a:p>
            <a:r>
              <a:rPr lang="en-US" dirty="0"/>
              <a:t>Git  is a </a:t>
            </a:r>
            <a:r>
              <a:rPr lang="en-US" i="1" dirty="0" err="1"/>
              <a:t>version|source|revision</a:t>
            </a:r>
            <a:r>
              <a:rPr lang="en-US" i="1" dirty="0"/>
              <a:t> control</a:t>
            </a:r>
            <a:r>
              <a:rPr lang="en-US" dirty="0"/>
              <a:t> system</a:t>
            </a:r>
          </a:p>
          <a:p>
            <a:r>
              <a:rPr lang="en-US" dirty="0"/>
              <a:t>Such systems keep track of changes in text/data (often code)</a:t>
            </a:r>
          </a:p>
          <a:p>
            <a:r>
              <a:rPr lang="en-US" dirty="0"/>
              <a:t>Other systems exist too but Git is the most popular</a:t>
            </a:r>
          </a:p>
          <a:p>
            <a:r>
              <a:rPr lang="en-US" dirty="0"/>
              <a:t>Official website: </a:t>
            </a:r>
            <a:r>
              <a:rPr lang="en-US" dirty="0">
                <a:hlinkClick r:id="rId2"/>
              </a:rPr>
              <a:t>https://git-scm.com/</a:t>
            </a:r>
            <a:endParaRPr lang="en-US" dirty="0"/>
          </a:p>
          <a:p>
            <a:r>
              <a:rPr lang="en-US" dirty="0"/>
              <a:t>Reference manual: </a:t>
            </a:r>
            <a:r>
              <a:rPr lang="en-US" dirty="0">
                <a:hlinkClick r:id="rId3"/>
              </a:rPr>
              <a:t>https://git-scm.com/docs</a:t>
            </a:r>
            <a:r>
              <a:rPr lang="en-US" dirty="0"/>
              <a:t> </a:t>
            </a:r>
          </a:p>
          <a:p>
            <a:r>
              <a:rPr lang="en-US" dirty="0"/>
              <a:t>Book: </a:t>
            </a:r>
            <a:r>
              <a:rPr lang="en-US" dirty="0">
                <a:hlinkClick r:id="rId4"/>
              </a:rPr>
              <a:t>https://git-scm.com/book/en/v2</a:t>
            </a:r>
            <a:r>
              <a:rPr lang="en-US" dirty="0"/>
              <a:t> (a short book)</a:t>
            </a:r>
          </a:p>
          <a:p>
            <a:endParaRPr lang="en-US" dirty="0"/>
          </a:p>
        </p:txBody>
      </p:sp>
    </p:spTree>
    <p:extLst>
      <p:ext uri="{BB962C8B-B14F-4D97-AF65-F5344CB8AC3E}">
        <p14:creationId xmlns:p14="http://schemas.microsoft.com/office/powerpoint/2010/main" val="251551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7E4C2-F45E-6C47-BF19-FB26190ED7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14CBBF8-9CD7-5B41-9938-FE3940EF0472}"/>
              </a:ext>
            </a:extLst>
          </p:cNvPr>
          <p:cNvSpPr>
            <a:spLocks noGrp="1"/>
          </p:cNvSpPr>
          <p:nvPr>
            <p:ph idx="1"/>
          </p:nvPr>
        </p:nvSpPr>
        <p:spPr/>
        <p:txBody>
          <a:bodyPr/>
          <a:lstStyle/>
          <a:p>
            <a:r>
              <a:rPr lang="en-US" dirty="0"/>
              <a:t>DEFINITION OF REPOSITORY</a:t>
            </a:r>
          </a:p>
          <a:p>
            <a:r>
              <a:rPr lang="en-US" dirty="0"/>
              <a:t>BARE REPOSITORY</a:t>
            </a:r>
          </a:p>
          <a:p>
            <a:r>
              <a:rPr lang="en-US" dirty="0"/>
              <a:t>GIT IS NOT AN IDE!!!</a:t>
            </a:r>
          </a:p>
        </p:txBody>
      </p:sp>
    </p:spTree>
    <p:extLst>
      <p:ext uri="{BB962C8B-B14F-4D97-AF65-F5344CB8AC3E}">
        <p14:creationId xmlns:p14="http://schemas.microsoft.com/office/powerpoint/2010/main" val="3395088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03EA-0AF9-4F15-B8F7-004FB48A49B7}"/>
              </a:ext>
            </a:extLst>
          </p:cNvPr>
          <p:cNvSpPr>
            <a:spLocks noGrp="1"/>
          </p:cNvSpPr>
          <p:nvPr>
            <p:ph type="title"/>
          </p:nvPr>
        </p:nvSpPr>
        <p:spPr/>
        <p:txBody>
          <a:bodyPr/>
          <a:lstStyle/>
          <a:p>
            <a:r>
              <a:rPr lang="en-US" dirty="0"/>
              <a:t>What is GitHub</a:t>
            </a:r>
          </a:p>
        </p:txBody>
      </p:sp>
      <p:sp>
        <p:nvSpPr>
          <p:cNvPr id="3" name="Content Placeholder 2">
            <a:extLst>
              <a:ext uri="{FF2B5EF4-FFF2-40B4-BE49-F238E27FC236}">
                <a16:creationId xmlns:a16="http://schemas.microsoft.com/office/drawing/2014/main" id="{B7BD494B-0308-4B91-B629-A8AA44E9AC6C}"/>
              </a:ext>
            </a:extLst>
          </p:cNvPr>
          <p:cNvSpPr>
            <a:spLocks noGrp="1"/>
          </p:cNvSpPr>
          <p:nvPr>
            <p:ph idx="1"/>
          </p:nvPr>
        </p:nvSpPr>
        <p:spPr>
          <a:xfrm>
            <a:off x="838200" y="1825625"/>
            <a:ext cx="10595238" cy="4351338"/>
          </a:xfrm>
        </p:spPr>
        <p:txBody>
          <a:bodyPr/>
          <a:lstStyle/>
          <a:p>
            <a:r>
              <a:rPr lang="en-US" dirty="0"/>
              <a:t>GitHub.com is a website owned by Microsoft</a:t>
            </a:r>
          </a:p>
          <a:p>
            <a:r>
              <a:rPr lang="en-US" dirty="0"/>
              <a:t>Hosts git “repositories”</a:t>
            </a:r>
          </a:p>
          <a:p>
            <a:pPr lvl="1"/>
            <a:r>
              <a:rPr lang="en-US" dirty="0"/>
              <a:t>Helps users connect with projects</a:t>
            </a:r>
          </a:p>
          <a:p>
            <a:pPr lvl="1"/>
            <a:r>
              <a:rPr lang="en-US" dirty="0"/>
              <a:t>Helps you manage permissions to your projects (who can see the code, </a:t>
            </a:r>
            <a:r>
              <a:rPr lang="en-US" dirty="0" err="1"/>
              <a:t>modify|contribute</a:t>
            </a:r>
            <a:r>
              <a:rPr lang="en-US" dirty="0"/>
              <a:t> to it, etc.)</a:t>
            </a:r>
          </a:p>
          <a:p>
            <a:pPr lvl="1"/>
            <a:r>
              <a:rPr lang="en-US" dirty="0"/>
              <a:t>Users can post issues and do </a:t>
            </a:r>
            <a:r>
              <a:rPr lang="en-US" i="1" dirty="0"/>
              <a:t>pull requests (PRs)</a:t>
            </a:r>
          </a:p>
          <a:p>
            <a:pPr lvl="1"/>
            <a:r>
              <a:rPr lang="en-US" dirty="0"/>
              <a:t>Renders README.md on project page (e.g. </a:t>
            </a:r>
            <a:r>
              <a:rPr lang="en-US" dirty="0">
                <a:hlinkClick r:id="rId2"/>
              </a:rPr>
              <a:t>http://github.com/Microsoft/SEAL</a:t>
            </a:r>
            <a:r>
              <a:rPr lang="en-US" dirty="0"/>
              <a:t>) </a:t>
            </a:r>
          </a:p>
          <a:p>
            <a:r>
              <a:rPr lang="en-US" dirty="0"/>
              <a:t>Other similar services exist too, like GitLab</a:t>
            </a:r>
          </a:p>
          <a:p>
            <a:endParaRPr lang="en-US" dirty="0"/>
          </a:p>
        </p:txBody>
      </p:sp>
    </p:spTree>
    <p:extLst>
      <p:ext uri="{BB962C8B-B14F-4D97-AF65-F5344CB8AC3E}">
        <p14:creationId xmlns:p14="http://schemas.microsoft.com/office/powerpoint/2010/main" val="2616814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03EA-0AF9-4F15-B8F7-004FB48A49B7}"/>
              </a:ext>
            </a:extLst>
          </p:cNvPr>
          <p:cNvSpPr>
            <a:spLocks noGrp="1"/>
          </p:cNvSpPr>
          <p:nvPr>
            <p:ph type="title"/>
          </p:nvPr>
        </p:nvSpPr>
        <p:spPr/>
        <p:txBody>
          <a:bodyPr/>
          <a:lstStyle/>
          <a:p>
            <a:r>
              <a:rPr lang="en-US" dirty="0"/>
              <a:t>Learning Git</a:t>
            </a:r>
          </a:p>
        </p:txBody>
      </p:sp>
      <p:sp>
        <p:nvSpPr>
          <p:cNvPr id="3" name="Content Placeholder 2">
            <a:extLst>
              <a:ext uri="{FF2B5EF4-FFF2-40B4-BE49-F238E27FC236}">
                <a16:creationId xmlns:a16="http://schemas.microsoft.com/office/drawing/2014/main" id="{B7BD494B-0308-4B91-B629-A8AA44E9AC6C}"/>
              </a:ext>
            </a:extLst>
          </p:cNvPr>
          <p:cNvSpPr>
            <a:spLocks noGrp="1"/>
          </p:cNvSpPr>
          <p:nvPr>
            <p:ph idx="1"/>
          </p:nvPr>
        </p:nvSpPr>
        <p:spPr>
          <a:xfrm>
            <a:off x="838200" y="1825625"/>
            <a:ext cx="10629614" cy="4351338"/>
          </a:xfrm>
        </p:spPr>
        <p:txBody>
          <a:bodyPr>
            <a:normAutofit lnSpcReduction="10000"/>
          </a:bodyPr>
          <a:lstStyle/>
          <a:p>
            <a:r>
              <a:rPr lang="en-US" dirty="0"/>
              <a:t>Git is a bit hard to learn</a:t>
            </a:r>
          </a:p>
          <a:p>
            <a:r>
              <a:rPr lang="en-US" dirty="0"/>
              <a:t>Reasons:</a:t>
            </a:r>
          </a:p>
          <a:p>
            <a:pPr lvl="1"/>
            <a:r>
              <a:rPr lang="en-US" dirty="0"/>
              <a:t>Lots of </a:t>
            </a:r>
            <a:r>
              <a:rPr lang="en-US" dirty="0" err="1"/>
              <a:t>bad|misguided</a:t>
            </a:r>
            <a:r>
              <a:rPr lang="en-US" dirty="0"/>
              <a:t> information is available</a:t>
            </a:r>
          </a:p>
          <a:p>
            <a:pPr lvl="1"/>
            <a:r>
              <a:rPr lang="en-US" dirty="0"/>
              <a:t>Most users don’t spend any time reading the manual and have a poor understanding of how Git works beyond basics, so if something breaks they have no idea how to fix it</a:t>
            </a:r>
          </a:p>
          <a:p>
            <a:pPr lvl="1"/>
            <a:r>
              <a:rPr lang="en-US" dirty="0"/>
              <a:t>Git is a very flexible and can do a lot but this brings some complexity</a:t>
            </a:r>
          </a:p>
          <a:p>
            <a:pPr lvl="1"/>
            <a:r>
              <a:rPr lang="en-US" dirty="0"/>
              <a:t>Git manual and </a:t>
            </a:r>
            <a:r>
              <a:rPr lang="en-US" dirty="0" err="1"/>
              <a:t>StackOverflow</a:t>
            </a:r>
            <a:r>
              <a:rPr lang="en-US" dirty="0"/>
              <a:t> posts etc. use technical git terminology which many on SO can’t explain properly and even the official manual might not explain well</a:t>
            </a:r>
          </a:p>
          <a:p>
            <a:r>
              <a:rPr lang="en-US" dirty="0"/>
              <a:t>Git is by far best used from a terminal so people with no experience with e.g. Linux or OS X terminal might find it difficult</a:t>
            </a:r>
          </a:p>
        </p:txBody>
      </p:sp>
    </p:spTree>
    <p:extLst>
      <p:ext uri="{BB962C8B-B14F-4D97-AF65-F5344CB8AC3E}">
        <p14:creationId xmlns:p14="http://schemas.microsoft.com/office/powerpoint/2010/main" val="1932189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82D4D-F726-4964-9EE4-6125290D0FC6}"/>
              </a:ext>
            </a:extLst>
          </p:cNvPr>
          <p:cNvSpPr>
            <a:spLocks noGrp="1"/>
          </p:cNvSpPr>
          <p:nvPr>
            <p:ph type="title"/>
          </p:nvPr>
        </p:nvSpPr>
        <p:spPr/>
        <p:txBody>
          <a:bodyPr/>
          <a:lstStyle/>
          <a:p>
            <a:r>
              <a:rPr lang="en-US" dirty="0"/>
              <a:t>What is Git good for</a:t>
            </a:r>
          </a:p>
        </p:txBody>
      </p:sp>
      <p:sp>
        <p:nvSpPr>
          <p:cNvPr id="3" name="Content Placeholder 2">
            <a:extLst>
              <a:ext uri="{FF2B5EF4-FFF2-40B4-BE49-F238E27FC236}">
                <a16:creationId xmlns:a16="http://schemas.microsoft.com/office/drawing/2014/main" id="{300C5D19-DBCD-45A0-8C6B-0895B65079D5}"/>
              </a:ext>
            </a:extLst>
          </p:cNvPr>
          <p:cNvSpPr>
            <a:spLocks noGrp="1"/>
          </p:cNvSpPr>
          <p:nvPr>
            <p:ph idx="1"/>
          </p:nvPr>
        </p:nvSpPr>
        <p:spPr/>
        <p:txBody>
          <a:bodyPr/>
          <a:lstStyle/>
          <a:p>
            <a:r>
              <a:rPr lang="en-US" dirty="0"/>
              <a:t>Good for collaboration on text documents (code)</a:t>
            </a:r>
          </a:p>
          <a:p>
            <a:pPr lvl="1"/>
            <a:r>
              <a:rPr lang="en-US" dirty="0"/>
              <a:t>Reason: changes are very easy to </a:t>
            </a:r>
            <a:r>
              <a:rPr lang="en-US" dirty="0" err="1"/>
              <a:t>track|merge</a:t>
            </a:r>
            <a:r>
              <a:rPr lang="en-US" dirty="0"/>
              <a:t> with Git when data is text data (e.g. you can see clearly how various lines have been changed)</a:t>
            </a:r>
          </a:p>
          <a:p>
            <a:r>
              <a:rPr lang="en-US" dirty="0"/>
              <a:t>Less good when collaborating binary data (like images, MS Word documents, Excel documents, video, sound, …)</a:t>
            </a:r>
          </a:p>
          <a:p>
            <a:pPr lvl="1"/>
            <a:r>
              <a:rPr lang="en-US" dirty="0"/>
              <a:t>Reason: it’s not possible to “merge” changes to such files because they use a specialized way of saving the data; not possible to say that specific lines have changed in some way</a:t>
            </a:r>
          </a:p>
          <a:p>
            <a:pPr lvl="1"/>
            <a:r>
              <a:rPr lang="en-US" dirty="0"/>
              <a:t>Still, Git can show that the file has changed and can help you revert back to a previous version</a:t>
            </a:r>
          </a:p>
          <a:p>
            <a:endParaRPr lang="en-US" dirty="0"/>
          </a:p>
        </p:txBody>
      </p:sp>
    </p:spTree>
    <p:extLst>
      <p:ext uri="{BB962C8B-B14F-4D97-AF65-F5344CB8AC3E}">
        <p14:creationId xmlns:p14="http://schemas.microsoft.com/office/powerpoint/2010/main" val="483824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48E3C-07F1-429F-AD4C-1DA9CBA37402}"/>
              </a:ext>
            </a:extLst>
          </p:cNvPr>
          <p:cNvSpPr>
            <a:spLocks noGrp="1"/>
          </p:cNvSpPr>
          <p:nvPr>
            <p:ph type="title"/>
          </p:nvPr>
        </p:nvSpPr>
        <p:spPr/>
        <p:txBody>
          <a:bodyPr/>
          <a:lstStyle/>
          <a:p>
            <a:r>
              <a:rPr lang="en-US" dirty="0"/>
              <a:t>Getting started</a:t>
            </a:r>
          </a:p>
        </p:txBody>
      </p:sp>
      <p:sp>
        <p:nvSpPr>
          <p:cNvPr id="3" name="Content Placeholder 2">
            <a:extLst>
              <a:ext uri="{FF2B5EF4-FFF2-40B4-BE49-F238E27FC236}">
                <a16:creationId xmlns:a16="http://schemas.microsoft.com/office/drawing/2014/main" id="{EBE25BF2-4F1C-41CE-9CD7-92C550B0DCF8}"/>
              </a:ext>
            </a:extLst>
          </p:cNvPr>
          <p:cNvSpPr>
            <a:spLocks noGrp="1"/>
          </p:cNvSpPr>
          <p:nvPr>
            <p:ph idx="1"/>
          </p:nvPr>
        </p:nvSpPr>
        <p:spPr/>
        <p:txBody>
          <a:bodyPr>
            <a:normAutofit/>
          </a:bodyPr>
          <a:lstStyle/>
          <a:p>
            <a:r>
              <a:rPr lang="en-US" dirty="0"/>
              <a:t>For Windows: download Git for Windows from </a:t>
            </a:r>
            <a:r>
              <a:rPr lang="en-US" dirty="0">
                <a:hlinkClick r:id="rId2"/>
              </a:rPr>
              <a:t>https://git-scm.com/</a:t>
            </a:r>
            <a:endParaRPr lang="en-US" dirty="0"/>
          </a:p>
          <a:p>
            <a:pPr lvl="1"/>
            <a:r>
              <a:rPr lang="en-US" dirty="0"/>
              <a:t>When installing, default options are mostly good</a:t>
            </a:r>
          </a:p>
          <a:p>
            <a:pPr lvl="1"/>
            <a:r>
              <a:rPr lang="en-US" dirty="0"/>
              <a:t>I recommend using git on Bash when that question comes up</a:t>
            </a:r>
          </a:p>
          <a:p>
            <a:r>
              <a:rPr lang="en-US" dirty="0"/>
              <a:t>For Linux/OS X installing Git with a package manager may be best</a:t>
            </a:r>
          </a:p>
          <a:p>
            <a:r>
              <a:rPr lang="en-US" dirty="0"/>
              <a:t>To check that Git works, type in terminal: </a:t>
            </a:r>
            <a:r>
              <a:rPr lang="en-US" dirty="0">
                <a:solidFill>
                  <a:srgbClr val="FF0000"/>
                </a:solidFill>
                <a:latin typeface="Consolas" panose="020B0609020204030204" pitchFamily="49" charset="0"/>
              </a:rPr>
              <a:t>git --version</a:t>
            </a:r>
          </a:p>
          <a:p>
            <a:r>
              <a:rPr lang="en-US" dirty="0"/>
              <a:t>To get started, go to </a:t>
            </a:r>
            <a:r>
              <a:rPr lang="en-US" dirty="0">
                <a:hlinkClick r:id="rId3"/>
              </a:rPr>
              <a:t>https://GitHub.com</a:t>
            </a:r>
            <a:r>
              <a:rPr lang="en-US" dirty="0"/>
              <a:t> and create an account</a:t>
            </a:r>
          </a:p>
          <a:p>
            <a:pPr lvl="1"/>
            <a:r>
              <a:rPr lang="en-US" dirty="0"/>
              <a:t>Previously only users with paid subscription can create private projects (visible only to designated GitHub users) but I believe this has now changed</a:t>
            </a:r>
          </a:p>
          <a:p>
            <a:pPr lvl="1"/>
            <a:r>
              <a:rPr lang="en-US" dirty="0"/>
              <a:t>Paid subscription is inexpensive</a:t>
            </a:r>
          </a:p>
          <a:p>
            <a:endParaRPr lang="en-US" dirty="0"/>
          </a:p>
        </p:txBody>
      </p:sp>
    </p:spTree>
    <p:extLst>
      <p:ext uri="{BB962C8B-B14F-4D97-AF65-F5344CB8AC3E}">
        <p14:creationId xmlns:p14="http://schemas.microsoft.com/office/powerpoint/2010/main" val="1231718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C71BA-F983-492A-B03B-93C66E80E1EF}"/>
              </a:ext>
            </a:extLst>
          </p:cNvPr>
          <p:cNvSpPr>
            <a:spLocks noGrp="1"/>
          </p:cNvSpPr>
          <p:nvPr>
            <p:ph type="title"/>
          </p:nvPr>
        </p:nvSpPr>
        <p:spPr/>
        <p:txBody>
          <a:bodyPr/>
          <a:lstStyle/>
          <a:p>
            <a:r>
              <a:rPr lang="en-US" dirty="0"/>
              <a:t>Creating a GitHub project</a:t>
            </a:r>
          </a:p>
        </p:txBody>
      </p:sp>
      <p:sp>
        <p:nvSpPr>
          <p:cNvPr id="3" name="Content Placeholder 2">
            <a:extLst>
              <a:ext uri="{FF2B5EF4-FFF2-40B4-BE49-F238E27FC236}">
                <a16:creationId xmlns:a16="http://schemas.microsoft.com/office/drawing/2014/main" id="{8A361FBA-DA40-41DF-A2F2-3DBC7CAAE685}"/>
              </a:ext>
            </a:extLst>
          </p:cNvPr>
          <p:cNvSpPr>
            <a:spLocks noGrp="1"/>
          </p:cNvSpPr>
          <p:nvPr>
            <p:ph idx="1"/>
          </p:nvPr>
        </p:nvSpPr>
        <p:spPr>
          <a:xfrm>
            <a:off x="838199" y="1825625"/>
            <a:ext cx="10835869" cy="4351338"/>
          </a:xfrm>
        </p:spPr>
        <p:txBody>
          <a:bodyPr>
            <a:normAutofit/>
          </a:bodyPr>
          <a:lstStyle/>
          <a:p>
            <a:r>
              <a:rPr lang="en-US" dirty="0"/>
              <a:t>Log in to your GitHub account</a:t>
            </a:r>
          </a:p>
          <a:p>
            <a:r>
              <a:rPr lang="en-US" dirty="0"/>
              <a:t>From the left-hand side of the website, create a new repository</a:t>
            </a:r>
          </a:p>
          <a:p>
            <a:pPr lvl="1"/>
            <a:r>
              <a:rPr lang="en-US" dirty="0"/>
              <a:t>In git projects are organized into </a:t>
            </a:r>
            <a:r>
              <a:rPr lang="en-US" i="1" dirty="0"/>
              <a:t>repositories</a:t>
            </a:r>
            <a:r>
              <a:rPr lang="en-US" dirty="0"/>
              <a:t> (one repository holds one project typically)</a:t>
            </a:r>
          </a:p>
          <a:p>
            <a:pPr lvl="1"/>
            <a:r>
              <a:rPr lang="en-US" dirty="0"/>
              <a:t>In repositories you can have multiple </a:t>
            </a:r>
            <a:r>
              <a:rPr lang="en-US" i="1" dirty="0"/>
              <a:t>branches</a:t>
            </a:r>
            <a:r>
              <a:rPr lang="en-US" dirty="0"/>
              <a:t> of the same project</a:t>
            </a:r>
          </a:p>
          <a:p>
            <a:pPr lvl="1"/>
            <a:r>
              <a:rPr lang="en-US" dirty="0"/>
              <a:t>Often people develop features in separate branches and when they are ready the branches are merged back to a </a:t>
            </a:r>
            <a:r>
              <a:rPr lang="en-US" dirty="0">
                <a:solidFill>
                  <a:srgbClr val="FF0000"/>
                </a:solidFill>
                <a:latin typeface="Consolas" panose="020B0609020204030204" pitchFamily="49" charset="0"/>
              </a:rPr>
              <a:t>master</a:t>
            </a:r>
            <a:r>
              <a:rPr lang="en-US" dirty="0"/>
              <a:t> branch; sometimes branches are just for testing new ideas and are deleted without merging</a:t>
            </a:r>
          </a:p>
          <a:p>
            <a:r>
              <a:rPr lang="en-US" dirty="0"/>
              <a:t>Give the repository the name: </a:t>
            </a:r>
            <a:r>
              <a:rPr lang="en-US" dirty="0" err="1">
                <a:solidFill>
                  <a:srgbClr val="FF0000"/>
                </a:solidFill>
                <a:latin typeface="Consolas" panose="020B0609020204030204" pitchFamily="49" charset="0"/>
              </a:rPr>
              <a:t>testrepo</a:t>
            </a:r>
            <a:endParaRPr lang="en-US" dirty="0">
              <a:latin typeface="Consolas" panose="020B0609020204030204" pitchFamily="49" charset="0"/>
            </a:endParaRPr>
          </a:p>
          <a:p>
            <a:r>
              <a:rPr lang="en-US" dirty="0"/>
              <a:t>Make the repository private if you want to and click “Create Repository”</a:t>
            </a:r>
          </a:p>
        </p:txBody>
      </p:sp>
    </p:spTree>
    <p:extLst>
      <p:ext uri="{BB962C8B-B14F-4D97-AF65-F5344CB8AC3E}">
        <p14:creationId xmlns:p14="http://schemas.microsoft.com/office/powerpoint/2010/main" val="3523812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9B5AD-29E5-4DC0-9B4E-357CA5F9587D}"/>
              </a:ext>
            </a:extLst>
          </p:cNvPr>
          <p:cNvSpPr>
            <a:spLocks noGrp="1"/>
          </p:cNvSpPr>
          <p:nvPr>
            <p:ph type="title"/>
          </p:nvPr>
        </p:nvSpPr>
        <p:spPr/>
        <p:txBody>
          <a:bodyPr/>
          <a:lstStyle/>
          <a:p>
            <a:r>
              <a:rPr lang="en-US" dirty="0"/>
              <a:t>Creating a GitHub project</a:t>
            </a:r>
          </a:p>
        </p:txBody>
      </p:sp>
      <p:pic>
        <p:nvPicPr>
          <p:cNvPr id="5" name="Picture 4">
            <a:extLst>
              <a:ext uri="{FF2B5EF4-FFF2-40B4-BE49-F238E27FC236}">
                <a16:creationId xmlns:a16="http://schemas.microsoft.com/office/drawing/2014/main" id="{858D10E5-210F-4640-A204-ED4482924124}"/>
              </a:ext>
            </a:extLst>
          </p:cNvPr>
          <p:cNvPicPr>
            <a:picLocks noChangeAspect="1"/>
          </p:cNvPicPr>
          <p:nvPr/>
        </p:nvPicPr>
        <p:blipFill>
          <a:blip r:embed="rId2"/>
          <a:stretch>
            <a:fillRect/>
          </a:stretch>
        </p:blipFill>
        <p:spPr>
          <a:xfrm>
            <a:off x="5848723" y="1690688"/>
            <a:ext cx="6033893" cy="4296345"/>
          </a:xfrm>
          <a:prstGeom prst="rect">
            <a:avLst/>
          </a:prstGeom>
        </p:spPr>
      </p:pic>
      <p:sp>
        <p:nvSpPr>
          <p:cNvPr id="6" name="TextBox 5">
            <a:extLst>
              <a:ext uri="{FF2B5EF4-FFF2-40B4-BE49-F238E27FC236}">
                <a16:creationId xmlns:a16="http://schemas.microsoft.com/office/drawing/2014/main" id="{4C5AB8D0-44EF-4A49-97F8-8C2F2A25F3DA}"/>
              </a:ext>
            </a:extLst>
          </p:cNvPr>
          <p:cNvSpPr txBox="1"/>
          <p:nvPr/>
        </p:nvSpPr>
        <p:spPr>
          <a:xfrm>
            <a:off x="247507" y="1911302"/>
            <a:ext cx="4757630" cy="2862322"/>
          </a:xfrm>
          <a:prstGeom prst="rect">
            <a:avLst/>
          </a:prstGeom>
          <a:noFill/>
        </p:spPr>
        <p:txBody>
          <a:bodyPr wrap="square" rtlCol="0">
            <a:spAutoFit/>
          </a:bodyPr>
          <a:lstStyle/>
          <a:p>
            <a:pPr marL="285750" indent="-285750">
              <a:buFont typeface="Arial" panose="020B0604020202020204" pitchFamily="34" charset="0"/>
              <a:buChar char="•"/>
            </a:pPr>
            <a:r>
              <a:rPr lang="en-US" dirty="0"/>
              <a:t>The website now gives some instructions but these may not make much sense to you</a:t>
            </a:r>
          </a:p>
          <a:p>
            <a:pPr marL="285750" indent="-285750">
              <a:buFont typeface="Arial" panose="020B0604020202020204" pitchFamily="34" charset="0"/>
              <a:buChar char="•"/>
            </a:pPr>
            <a:r>
              <a:rPr lang="en-US" dirty="0"/>
              <a:t>Click the “HTTPS” button unless you want to set up an SSH public key; we’ll see this later</a:t>
            </a:r>
          </a:p>
          <a:p>
            <a:pPr marL="285750" indent="-285750">
              <a:buFont typeface="Arial" panose="020B0604020202020204" pitchFamily="34" charset="0"/>
              <a:buChar char="•"/>
            </a:pPr>
            <a:r>
              <a:rPr lang="en-US" dirty="0"/>
              <a:t>We’ll use this approach to set up our example repository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Make sure you see an https URL for your repository, such as:</a:t>
            </a:r>
            <a:br>
              <a:rPr lang="en-US" dirty="0"/>
            </a:br>
            <a:r>
              <a:rPr lang="en-US" dirty="0"/>
              <a:t>https://github.com/kimlaine/testrepo.git</a:t>
            </a:r>
          </a:p>
        </p:txBody>
      </p:sp>
      <p:cxnSp>
        <p:nvCxnSpPr>
          <p:cNvPr id="8" name="Connector: Curved 7">
            <a:extLst>
              <a:ext uri="{FF2B5EF4-FFF2-40B4-BE49-F238E27FC236}">
                <a16:creationId xmlns:a16="http://schemas.microsoft.com/office/drawing/2014/main" id="{F39C205F-5A55-4418-BC9E-FB5B17B319DE}"/>
              </a:ext>
            </a:extLst>
          </p:cNvPr>
          <p:cNvCxnSpPr>
            <a:cxnSpLocks/>
          </p:cNvCxnSpPr>
          <p:nvPr/>
        </p:nvCxnSpPr>
        <p:spPr>
          <a:xfrm>
            <a:off x="1808174" y="3429000"/>
            <a:ext cx="3932608" cy="331728"/>
          </a:xfrm>
          <a:prstGeom prst="curvedConnector3">
            <a:avLst/>
          </a:prstGeom>
          <a:ln>
            <a:tailEnd type="triangle" w="lg" len="med"/>
          </a:ln>
        </p:spPr>
        <p:style>
          <a:lnRef idx="3">
            <a:schemeClr val="accent5"/>
          </a:lnRef>
          <a:fillRef idx="0">
            <a:schemeClr val="accent5"/>
          </a:fillRef>
          <a:effectRef idx="2">
            <a:schemeClr val="accent5"/>
          </a:effectRef>
          <a:fontRef idx="minor">
            <a:schemeClr val="tx1"/>
          </a:fontRef>
        </p:style>
      </p:cxnSp>
      <p:sp>
        <p:nvSpPr>
          <p:cNvPr id="15" name="Oval 14">
            <a:extLst>
              <a:ext uri="{FF2B5EF4-FFF2-40B4-BE49-F238E27FC236}">
                <a16:creationId xmlns:a16="http://schemas.microsoft.com/office/drawing/2014/main" id="{E3F5B390-936A-4436-A1E6-6B378C5A9D13}"/>
              </a:ext>
            </a:extLst>
          </p:cNvPr>
          <p:cNvSpPr/>
          <p:nvPr/>
        </p:nvSpPr>
        <p:spPr>
          <a:xfrm>
            <a:off x="6937065" y="2385690"/>
            <a:ext cx="391885" cy="254382"/>
          </a:xfrm>
          <a:prstGeom prst="ellipse">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983262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14072-DF98-41A5-9CC8-B529720D18CE}"/>
              </a:ext>
            </a:extLst>
          </p:cNvPr>
          <p:cNvSpPr>
            <a:spLocks noGrp="1"/>
          </p:cNvSpPr>
          <p:nvPr>
            <p:ph type="title"/>
          </p:nvPr>
        </p:nvSpPr>
        <p:spPr/>
        <p:txBody>
          <a:bodyPr/>
          <a:lstStyle/>
          <a:p>
            <a:r>
              <a:rPr lang="en-US" dirty="0"/>
              <a:t>Creating a GitHub project</a:t>
            </a:r>
          </a:p>
        </p:txBody>
      </p:sp>
      <p:sp>
        <p:nvSpPr>
          <p:cNvPr id="3" name="Content Placeholder 2">
            <a:extLst>
              <a:ext uri="{FF2B5EF4-FFF2-40B4-BE49-F238E27FC236}">
                <a16:creationId xmlns:a16="http://schemas.microsoft.com/office/drawing/2014/main" id="{5B5C1600-74DC-409C-95B9-8A10576E16A8}"/>
              </a:ext>
            </a:extLst>
          </p:cNvPr>
          <p:cNvSpPr>
            <a:spLocks noGrp="1"/>
          </p:cNvSpPr>
          <p:nvPr>
            <p:ph idx="1"/>
          </p:nvPr>
        </p:nvSpPr>
        <p:spPr>
          <a:xfrm>
            <a:off x="838200" y="1825625"/>
            <a:ext cx="10515600" cy="4667250"/>
          </a:xfrm>
        </p:spPr>
        <p:txBody>
          <a:bodyPr>
            <a:normAutofit/>
          </a:bodyPr>
          <a:lstStyle/>
          <a:p>
            <a:r>
              <a:rPr lang="en-US" dirty="0"/>
              <a:t>With git all editing happens in </a:t>
            </a:r>
            <a:r>
              <a:rPr lang="en-US" i="1" dirty="0"/>
              <a:t>local copies </a:t>
            </a:r>
            <a:r>
              <a:rPr lang="en-US" dirty="0"/>
              <a:t>of repositories</a:t>
            </a:r>
          </a:p>
          <a:p>
            <a:r>
              <a:rPr lang="en-US" dirty="0"/>
              <a:t>You never edit directly the data in GitHub</a:t>
            </a:r>
          </a:p>
          <a:p>
            <a:pPr lvl="1"/>
            <a:r>
              <a:rPr lang="en-US" dirty="0"/>
              <a:t>You edit a local copy of the repository and </a:t>
            </a:r>
            <a:r>
              <a:rPr lang="en-US" i="1" dirty="0"/>
              <a:t>push</a:t>
            </a:r>
            <a:r>
              <a:rPr lang="en-US" dirty="0"/>
              <a:t> your changes to GitHub</a:t>
            </a:r>
          </a:p>
          <a:p>
            <a:pPr lvl="1"/>
            <a:r>
              <a:rPr lang="en-US" dirty="0"/>
              <a:t>If someone else made changes to the GitHub repository, you’ll need to </a:t>
            </a:r>
            <a:r>
              <a:rPr lang="en-US" i="1" dirty="0"/>
              <a:t>merge</a:t>
            </a:r>
            <a:r>
              <a:rPr lang="en-US" dirty="0"/>
              <a:t> the changes from the </a:t>
            </a:r>
            <a:r>
              <a:rPr lang="en-US" i="1" dirty="0"/>
              <a:t>remote</a:t>
            </a:r>
            <a:r>
              <a:rPr lang="en-US" dirty="0"/>
              <a:t> to your local copy, then </a:t>
            </a:r>
            <a:r>
              <a:rPr lang="en-US" i="1" dirty="0"/>
              <a:t>push</a:t>
            </a:r>
          </a:p>
          <a:p>
            <a:r>
              <a:rPr lang="en-US" dirty="0"/>
              <a:t>What we need to do now is create a new git repository </a:t>
            </a:r>
            <a:r>
              <a:rPr lang="en-US" b="1" dirty="0"/>
              <a:t>locally</a:t>
            </a:r>
            <a:r>
              <a:rPr lang="en-US" dirty="0"/>
              <a:t> and then </a:t>
            </a:r>
            <a:r>
              <a:rPr lang="en-US" i="1" dirty="0"/>
              <a:t>push</a:t>
            </a:r>
            <a:r>
              <a:rPr lang="en-US" dirty="0"/>
              <a:t> it to the </a:t>
            </a:r>
            <a:r>
              <a:rPr lang="en-US" i="1" dirty="0"/>
              <a:t>remote</a:t>
            </a:r>
            <a:r>
              <a:rPr lang="en-US" dirty="0"/>
              <a:t> (our repository on GitHub)</a:t>
            </a:r>
          </a:p>
          <a:p>
            <a:pPr lvl="1"/>
            <a:r>
              <a:rPr lang="en-US" dirty="0"/>
              <a:t>If the repository would already exist on GitHub, we would have to </a:t>
            </a:r>
            <a:r>
              <a:rPr lang="en-US" i="1" dirty="0"/>
              <a:t>clone</a:t>
            </a:r>
            <a:r>
              <a:rPr lang="en-US" dirty="0"/>
              <a:t> it to get a local copy</a:t>
            </a:r>
          </a:p>
          <a:p>
            <a:pPr lvl="1"/>
            <a:r>
              <a:rPr lang="en-US" dirty="0"/>
              <a:t>Updating an existing local copy with new changes can be done by </a:t>
            </a:r>
            <a:r>
              <a:rPr lang="en-US" i="1" dirty="0"/>
              <a:t>pull</a:t>
            </a:r>
            <a:r>
              <a:rPr lang="en-US" dirty="0"/>
              <a:t>ing or </a:t>
            </a:r>
            <a:r>
              <a:rPr lang="en-US" i="1" dirty="0"/>
              <a:t>fetch</a:t>
            </a:r>
            <a:r>
              <a:rPr lang="en-US" dirty="0"/>
              <a:t>ing the new changes</a:t>
            </a:r>
          </a:p>
        </p:txBody>
      </p:sp>
    </p:spTree>
    <p:extLst>
      <p:ext uri="{BB962C8B-B14F-4D97-AF65-F5344CB8AC3E}">
        <p14:creationId xmlns:p14="http://schemas.microsoft.com/office/powerpoint/2010/main" val="3171852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91A45-4658-4279-969C-1E95C610AF1C}"/>
              </a:ext>
            </a:extLst>
          </p:cNvPr>
          <p:cNvSpPr>
            <a:spLocks noGrp="1"/>
          </p:cNvSpPr>
          <p:nvPr>
            <p:ph type="title"/>
          </p:nvPr>
        </p:nvSpPr>
        <p:spPr/>
        <p:txBody>
          <a:bodyPr/>
          <a:lstStyle/>
          <a:p>
            <a:r>
              <a:rPr lang="en-US" dirty="0"/>
              <a:t>Creating a Git repository</a:t>
            </a:r>
          </a:p>
        </p:txBody>
      </p:sp>
      <p:sp>
        <p:nvSpPr>
          <p:cNvPr id="3" name="Content Placeholder 2">
            <a:extLst>
              <a:ext uri="{FF2B5EF4-FFF2-40B4-BE49-F238E27FC236}">
                <a16:creationId xmlns:a16="http://schemas.microsoft.com/office/drawing/2014/main" id="{A87006C9-A6AC-4F2D-8C03-D8DDDB673226}"/>
              </a:ext>
            </a:extLst>
          </p:cNvPr>
          <p:cNvSpPr>
            <a:spLocks noGrp="1"/>
          </p:cNvSpPr>
          <p:nvPr>
            <p:ph idx="1"/>
          </p:nvPr>
        </p:nvSpPr>
        <p:spPr>
          <a:xfrm>
            <a:off x="838200" y="1825624"/>
            <a:ext cx="10515600" cy="4588925"/>
          </a:xfrm>
        </p:spPr>
        <p:txBody>
          <a:bodyPr/>
          <a:lstStyle/>
          <a:p>
            <a:r>
              <a:rPr lang="en-US" dirty="0"/>
              <a:t>All Git commands looks like </a:t>
            </a:r>
            <a:r>
              <a:rPr lang="en-US" dirty="0">
                <a:solidFill>
                  <a:srgbClr val="FF0000"/>
                </a:solidFill>
                <a:latin typeface="Consolas" panose="020B0609020204030204" pitchFamily="49" charset="0"/>
              </a:rPr>
              <a:t>git &lt;command&gt; &lt;parameters&gt;</a:t>
            </a:r>
            <a:r>
              <a:rPr lang="en-US" dirty="0"/>
              <a:t> e.g.</a:t>
            </a:r>
          </a:p>
          <a:p>
            <a:pPr lvl="1"/>
            <a:r>
              <a:rPr lang="en-US" dirty="0">
                <a:latin typeface="Consolas" panose="020B0609020204030204" pitchFamily="49" charset="0"/>
              </a:rPr>
              <a:t>git clone,</a:t>
            </a:r>
          </a:p>
          <a:p>
            <a:pPr lvl="1"/>
            <a:r>
              <a:rPr lang="en-US" dirty="0">
                <a:latin typeface="Consolas" panose="020B0609020204030204" pitchFamily="49" charset="0"/>
              </a:rPr>
              <a:t>git add,</a:t>
            </a:r>
          </a:p>
          <a:p>
            <a:pPr lvl="1"/>
            <a:r>
              <a:rPr lang="en-US" dirty="0">
                <a:latin typeface="Consolas" panose="020B0609020204030204" pitchFamily="49" charset="0"/>
              </a:rPr>
              <a:t>git commit,</a:t>
            </a:r>
          </a:p>
          <a:p>
            <a:pPr lvl="1"/>
            <a:r>
              <a:rPr lang="en-US" dirty="0">
                <a:latin typeface="Consolas" panose="020B0609020204030204" pitchFamily="49" charset="0"/>
              </a:rPr>
              <a:t>git pull,</a:t>
            </a:r>
          </a:p>
          <a:p>
            <a:pPr lvl="1"/>
            <a:r>
              <a:rPr lang="en-US" dirty="0">
                <a:latin typeface="Consolas" panose="020B0609020204030204" pitchFamily="49" charset="0"/>
              </a:rPr>
              <a:t>git reset,</a:t>
            </a:r>
          </a:p>
          <a:p>
            <a:pPr lvl="1"/>
            <a:r>
              <a:rPr lang="en-US" dirty="0">
                <a:latin typeface="Consolas" panose="020B0609020204030204" pitchFamily="49" charset="0"/>
              </a:rPr>
              <a:t>git merge,</a:t>
            </a:r>
          </a:p>
          <a:p>
            <a:pPr lvl="1"/>
            <a:r>
              <a:rPr lang="en-US" dirty="0">
                <a:latin typeface="Consolas" panose="020B0609020204030204" pitchFamily="49" charset="0"/>
              </a:rPr>
              <a:t>git push,</a:t>
            </a:r>
          </a:p>
          <a:p>
            <a:pPr lvl="1"/>
            <a:r>
              <a:rPr lang="en-US" dirty="0">
                <a:latin typeface="Consolas" panose="020B0609020204030204" pitchFamily="49" charset="0"/>
              </a:rPr>
              <a:t>git cherry-pick,</a:t>
            </a:r>
          </a:p>
          <a:p>
            <a:pPr lvl="1"/>
            <a:r>
              <a:rPr lang="en-US" dirty="0">
                <a:latin typeface="Consolas" panose="020B0609020204030204" pitchFamily="49" charset="0"/>
              </a:rPr>
              <a:t>git rebase</a:t>
            </a:r>
            <a:r>
              <a:rPr lang="en-US" dirty="0"/>
              <a:t>, …</a:t>
            </a:r>
          </a:p>
          <a:p>
            <a:pPr lvl="1"/>
            <a:r>
              <a:rPr lang="en-US" dirty="0"/>
              <a:t>Full list: </a:t>
            </a:r>
            <a:r>
              <a:rPr lang="en-US" dirty="0">
                <a:solidFill>
                  <a:srgbClr val="FF0000"/>
                </a:solidFill>
                <a:latin typeface="Consolas" panose="020B0609020204030204" pitchFamily="49" charset="0"/>
              </a:rPr>
              <a:t>git --help</a:t>
            </a:r>
            <a:r>
              <a:rPr lang="en-US" dirty="0"/>
              <a:t> </a:t>
            </a:r>
          </a:p>
          <a:p>
            <a:pPr marL="0" indent="0">
              <a:buNone/>
            </a:pPr>
            <a:endParaRPr lang="en-US" dirty="0"/>
          </a:p>
        </p:txBody>
      </p:sp>
    </p:spTree>
    <p:extLst>
      <p:ext uri="{BB962C8B-B14F-4D97-AF65-F5344CB8AC3E}">
        <p14:creationId xmlns:p14="http://schemas.microsoft.com/office/powerpoint/2010/main" val="2488376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91A45-4658-4279-969C-1E95C610AF1C}"/>
              </a:ext>
            </a:extLst>
          </p:cNvPr>
          <p:cNvSpPr>
            <a:spLocks noGrp="1"/>
          </p:cNvSpPr>
          <p:nvPr>
            <p:ph type="title"/>
          </p:nvPr>
        </p:nvSpPr>
        <p:spPr/>
        <p:txBody>
          <a:bodyPr/>
          <a:lstStyle/>
          <a:p>
            <a:r>
              <a:rPr lang="en-US" dirty="0"/>
              <a:t>Creating a Git repository</a:t>
            </a:r>
          </a:p>
        </p:txBody>
      </p:sp>
      <p:sp>
        <p:nvSpPr>
          <p:cNvPr id="3" name="Content Placeholder 2">
            <a:extLst>
              <a:ext uri="{FF2B5EF4-FFF2-40B4-BE49-F238E27FC236}">
                <a16:creationId xmlns:a16="http://schemas.microsoft.com/office/drawing/2014/main" id="{A87006C9-A6AC-4F2D-8C03-D8DDDB673226}"/>
              </a:ext>
            </a:extLst>
          </p:cNvPr>
          <p:cNvSpPr>
            <a:spLocks noGrp="1"/>
          </p:cNvSpPr>
          <p:nvPr>
            <p:ph idx="1"/>
          </p:nvPr>
        </p:nvSpPr>
        <p:spPr>
          <a:xfrm>
            <a:off x="838200" y="1818749"/>
            <a:ext cx="10515600" cy="4967062"/>
          </a:xfrm>
        </p:spPr>
        <p:txBody>
          <a:bodyPr/>
          <a:lstStyle/>
          <a:p>
            <a:r>
              <a:rPr lang="en-US" dirty="0"/>
              <a:t>Create a new directory called </a:t>
            </a:r>
            <a:r>
              <a:rPr lang="en-US" dirty="0" err="1">
                <a:solidFill>
                  <a:srgbClr val="FF0000"/>
                </a:solidFill>
                <a:latin typeface="Consolas" panose="020B0609020204030204" pitchFamily="49" charset="0"/>
              </a:rPr>
              <a:t>testrepo</a:t>
            </a:r>
            <a:endParaRPr lang="en-US" dirty="0">
              <a:solidFill>
                <a:srgbClr val="FF0000"/>
              </a:solidFill>
              <a:latin typeface="Consolas" panose="020B0609020204030204" pitchFamily="49" charset="0"/>
            </a:endParaRPr>
          </a:p>
          <a:p>
            <a:r>
              <a:rPr lang="en-US" dirty="0"/>
              <a:t>Change to the new directory in terminal (</a:t>
            </a:r>
            <a:r>
              <a:rPr lang="en-US" dirty="0">
                <a:solidFill>
                  <a:srgbClr val="FF0000"/>
                </a:solidFill>
                <a:latin typeface="Consolas" panose="020B0609020204030204" pitchFamily="49" charset="0"/>
              </a:rPr>
              <a:t>cd </a:t>
            </a:r>
            <a:r>
              <a:rPr lang="en-US" dirty="0" err="1">
                <a:solidFill>
                  <a:srgbClr val="FF0000"/>
                </a:solidFill>
                <a:latin typeface="Consolas" panose="020B0609020204030204" pitchFamily="49" charset="0"/>
              </a:rPr>
              <a:t>testrepo</a:t>
            </a:r>
            <a:r>
              <a:rPr lang="en-US" dirty="0"/>
              <a:t>)</a:t>
            </a:r>
          </a:p>
          <a:p>
            <a:r>
              <a:rPr lang="en-US" dirty="0"/>
              <a:t>Initiate a new repository by typing: </a:t>
            </a:r>
            <a:r>
              <a:rPr lang="en-US" dirty="0">
                <a:solidFill>
                  <a:srgbClr val="FF0000"/>
                </a:solidFill>
                <a:latin typeface="Consolas" panose="020B0609020204030204" pitchFamily="49" charset="0"/>
              </a:rPr>
              <a:t>git </a:t>
            </a:r>
            <a:r>
              <a:rPr lang="en-US" dirty="0" err="1">
                <a:solidFill>
                  <a:srgbClr val="FF0000"/>
                </a:solidFill>
                <a:latin typeface="Consolas" panose="020B0609020204030204" pitchFamily="49" charset="0"/>
              </a:rPr>
              <a:t>init</a:t>
            </a:r>
            <a:endParaRPr lang="en-US" dirty="0">
              <a:solidFill>
                <a:srgbClr val="FF0000"/>
              </a:solidFill>
              <a:latin typeface="Consolas" panose="020B0609020204030204" pitchFamily="49" charset="0"/>
            </a:endParaRPr>
          </a:p>
          <a:p>
            <a:r>
              <a:rPr lang="en-US" dirty="0"/>
              <a:t>All GitHub projects usually have a README.md file so create a new </a:t>
            </a:r>
            <a:r>
              <a:rPr lang="en-US" dirty="0">
                <a:highlight>
                  <a:srgbClr val="FFFF00"/>
                </a:highlight>
              </a:rPr>
              <a:t>.md or markdown file</a:t>
            </a:r>
            <a:r>
              <a:rPr lang="en-US" dirty="0"/>
              <a:t> called README.md with some content (like “Hello World”)</a:t>
            </a:r>
          </a:p>
          <a:p>
            <a:r>
              <a:rPr lang="en-US" dirty="0"/>
              <a:t>Now we need to tell Git to “follow” that file: </a:t>
            </a:r>
            <a:r>
              <a:rPr lang="en-US" dirty="0">
                <a:solidFill>
                  <a:srgbClr val="FF0000"/>
                </a:solidFill>
                <a:latin typeface="Consolas" panose="020B0609020204030204" pitchFamily="49" charset="0"/>
              </a:rPr>
              <a:t>git add README.md</a:t>
            </a:r>
            <a:r>
              <a:rPr lang="en-US" dirty="0"/>
              <a:t> </a:t>
            </a:r>
          </a:p>
          <a:p>
            <a:r>
              <a:rPr lang="en-US" dirty="0">
                <a:solidFill>
                  <a:srgbClr val="FF0000"/>
                </a:solidFill>
                <a:latin typeface="Consolas" panose="020B0609020204030204" pitchFamily="49" charset="0"/>
              </a:rPr>
              <a:t>git status</a:t>
            </a:r>
            <a:r>
              <a:rPr lang="en-US" dirty="0"/>
              <a:t> shows:</a:t>
            </a:r>
          </a:p>
          <a:p>
            <a:pPr lvl="1"/>
            <a:r>
              <a:rPr lang="en-US" dirty="0"/>
              <a:t>that your current </a:t>
            </a:r>
            <a:r>
              <a:rPr lang="en-US" i="1" dirty="0"/>
              <a:t>branch</a:t>
            </a:r>
            <a:r>
              <a:rPr lang="en-US" dirty="0"/>
              <a:t> is called </a:t>
            </a:r>
            <a:r>
              <a:rPr lang="en-US" i="1" dirty="0"/>
              <a:t>master</a:t>
            </a:r>
          </a:p>
          <a:p>
            <a:pPr lvl="1"/>
            <a:r>
              <a:rPr lang="en-US" dirty="0"/>
              <a:t>that there is a new file (not yet </a:t>
            </a:r>
            <a:r>
              <a:rPr lang="en-US" i="1" dirty="0"/>
              <a:t>committed</a:t>
            </a:r>
            <a:r>
              <a:rPr lang="en-US" dirty="0"/>
              <a:t>)</a:t>
            </a:r>
          </a:p>
        </p:txBody>
      </p:sp>
    </p:spTree>
    <p:extLst>
      <p:ext uri="{BB962C8B-B14F-4D97-AF65-F5344CB8AC3E}">
        <p14:creationId xmlns:p14="http://schemas.microsoft.com/office/powerpoint/2010/main" val="3758502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91A45-4658-4279-969C-1E95C610AF1C}"/>
              </a:ext>
            </a:extLst>
          </p:cNvPr>
          <p:cNvSpPr>
            <a:spLocks noGrp="1"/>
          </p:cNvSpPr>
          <p:nvPr>
            <p:ph type="title"/>
          </p:nvPr>
        </p:nvSpPr>
        <p:spPr/>
        <p:txBody>
          <a:bodyPr/>
          <a:lstStyle/>
          <a:p>
            <a:r>
              <a:rPr lang="en-US" dirty="0"/>
              <a:t>Creating a Git repository</a:t>
            </a:r>
          </a:p>
        </p:txBody>
      </p:sp>
      <p:sp>
        <p:nvSpPr>
          <p:cNvPr id="3" name="Content Placeholder 2">
            <a:extLst>
              <a:ext uri="{FF2B5EF4-FFF2-40B4-BE49-F238E27FC236}">
                <a16:creationId xmlns:a16="http://schemas.microsoft.com/office/drawing/2014/main" id="{A87006C9-A6AC-4F2D-8C03-D8DDDB673226}"/>
              </a:ext>
            </a:extLst>
          </p:cNvPr>
          <p:cNvSpPr>
            <a:spLocks noGrp="1"/>
          </p:cNvSpPr>
          <p:nvPr>
            <p:ph idx="1"/>
          </p:nvPr>
        </p:nvSpPr>
        <p:spPr>
          <a:xfrm>
            <a:off x="838200" y="1818749"/>
            <a:ext cx="10515600" cy="4967062"/>
          </a:xfrm>
        </p:spPr>
        <p:txBody>
          <a:bodyPr/>
          <a:lstStyle/>
          <a:p>
            <a:r>
              <a:rPr lang="en-US" dirty="0"/>
              <a:t>Tell git that you are done with your changes and are ready to add them as a </a:t>
            </a:r>
            <a:r>
              <a:rPr lang="en-US" i="1" dirty="0"/>
              <a:t>commit</a:t>
            </a:r>
            <a:r>
              <a:rPr lang="en-US" dirty="0"/>
              <a:t> to the repository: </a:t>
            </a:r>
            <a:r>
              <a:rPr lang="en-US" dirty="0">
                <a:solidFill>
                  <a:srgbClr val="FF0000"/>
                </a:solidFill>
                <a:latin typeface="Consolas" panose="020B0609020204030204" pitchFamily="49" charset="0"/>
              </a:rPr>
              <a:t>git commit</a:t>
            </a:r>
          </a:p>
          <a:p>
            <a:r>
              <a:rPr lang="en-US" dirty="0"/>
              <a:t>All commits need to include a message describing the commit</a:t>
            </a:r>
          </a:p>
          <a:p>
            <a:r>
              <a:rPr lang="en-US" dirty="0"/>
              <a:t>If you don’t write a message then the commit will be canceled</a:t>
            </a:r>
          </a:p>
          <a:p>
            <a:r>
              <a:rPr lang="en-US" dirty="0"/>
              <a:t>By default Git uses the very primitive text editor Nano (save and close with </a:t>
            </a:r>
            <a:r>
              <a:rPr lang="en-US" dirty="0" err="1"/>
              <a:t>Ctrl+x</a:t>
            </a:r>
            <a:r>
              <a:rPr lang="en-US" dirty="0"/>
              <a:t>); you can change this to a different editor like vim by typing: </a:t>
            </a:r>
            <a:br>
              <a:rPr lang="en-US" dirty="0"/>
            </a:br>
            <a:r>
              <a:rPr lang="en-US" dirty="0">
                <a:solidFill>
                  <a:srgbClr val="FF0000"/>
                </a:solidFill>
                <a:latin typeface="Consolas" panose="020B0609020204030204" pitchFamily="49" charset="0"/>
              </a:rPr>
              <a:t>git config --global </a:t>
            </a:r>
            <a:r>
              <a:rPr lang="en-US" dirty="0" err="1">
                <a:solidFill>
                  <a:srgbClr val="FF0000"/>
                </a:solidFill>
                <a:latin typeface="Consolas" panose="020B0609020204030204" pitchFamily="49" charset="0"/>
              </a:rPr>
              <a:t>core.editor</a:t>
            </a:r>
            <a:r>
              <a:rPr lang="en-US" dirty="0">
                <a:solidFill>
                  <a:srgbClr val="FF0000"/>
                </a:solidFill>
                <a:latin typeface="Consolas" panose="020B0609020204030204" pitchFamily="49" charset="0"/>
              </a:rPr>
              <a:t> "vim"</a:t>
            </a:r>
          </a:p>
          <a:p>
            <a:r>
              <a:rPr lang="en-US" dirty="0">
                <a:solidFill>
                  <a:srgbClr val="FF0000"/>
                </a:solidFill>
                <a:latin typeface="Consolas" panose="020B0609020204030204" pitchFamily="49" charset="0"/>
              </a:rPr>
              <a:t>git log</a:t>
            </a:r>
            <a:r>
              <a:rPr lang="en-US" dirty="0"/>
              <a:t> shows you all commits in the current </a:t>
            </a:r>
            <a:r>
              <a:rPr lang="en-US" i="1" dirty="0"/>
              <a:t>branch (master)</a:t>
            </a:r>
          </a:p>
          <a:p>
            <a:r>
              <a:rPr lang="en-US" dirty="0"/>
              <a:t>Note that all of this is still only in your local copy of the repository</a:t>
            </a:r>
          </a:p>
        </p:txBody>
      </p:sp>
    </p:spTree>
    <p:extLst>
      <p:ext uri="{BB962C8B-B14F-4D97-AF65-F5344CB8AC3E}">
        <p14:creationId xmlns:p14="http://schemas.microsoft.com/office/powerpoint/2010/main" val="2986007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CE13E-E7C1-4670-8A41-D2E1CFB4098E}"/>
              </a:ext>
            </a:extLst>
          </p:cNvPr>
          <p:cNvSpPr>
            <a:spLocks noGrp="1"/>
          </p:cNvSpPr>
          <p:nvPr>
            <p:ph type="title"/>
          </p:nvPr>
        </p:nvSpPr>
        <p:spPr/>
        <p:txBody>
          <a:bodyPr/>
          <a:lstStyle/>
          <a:p>
            <a:r>
              <a:rPr lang="en-US" dirty="0"/>
              <a:t>Adding a remote</a:t>
            </a:r>
          </a:p>
        </p:txBody>
      </p:sp>
      <p:sp>
        <p:nvSpPr>
          <p:cNvPr id="3" name="Content Placeholder 2">
            <a:extLst>
              <a:ext uri="{FF2B5EF4-FFF2-40B4-BE49-F238E27FC236}">
                <a16:creationId xmlns:a16="http://schemas.microsoft.com/office/drawing/2014/main" id="{CDEADB4E-4E6D-4015-8308-FBC7BCBCBB7F}"/>
              </a:ext>
            </a:extLst>
          </p:cNvPr>
          <p:cNvSpPr>
            <a:spLocks noGrp="1"/>
          </p:cNvSpPr>
          <p:nvPr>
            <p:ph idx="1"/>
          </p:nvPr>
        </p:nvSpPr>
        <p:spPr>
          <a:xfrm>
            <a:off x="838199" y="1825625"/>
            <a:ext cx="10670865" cy="4351338"/>
          </a:xfrm>
        </p:spPr>
        <p:txBody>
          <a:bodyPr>
            <a:normAutofit/>
          </a:bodyPr>
          <a:lstStyle/>
          <a:p>
            <a:r>
              <a:rPr lang="en-US" dirty="0">
                <a:solidFill>
                  <a:srgbClr val="FF0000"/>
                </a:solidFill>
                <a:latin typeface="Consolas" panose="020B0609020204030204" pitchFamily="49" charset="0"/>
              </a:rPr>
              <a:t>git push</a:t>
            </a:r>
            <a:r>
              <a:rPr lang="en-US" dirty="0"/>
              <a:t> updates </a:t>
            </a:r>
            <a:r>
              <a:rPr lang="en-US" i="1" dirty="0"/>
              <a:t>remotes</a:t>
            </a:r>
            <a:r>
              <a:rPr lang="en-US" dirty="0"/>
              <a:t> to match the local copy</a:t>
            </a:r>
          </a:p>
          <a:p>
            <a:pPr lvl="1"/>
            <a:r>
              <a:rPr lang="en-US" dirty="0"/>
              <a:t>If you try this now, it will give you an error but nothing bad happens</a:t>
            </a:r>
          </a:p>
          <a:p>
            <a:r>
              <a:rPr lang="en-US" i="1" dirty="0"/>
              <a:t>Remotes</a:t>
            </a:r>
            <a:r>
              <a:rPr lang="en-US" dirty="0"/>
              <a:t> are copies of the repository that are hosted on other computers (such as GitHub server)</a:t>
            </a:r>
          </a:p>
          <a:p>
            <a:r>
              <a:rPr lang="en-US" dirty="0"/>
              <a:t>Since this is a new repository that we created locally, we need to tell Git the URL of the </a:t>
            </a:r>
            <a:r>
              <a:rPr lang="en-US" i="1" dirty="0"/>
              <a:t>remote</a:t>
            </a:r>
            <a:r>
              <a:rPr lang="en-US" dirty="0"/>
              <a:t> we want to use before </a:t>
            </a:r>
            <a:r>
              <a:rPr lang="en-US" i="1" dirty="0"/>
              <a:t>push</a:t>
            </a:r>
            <a:r>
              <a:rPr lang="en-US" dirty="0"/>
              <a:t>ing to that:</a:t>
            </a:r>
            <a:br>
              <a:rPr lang="en-US" dirty="0"/>
            </a:br>
            <a:r>
              <a:rPr lang="en-US" sz="2000" dirty="0">
                <a:solidFill>
                  <a:srgbClr val="FF0000"/>
                </a:solidFill>
                <a:latin typeface="Consolas" panose="020B0609020204030204" pitchFamily="49" charset="0"/>
              </a:rPr>
              <a:t>git remote add origin </a:t>
            </a:r>
            <a:r>
              <a:rPr lang="en-US" sz="2000" dirty="0">
                <a:solidFill>
                  <a:srgbClr val="FF0000"/>
                </a:solidFill>
                <a:latin typeface="Consolas" panose="020B0609020204030204" pitchFamily="49" charset="0"/>
                <a:hlinkClick r:id="rId2">
                  <a:extLst>
                    <a:ext uri="{A12FA001-AC4F-418D-AE19-62706E023703}">
                      <ahyp:hlinkClr xmlns:ahyp="http://schemas.microsoft.com/office/drawing/2018/hyperlinkcolor" val="tx"/>
                    </a:ext>
                  </a:extLst>
                </a:hlinkClick>
              </a:rPr>
              <a:t>https://github.com/&lt;something&gt;/testrepo.git</a:t>
            </a:r>
          </a:p>
        </p:txBody>
      </p:sp>
    </p:spTree>
    <p:extLst>
      <p:ext uri="{BB962C8B-B14F-4D97-AF65-F5344CB8AC3E}">
        <p14:creationId xmlns:p14="http://schemas.microsoft.com/office/powerpoint/2010/main" val="224832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CE13E-E7C1-4670-8A41-D2E1CFB4098E}"/>
              </a:ext>
            </a:extLst>
          </p:cNvPr>
          <p:cNvSpPr>
            <a:spLocks noGrp="1"/>
          </p:cNvSpPr>
          <p:nvPr>
            <p:ph type="title"/>
          </p:nvPr>
        </p:nvSpPr>
        <p:spPr/>
        <p:txBody>
          <a:bodyPr/>
          <a:lstStyle/>
          <a:p>
            <a:r>
              <a:rPr lang="en-US" dirty="0"/>
              <a:t>Adding a remote</a:t>
            </a:r>
          </a:p>
        </p:txBody>
      </p:sp>
      <p:sp>
        <p:nvSpPr>
          <p:cNvPr id="3" name="Content Placeholder 2">
            <a:extLst>
              <a:ext uri="{FF2B5EF4-FFF2-40B4-BE49-F238E27FC236}">
                <a16:creationId xmlns:a16="http://schemas.microsoft.com/office/drawing/2014/main" id="{CDEADB4E-4E6D-4015-8308-FBC7BCBCBB7F}"/>
              </a:ext>
            </a:extLst>
          </p:cNvPr>
          <p:cNvSpPr>
            <a:spLocks noGrp="1"/>
          </p:cNvSpPr>
          <p:nvPr>
            <p:ph idx="1"/>
          </p:nvPr>
        </p:nvSpPr>
        <p:spPr>
          <a:xfrm>
            <a:off x="838199" y="1825624"/>
            <a:ext cx="10670865" cy="4829557"/>
          </a:xfrm>
        </p:spPr>
        <p:txBody>
          <a:bodyPr>
            <a:normAutofit lnSpcReduction="10000"/>
          </a:bodyPr>
          <a:lstStyle/>
          <a:p>
            <a:r>
              <a:rPr lang="en-US" sz="1800" dirty="0"/>
              <a:t>Actually, </a:t>
            </a:r>
            <a:r>
              <a:rPr lang="en-US" sz="1800" dirty="0" err="1">
                <a:latin typeface="Consolas" panose="020B0609020204030204" pitchFamily="49" charset="0"/>
              </a:rPr>
              <a:t>testrepo.git</a:t>
            </a:r>
            <a:r>
              <a:rPr lang="en-US" sz="1800" dirty="0"/>
              <a:t> is a so-called </a:t>
            </a:r>
            <a:r>
              <a:rPr lang="en-US" sz="1800" i="1" dirty="0"/>
              <a:t>bare</a:t>
            </a:r>
            <a:r>
              <a:rPr lang="en-US" sz="1800" dirty="0"/>
              <a:t> Git repository that doesn’t allow any local changes and is usually used to simply host projects (like GitHub does); you can take local copies (</a:t>
            </a:r>
            <a:r>
              <a:rPr lang="en-US" sz="1800" i="1" dirty="0"/>
              <a:t>clone</a:t>
            </a:r>
            <a:r>
              <a:rPr lang="en-US" sz="1800" dirty="0"/>
              <a:t>) of </a:t>
            </a:r>
            <a:r>
              <a:rPr lang="en-US" sz="1800" i="1" dirty="0"/>
              <a:t>bare</a:t>
            </a:r>
            <a:r>
              <a:rPr lang="en-US" sz="1800" dirty="0"/>
              <a:t> repositories and </a:t>
            </a:r>
            <a:r>
              <a:rPr lang="en-US" sz="1800" i="1" dirty="0"/>
              <a:t>push </a:t>
            </a:r>
            <a:r>
              <a:rPr lang="en-US" sz="1800" dirty="0"/>
              <a:t>changes to them. All </a:t>
            </a:r>
            <a:r>
              <a:rPr lang="en-US" sz="1800" i="1" dirty="0"/>
              <a:t>bare</a:t>
            </a:r>
            <a:r>
              <a:rPr lang="en-US" sz="1800" dirty="0"/>
              <a:t> Git repositories have names that end in </a:t>
            </a:r>
            <a:r>
              <a:rPr lang="en-US" sz="1800" dirty="0">
                <a:latin typeface="Consolas" panose="020B0609020204030204" pitchFamily="49" charset="0"/>
              </a:rPr>
              <a:t>.git</a:t>
            </a:r>
            <a:r>
              <a:rPr lang="en-US" sz="1800" dirty="0"/>
              <a:t> (like </a:t>
            </a:r>
            <a:r>
              <a:rPr lang="en-US" sz="1800" dirty="0" err="1">
                <a:latin typeface="Consolas" panose="020B0609020204030204" pitchFamily="49" charset="0"/>
              </a:rPr>
              <a:t>testrepo.git</a:t>
            </a:r>
            <a:r>
              <a:rPr lang="en-US" sz="1800" dirty="0"/>
              <a:t>). </a:t>
            </a:r>
          </a:p>
          <a:p>
            <a:r>
              <a:rPr lang="en-US" dirty="0"/>
              <a:t>What we did in the </a:t>
            </a:r>
            <a:r>
              <a:rPr lang="en-US" dirty="0">
                <a:solidFill>
                  <a:srgbClr val="FF0000"/>
                </a:solidFill>
                <a:latin typeface="Consolas" panose="020B0609020204030204" pitchFamily="49" charset="0"/>
              </a:rPr>
              <a:t>git remote</a:t>
            </a:r>
            <a:r>
              <a:rPr lang="en-US" dirty="0"/>
              <a:t> command was:</a:t>
            </a:r>
          </a:p>
          <a:p>
            <a:pPr lvl="1"/>
            <a:r>
              <a:rPr lang="en-US" dirty="0"/>
              <a:t>Add a new </a:t>
            </a:r>
            <a:r>
              <a:rPr lang="en-US" i="1" dirty="0"/>
              <a:t>push</a:t>
            </a:r>
            <a:r>
              <a:rPr lang="en-US" dirty="0"/>
              <a:t> “endpoint” (</a:t>
            </a:r>
            <a:r>
              <a:rPr lang="en-US" i="1" dirty="0"/>
              <a:t>remote</a:t>
            </a:r>
            <a:r>
              <a:rPr lang="en-US" dirty="0"/>
              <a:t>) to our local copy of the repository</a:t>
            </a:r>
          </a:p>
          <a:p>
            <a:pPr lvl="1"/>
            <a:r>
              <a:rPr lang="en-US" dirty="0"/>
              <a:t>All </a:t>
            </a:r>
            <a:r>
              <a:rPr lang="en-US" i="1" dirty="0"/>
              <a:t>remotes</a:t>
            </a:r>
            <a:r>
              <a:rPr lang="en-US" dirty="0"/>
              <a:t> have names and the default </a:t>
            </a:r>
            <a:r>
              <a:rPr lang="en-US" i="1" dirty="0"/>
              <a:t>remote</a:t>
            </a:r>
            <a:r>
              <a:rPr lang="en-US" dirty="0"/>
              <a:t> is called </a:t>
            </a:r>
            <a:r>
              <a:rPr lang="en-US" i="1" dirty="0"/>
              <a:t>origin</a:t>
            </a:r>
          </a:p>
          <a:p>
            <a:pPr lvl="1"/>
            <a:r>
              <a:rPr lang="en-US" dirty="0"/>
              <a:t>In many cases you’ll only have one </a:t>
            </a:r>
            <a:r>
              <a:rPr lang="en-US" i="1" dirty="0"/>
              <a:t>remote</a:t>
            </a:r>
            <a:r>
              <a:rPr lang="en-US" dirty="0"/>
              <a:t> in your project (</a:t>
            </a:r>
            <a:r>
              <a:rPr lang="en-US" i="1" dirty="0"/>
              <a:t>origin</a:t>
            </a:r>
            <a:r>
              <a:rPr lang="en-US" dirty="0"/>
              <a:t>)</a:t>
            </a:r>
          </a:p>
          <a:p>
            <a:r>
              <a:rPr lang="en-US" dirty="0">
                <a:solidFill>
                  <a:srgbClr val="FF0000"/>
                </a:solidFill>
                <a:latin typeface="Consolas" panose="020B0609020204030204" pitchFamily="49" charset="0"/>
              </a:rPr>
              <a:t>git remote</a:t>
            </a:r>
            <a:r>
              <a:rPr lang="en-US" dirty="0"/>
              <a:t> shows all remotes you have configured (only one now)</a:t>
            </a:r>
          </a:p>
          <a:p>
            <a:r>
              <a:rPr lang="en-US" dirty="0">
                <a:solidFill>
                  <a:srgbClr val="FF0000"/>
                </a:solidFill>
                <a:latin typeface="Consolas" panose="020B0609020204030204" pitchFamily="49" charset="0"/>
              </a:rPr>
              <a:t>git remote show origin</a:t>
            </a:r>
            <a:r>
              <a:rPr lang="en-US" dirty="0"/>
              <a:t> shows information about the </a:t>
            </a:r>
            <a:r>
              <a:rPr lang="en-US" i="1" dirty="0"/>
              <a:t>remote  origin</a:t>
            </a:r>
          </a:p>
          <a:p>
            <a:pPr lvl="1"/>
            <a:r>
              <a:rPr lang="en-US" dirty="0"/>
              <a:t>It should ask your GitHub username and password</a:t>
            </a:r>
          </a:p>
          <a:p>
            <a:pPr lvl="1"/>
            <a:r>
              <a:rPr lang="en-US" dirty="0"/>
              <a:t>The </a:t>
            </a:r>
            <a:r>
              <a:rPr lang="en-US" i="1" dirty="0"/>
              <a:t>remote</a:t>
            </a:r>
            <a:r>
              <a:rPr lang="en-US" dirty="0"/>
              <a:t> is a flexible concept: it can use a different location to get updates from (</a:t>
            </a:r>
            <a:r>
              <a:rPr lang="en-US" i="1" dirty="0" err="1"/>
              <a:t>fetch|pull</a:t>
            </a:r>
            <a:r>
              <a:rPr lang="en-US" dirty="0"/>
              <a:t>) and send updates to (</a:t>
            </a:r>
            <a:r>
              <a:rPr lang="en-US" i="1" dirty="0"/>
              <a:t>push</a:t>
            </a:r>
            <a:r>
              <a:rPr lang="en-US" dirty="0"/>
              <a:t>)</a:t>
            </a:r>
          </a:p>
          <a:p>
            <a:pPr lvl="1"/>
            <a:endParaRPr lang="en-US" dirty="0"/>
          </a:p>
        </p:txBody>
      </p:sp>
    </p:spTree>
    <p:extLst>
      <p:ext uri="{BB962C8B-B14F-4D97-AF65-F5344CB8AC3E}">
        <p14:creationId xmlns:p14="http://schemas.microsoft.com/office/powerpoint/2010/main" val="166659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AAE5-A21A-497E-B81E-038FB32DAFA4}"/>
              </a:ext>
            </a:extLst>
          </p:cNvPr>
          <p:cNvSpPr>
            <a:spLocks noGrp="1"/>
          </p:cNvSpPr>
          <p:nvPr>
            <p:ph type="title"/>
          </p:nvPr>
        </p:nvSpPr>
        <p:spPr/>
        <p:txBody>
          <a:bodyPr/>
          <a:lstStyle/>
          <a:p>
            <a:r>
              <a:rPr lang="en-US" dirty="0"/>
              <a:t>Adding an upstream branch for master</a:t>
            </a:r>
          </a:p>
        </p:txBody>
      </p:sp>
      <p:sp>
        <p:nvSpPr>
          <p:cNvPr id="3" name="Content Placeholder 2">
            <a:extLst>
              <a:ext uri="{FF2B5EF4-FFF2-40B4-BE49-F238E27FC236}">
                <a16:creationId xmlns:a16="http://schemas.microsoft.com/office/drawing/2014/main" id="{3DA6460B-0CB1-4E32-916E-87C7301B7BAD}"/>
              </a:ext>
            </a:extLst>
          </p:cNvPr>
          <p:cNvSpPr>
            <a:spLocks noGrp="1"/>
          </p:cNvSpPr>
          <p:nvPr>
            <p:ph idx="1"/>
          </p:nvPr>
        </p:nvSpPr>
        <p:spPr>
          <a:xfrm>
            <a:off x="831325" y="1825624"/>
            <a:ext cx="10515600" cy="4939561"/>
          </a:xfrm>
        </p:spPr>
        <p:txBody>
          <a:bodyPr>
            <a:normAutofit/>
          </a:bodyPr>
          <a:lstStyle/>
          <a:p>
            <a:r>
              <a:rPr lang="en-US" dirty="0">
                <a:solidFill>
                  <a:srgbClr val="FF0000"/>
                </a:solidFill>
                <a:latin typeface="Consolas" panose="020B0609020204030204" pitchFamily="49" charset="0"/>
              </a:rPr>
              <a:t>git push</a:t>
            </a:r>
            <a:r>
              <a:rPr lang="en-US" dirty="0"/>
              <a:t> still won’t work (try it!)</a:t>
            </a:r>
          </a:p>
          <a:p>
            <a:r>
              <a:rPr lang="en-US" dirty="0"/>
              <a:t>The problem is that the </a:t>
            </a:r>
            <a:r>
              <a:rPr lang="en-US" i="1" dirty="0"/>
              <a:t>remote </a:t>
            </a:r>
            <a:r>
              <a:rPr lang="en-US" dirty="0"/>
              <a:t>is also a Git repository with </a:t>
            </a:r>
            <a:r>
              <a:rPr lang="en-US" i="1" dirty="0"/>
              <a:t>branches</a:t>
            </a:r>
            <a:r>
              <a:rPr lang="en-US" dirty="0"/>
              <a:t> and all (remember, you are currently on the </a:t>
            </a:r>
            <a:r>
              <a:rPr lang="en-US" i="1" dirty="0"/>
              <a:t>master</a:t>
            </a:r>
            <a:r>
              <a:rPr lang="en-US" dirty="0"/>
              <a:t> branch in your local copy of the repository)</a:t>
            </a:r>
          </a:p>
          <a:p>
            <a:r>
              <a:rPr lang="en-US" dirty="0"/>
              <a:t>You haven’t told Git to which </a:t>
            </a:r>
            <a:r>
              <a:rPr lang="en-US" i="1" dirty="0"/>
              <a:t>branch</a:t>
            </a:r>
            <a:r>
              <a:rPr lang="en-US" dirty="0"/>
              <a:t> on the </a:t>
            </a:r>
            <a:r>
              <a:rPr lang="en-US" i="1" dirty="0"/>
              <a:t>remote</a:t>
            </a:r>
            <a:r>
              <a:rPr lang="en-US" dirty="0"/>
              <a:t> repository (</a:t>
            </a:r>
            <a:r>
              <a:rPr lang="en-US" b="1" dirty="0"/>
              <a:t>upstream</a:t>
            </a:r>
            <a:r>
              <a:rPr lang="en-US" dirty="0"/>
              <a:t>) you want to </a:t>
            </a:r>
            <a:r>
              <a:rPr lang="en-US" i="1" dirty="0"/>
              <a:t>push</a:t>
            </a:r>
            <a:r>
              <a:rPr lang="en-US" dirty="0"/>
              <a:t> the changes (</a:t>
            </a:r>
            <a:r>
              <a:rPr lang="en-US" i="1" dirty="0"/>
              <a:t>commits</a:t>
            </a:r>
            <a:r>
              <a:rPr lang="en-US" dirty="0"/>
              <a:t>) you made to your local </a:t>
            </a:r>
            <a:r>
              <a:rPr lang="en-US" i="1" dirty="0"/>
              <a:t>master branch</a:t>
            </a:r>
          </a:p>
          <a:p>
            <a:r>
              <a:rPr lang="en-US" dirty="0"/>
              <a:t>See how the flexibility of Git creates some complexity</a:t>
            </a:r>
          </a:p>
        </p:txBody>
      </p:sp>
    </p:spTree>
    <p:extLst>
      <p:ext uri="{BB962C8B-B14F-4D97-AF65-F5344CB8AC3E}">
        <p14:creationId xmlns:p14="http://schemas.microsoft.com/office/powerpoint/2010/main" val="2579480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AAE5-A21A-497E-B81E-038FB32DAFA4}"/>
              </a:ext>
            </a:extLst>
          </p:cNvPr>
          <p:cNvSpPr>
            <a:spLocks noGrp="1"/>
          </p:cNvSpPr>
          <p:nvPr>
            <p:ph type="title"/>
          </p:nvPr>
        </p:nvSpPr>
        <p:spPr/>
        <p:txBody>
          <a:bodyPr/>
          <a:lstStyle/>
          <a:p>
            <a:r>
              <a:rPr lang="en-US" dirty="0"/>
              <a:t>Pushing to GitHub</a:t>
            </a:r>
          </a:p>
        </p:txBody>
      </p:sp>
      <p:sp>
        <p:nvSpPr>
          <p:cNvPr id="3" name="Content Placeholder 2">
            <a:extLst>
              <a:ext uri="{FF2B5EF4-FFF2-40B4-BE49-F238E27FC236}">
                <a16:creationId xmlns:a16="http://schemas.microsoft.com/office/drawing/2014/main" id="{3DA6460B-0CB1-4E32-916E-87C7301B7BAD}"/>
              </a:ext>
            </a:extLst>
          </p:cNvPr>
          <p:cNvSpPr>
            <a:spLocks noGrp="1"/>
          </p:cNvSpPr>
          <p:nvPr>
            <p:ph idx="1"/>
          </p:nvPr>
        </p:nvSpPr>
        <p:spPr>
          <a:xfrm>
            <a:off x="831325" y="1825624"/>
            <a:ext cx="10515600" cy="4939561"/>
          </a:xfrm>
        </p:spPr>
        <p:txBody>
          <a:bodyPr>
            <a:normAutofit/>
          </a:bodyPr>
          <a:lstStyle/>
          <a:p>
            <a:r>
              <a:rPr lang="en-US" dirty="0"/>
              <a:t>Type: </a:t>
            </a:r>
            <a:r>
              <a:rPr lang="en-US" dirty="0">
                <a:solidFill>
                  <a:srgbClr val="FF0000"/>
                </a:solidFill>
                <a:latin typeface="Consolas" panose="020B0609020204030204" pitchFamily="49" charset="0"/>
              </a:rPr>
              <a:t>git push --set-upstream origin master</a:t>
            </a:r>
          </a:p>
          <a:p>
            <a:r>
              <a:rPr lang="en-US" dirty="0"/>
              <a:t>This sets </a:t>
            </a:r>
            <a:r>
              <a:rPr lang="en-US" i="1" dirty="0"/>
              <a:t>branch</a:t>
            </a:r>
            <a:r>
              <a:rPr lang="en-US" dirty="0"/>
              <a:t> </a:t>
            </a:r>
            <a:r>
              <a:rPr lang="en-US" i="1" dirty="0"/>
              <a:t>master</a:t>
            </a:r>
            <a:r>
              <a:rPr lang="en-US" dirty="0"/>
              <a:t> on the </a:t>
            </a:r>
            <a:r>
              <a:rPr lang="en-US" i="1" dirty="0"/>
              <a:t>remote</a:t>
            </a:r>
            <a:r>
              <a:rPr lang="en-US" dirty="0"/>
              <a:t> called </a:t>
            </a:r>
            <a:r>
              <a:rPr lang="en-US" i="1" dirty="0"/>
              <a:t>origin</a:t>
            </a:r>
            <a:r>
              <a:rPr lang="en-US" dirty="0"/>
              <a:t> to be the target of the push from your current local branch (</a:t>
            </a:r>
            <a:r>
              <a:rPr lang="en-US" i="1" dirty="0"/>
              <a:t>master</a:t>
            </a:r>
            <a:r>
              <a:rPr lang="en-US" dirty="0"/>
              <a:t>) </a:t>
            </a:r>
            <a:r>
              <a:rPr lang="en-US" b="1" dirty="0"/>
              <a:t>AND</a:t>
            </a:r>
            <a:r>
              <a:rPr lang="en-US" dirty="0"/>
              <a:t> does the actual </a:t>
            </a:r>
            <a:r>
              <a:rPr lang="en-US" i="1" dirty="0"/>
              <a:t>push </a:t>
            </a:r>
            <a:r>
              <a:rPr lang="en-US" dirty="0"/>
              <a:t>(you’ll see some output information which may not make sense)</a:t>
            </a:r>
          </a:p>
          <a:p>
            <a:r>
              <a:rPr lang="en-US" dirty="0"/>
              <a:t>It is possible to separately set the upstream branch and then use simply </a:t>
            </a:r>
            <a:r>
              <a:rPr lang="en-US" dirty="0">
                <a:solidFill>
                  <a:srgbClr val="FF0000"/>
                </a:solidFill>
                <a:latin typeface="Consolas" panose="020B0609020204030204" pitchFamily="49" charset="0"/>
              </a:rPr>
              <a:t>git push</a:t>
            </a:r>
            <a:r>
              <a:rPr lang="en-US" dirty="0"/>
              <a:t> but this way is more common and convenient</a:t>
            </a:r>
          </a:p>
          <a:p>
            <a:r>
              <a:rPr lang="en-US" dirty="0"/>
              <a:t>From now on you don’t need to separately tell where to </a:t>
            </a:r>
            <a:r>
              <a:rPr lang="en-US" i="1" dirty="0"/>
              <a:t>push</a:t>
            </a:r>
            <a:r>
              <a:rPr lang="en-US" dirty="0"/>
              <a:t> your local </a:t>
            </a:r>
            <a:r>
              <a:rPr lang="en-US" i="1" dirty="0"/>
              <a:t>master branch</a:t>
            </a:r>
            <a:r>
              <a:rPr lang="en-US" dirty="0"/>
              <a:t>; it will automatically go to </a:t>
            </a:r>
            <a:r>
              <a:rPr lang="en-US" i="1" dirty="0"/>
              <a:t>origin/master</a:t>
            </a:r>
          </a:p>
          <a:p>
            <a:r>
              <a:rPr lang="en-US" dirty="0"/>
              <a:t>Type </a:t>
            </a:r>
            <a:r>
              <a:rPr lang="en-US" dirty="0">
                <a:solidFill>
                  <a:srgbClr val="FF0000"/>
                </a:solidFill>
                <a:latin typeface="Consolas" panose="020B0609020204030204" pitchFamily="49" charset="0"/>
              </a:rPr>
              <a:t>git remote show origin</a:t>
            </a:r>
            <a:r>
              <a:rPr lang="en-US" dirty="0"/>
              <a:t> to now see more information about how the </a:t>
            </a:r>
            <a:r>
              <a:rPr lang="en-US" i="1" dirty="0"/>
              <a:t>local branches</a:t>
            </a:r>
            <a:r>
              <a:rPr lang="en-US" dirty="0"/>
              <a:t> match to the </a:t>
            </a:r>
            <a:r>
              <a:rPr lang="en-US" i="1" dirty="0"/>
              <a:t>remote branches</a:t>
            </a:r>
          </a:p>
        </p:txBody>
      </p:sp>
    </p:spTree>
    <p:extLst>
      <p:ext uri="{BB962C8B-B14F-4D97-AF65-F5344CB8AC3E}">
        <p14:creationId xmlns:p14="http://schemas.microsoft.com/office/powerpoint/2010/main" val="23386606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7A2F1-47DC-4A92-91F9-176BF336717F}"/>
              </a:ext>
            </a:extLst>
          </p:cNvPr>
          <p:cNvSpPr>
            <a:spLocks noGrp="1"/>
          </p:cNvSpPr>
          <p:nvPr>
            <p:ph type="title"/>
          </p:nvPr>
        </p:nvSpPr>
        <p:spPr/>
        <p:txBody>
          <a:bodyPr/>
          <a:lstStyle/>
          <a:p>
            <a:r>
              <a:rPr lang="en-US" dirty="0"/>
              <a:t>Revisiting GitHub.com</a:t>
            </a:r>
          </a:p>
        </p:txBody>
      </p:sp>
      <p:sp>
        <p:nvSpPr>
          <p:cNvPr id="3" name="Content Placeholder 2">
            <a:extLst>
              <a:ext uri="{FF2B5EF4-FFF2-40B4-BE49-F238E27FC236}">
                <a16:creationId xmlns:a16="http://schemas.microsoft.com/office/drawing/2014/main" id="{F98A2691-ABA4-45A3-ABB5-9DEDE4DB0FBD}"/>
              </a:ext>
            </a:extLst>
          </p:cNvPr>
          <p:cNvSpPr>
            <a:spLocks noGrp="1"/>
          </p:cNvSpPr>
          <p:nvPr>
            <p:ph idx="1"/>
          </p:nvPr>
        </p:nvSpPr>
        <p:spPr/>
        <p:txBody>
          <a:bodyPr/>
          <a:lstStyle/>
          <a:p>
            <a:r>
              <a:rPr lang="en-US" dirty="0"/>
              <a:t>If you now look at your project page in GitHub.com, you’ll see something like:</a:t>
            </a:r>
          </a:p>
        </p:txBody>
      </p:sp>
      <p:pic>
        <p:nvPicPr>
          <p:cNvPr id="4" name="Picture 3">
            <a:extLst>
              <a:ext uri="{FF2B5EF4-FFF2-40B4-BE49-F238E27FC236}">
                <a16:creationId xmlns:a16="http://schemas.microsoft.com/office/drawing/2014/main" id="{233D1D8E-E5F7-448A-AB2A-4A96880D6E26}"/>
              </a:ext>
            </a:extLst>
          </p:cNvPr>
          <p:cNvPicPr>
            <a:picLocks noChangeAspect="1"/>
          </p:cNvPicPr>
          <p:nvPr/>
        </p:nvPicPr>
        <p:blipFill>
          <a:blip r:embed="rId2"/>
          <a:stretch>
            <a:fillRect/>
          </a:stretch>
        </p:blipFill>
        <p:spPr>
          <a:xfrm>
            <a:off x="2743200" y="2972517"/>
            <a:ext cx="6469552" cy="3339383"/>
          </a:xfrm>
          <a:prstGeom prst="rect">
            <a:avLst/>
          </a:prstGeom>
        </p:spPr>
      </p:pic>
      <p:sp>
        <p:nvSpPr>
          <p:cNvPr id="5" name="Oval 4">
            <a:extLst>
              <a:ext uri="{FF2B5EF4-FFF2-40B4-BE49-F238E27FC236}">
                <a16:creationId xmlns:a16="http://schemas.microsoft.com/office/drawing/2014/main" id="{E8E205C3-4BFD-419E-ACDE-27A91BCAF562}"/>
              </a:ext>
            </a:extLst>
          </p:cNvPr>
          <p:cNvSpPr/>
          <p:nvPr/>
        </p:nvSpPr>
        <p:spPr>
          <a:xfrm>
            <a:off x="4908885" y="4138863"/>
            <a:ext cx="577515" cy="25438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8E3E8F2-45F2-43D0-AD95-F0E4D59E5EFE}"/>
              </a:ext>
            </a:extLst>
          </p:cNvPr>
          <p:cNvSpPr/>
          <p:nvPr/>
        </p:nvSpPr>
        <p:spPr>
          <a:xfrm>
            <a:off x="3378870" y="4138863"/>
            <a:ext cx="577515" cy="25438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eft Brace 6">
            <a:extLst>
              <a:ext uri="{FF2B5EF4-FFF2-40B4-BE49-F238E27FC236}">
                <a16:creationId xmlns:a16="http://schemas.microsoft.com/office/drawing/2014/main" id="{1C8C3163-12FC-44F9-B1A4-06F910EFEA73}"/>
              </a:ext>
            </a:extLst>
          </p:cNvPr>
          <p:cNvSpPr/>
          <p:nvPr/>
        </p:nvSpPr>
        <p:spPr>
          <a:xfrm>
            <a:off x="2743200" y="5060138"/>
            <a:ext cx="45719" cy="220006"/>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E11B038F-220C-47E9-AD26-8D9FDDF424DD}"/>
              </a:ext>
            </a:extLst>
          </p:cNvPr>
          <p:cNvSpPr txBox="1"/>
          <p:nvPr/>
        </p:nvSpPr>
        <p:spPr>
          <a:xfrm>
            <a:off x="5097667" y="3735155"/>
            <a:ext cx="2657545" cy="369332"/>
          </a:xfrm>
          <a:prstGeom prst="rect">
            <a:avLst/>
          </a:prstGeom>
          <a:noFill/>
        </p:spPr>
        <p:txBody>
          <a:bodyPr wrap="square" rtlCol="0">
            <a:spAutoFit/>
          </a:bodyPr>
          <a:lstStyle/>
          <a:p>
            <a:r>
              <a:rPr lang="en-US" dirty="0">
                <a:solidFill>
                  <a:srgbClr val="FF0000"/>
                </a:solidFill>
              </a:rPr>
              <a:t>The only branch is </a:t>
            </a:r>
            <a:r>
              <a:rPr lang="en-US" i="1" dirty="0">
                <a:solidFill>
                  <a:srgbClr val="FF0000"/>
                </a:solidFill>
              </a:rPr>
              <a:t>master</a:t>
            </a:r>
          </a:p>
        </p:txBody>
      </p:sp>
      <p:sp>
        <p:nvSpPr>
          <p:cNvPr id="9" name="TextBox 8">
            <a:extLst>
              <a:ext uri="{FF2B5EF4-FFF2-40B4-BE49-F238E27FC236}">
                <a16:creationId xmlns:a16="http://schemas.microsoft.com/office/drawing/2014/main" id="{80DE5750-C111-4D41-9DF8-15767266471E}"/>
              </a:ext>
            </a:extLst>
          </p:cNvPr>
          <p:cNvSpPr txBox="1"/>
          <p:nvPr/>
        </p:nvSpPr>
        <p:spPr>
          <a:xfrm>
            <a:off x="983152" y="4001294"/>
            <a:ext cx="2354467" cy="646331"/>
          </a:xfrm>
          <a:prstGeom prst="rect">
            <a:avLst/>
          </a:prstGeom>
          <a:noFill/>
        </p:spPr>
        <p:txBody>
          <a:bodyPr wrap="square" rtlCol="0">
            <a:spAutoFit/>
          </a:bodyPr>
          <a:lstStyle/>
          <a:p>
            <a:r>
              <a:rPr lang="en-US" dirty="0">
                <a:solidFill>
                  <a:srgbClr val="FF0000"/>
                </a:solidFill>
              </a:rPr>
              <a:t>Only one commit has been made so far</a:t>
            </a:r>
          </a:p>
        </p:txBody>
      </p:sp>
      <p:sp>
        <p:nvSpPr>
          <p:cNvPr id="10" name="TextBox 9">
            <a:extLst>
              <a:ext uri="{FF2B5EF4-FFF2-40B4-BE49-F238E27FC236}">
                <a16:creationId xmlns:a16="http://schemas.microsoft.com/office/drawing/2014/main" id="{C5367A76-D65E-4C22-A04C-AA5E134410B6}"/>
              </a:ext>
            </a:extLst>
          </p:cNvPr>
          <p:cNvSpPr txBox="1"/>
          <p:nvPr/>
        </p:nvSpPr>
        <p:spPr>
          <a:xfrm>
            <a:off x="461783" y="4985475"/>
            <a:ext cx="2213811" cy="369332"/>
          </a:xfrm>
          <a:prstGeom prst="rect">
            <a:avLst/>
          </a:prstGeom>
          <a:noFill/>
        </p:spPr>
        <p:txBody>
          <a:bodyPr wrap="square" rtlCol="0">
            <a:spAutoFit/>
          </a:bodyPr>
          <a:lstStyle/>
          <a:p>
            <a:r>
              <a:rPr lang="en-US" dirty="0">
                <a:solidFill>
                  <a:srgbClr val="FF0000"/>
                </a:solidFill>
              </a:rPr>
              <a:t>Directory view of files</a:t>
            </a:r>
          </a:p>
        </p:txBody>
      </p:sp>
      <p:sp>
        <p:nvSpPr>
          <p:cNvPr id="11" name="Left Brace 10">
            <a:extLst>
              <a:ext uri="{FF2B5EF4-FFF2-40B4-BE49-F238E27FC236}">
                <a16:creationId xmlns:a16="http://schemas.microsoft.com/office/drawing/2014/main" id="{9E223510-BFB5-4DD8-BE85-4AE060E0566E}"/>
              </a:ext>
            </a:extLst>
          </p:cNvPr>
          <p:cNvSpPr/>
          <p:nvPr/>
        </p:nvSpPr>
        <p:spPr>
          <a:xfrm>
            <a:off x="2709970" y="5508546"/>
            <a:ext cx="78949" cy="646331"/>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260880C3-E807-41F0-931E-8CFA3EB61696}"/>
              </a:ext>
            </a:extLst>
          </p:cNvPr>
          <p:cNvSpPr txBox="1"/>
          <p:nvPr/>
        </p:nvSpPr>
        <p:spPr>
          <a:xfrm>
            <a:off x="1223211" y="5530632"/>
            <a:ext cx="1452956" cy="646331"/>
          </a:xfrm>
          <a:prstGeom prst="rect">
            <a:avLst/>
          </a:prstGeom>
          <a:noFill/>
        </p:spPr>
        <p:txBody>
          <a:bodyPr wrap="square" rtlCol="0">
            <a:spAutoFit/>
          </a:bodyPr>
          <a:lstStyle/>
          <a:p>
            <a:r>
              <a:rPr lang="en-US" dirty="0">
                <a:solidFill>
                  <a:srgbClr val="FF0000"/>
                </a:solidFill>
              </a:rPr>
              <a:t>Rendering of README.me</a:t>
            </a:r>
          </a:p>
        </p:txBody>
      </p:sp>
    </p:spTree>
    <p:extLst>
      <p:ext uri="{BB962C8B-B14F-4D97-AF65-F5344CB8AC3E}">
        <p14:creationId xmlns:p14="http://schemas.microsoft.com/office/powerpoint/2010/main" val="3223222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AAE5-A21A-497E-B81E-038FB32DAFA4}"/>
              </a:ext>
            </a:extLst>
          </p:cNvPr>
          <p:cNvSpPr>
            <a:spLocks noGrp="1"/>
          </p:cNvSpPr>
          <p:nvPr>
            <p:ph type="title"/>
          </p:nvPr>
        </p:nvSpPr>
        <p:spPr/>
        <p:txBody>
          <a:bodyPr/>
          <a:lstStyle/>
          <a:p>
            <a:r>
              <a:rPr lang="en-US" dirty="0"/>
              <a:t>Making changes</a:t>
            </a:r>
          </a:p>
        </p:txBody>
      </p:sp>
      <p:sp>
        <p:nvSpPr>
          <p:cNvPr id="3" name="Content Placeholder 2">
            <a:extLst>
              <a:ext uri="{FF2B5EF4-FFF2-40B4-BE49-F238E27FC236}">
                <a16:creationId xmlns:a16="http://schemas.microsoft.com/office/drawing/2014/main" id="{3DA6460B-0CB1-4E32-916E-87C7301B7BAD}"/>
              </a:ext>
            </a:extLst>
          </p:cNvPr>
          <p:cNvSpPr>
            <a:spLocks noGrp="1"/>
          </p:cNvSpPr>
          <p:nvPr>
            <p:ph idx="1"/>
          </p:nvPr>
        </p:nvSpPr>
        <p:spPr>
          <a:xfrm>
            <a:off x="831324" y="1825624"/>
            <a:ext cx="10457735" cy="4939561"/>
          </a:xfrm>
        </p:spPr>
        <p:txBody>
          <a:bodyPr>
            <a:normAutofit lnSpcReduction="10000"/>
          </a:bodyPr>
          <a:lstStyle/>
          <a:p>
            <a:r>
              <a:rPr lang="en-US" dirty="0"/>
              <a:t>Now let’s add some other content to our repository</a:t>
            </a:r>
          </a:p>
          <a:p>
            <a:r>
              <a:rPr lang="en-US" dirty="0"/>
              <a:t>Create a file </a:t>
            </a:r>
            <a:r>
              <a:rPr lang="en-US" dirty="0">
                <a:latin typeface="Consolas" panose="020B0609020204030204" pitchFamily="49" charset="0"/>
              </a:rPr>
              <a:t>HelloWorld.java</a:t>
            </a:r>
            <a:r>
              <a:rPr lang="en-US" dirty="0"/>
              <a:t> in the </a:t>
            </a:r>
            <a:r>
              <a:rPr lang="en-US" dirty="0" err="1">
                <a:latin typeface="Consolas" panose="020B0609020204030204" pitchFamily="49" charset="0"/>
              </a:rPr>
              <a:t>testrepo</a:t>
            </a:r>
            <a:r>
              <a:rPr lang="en-US" dirty="0"/>
              <a:t> directory with content:</a:t>
            </a:r>
          </a:p>
          <a:p>
            <a:endParaRPr lang="en-US" dirty="0"/>
          </a:p>
          <a:p>
            <a:endParaRPr lang="en-US" dirty="0"/>
          </a:p>
          <a:p>
            <a:endParaRPr lang="en-US" dirty="0"/>
          </a:p>
          <a:p>
            <a:endParaRPr lang="en-US" dirty="0"/>
          </a:p>
          <a:p>
            <a:endParaRPr lang="en-US" dirty="0"/>
          </a:p>
          <a:p>
            <a:r>
              <a:rPr lang="en-US" dirty="0">
                <a:solidFill>
                  <a:srgbClr val="FF0000"/>
                </a:solidFill>
                <a:latin typeface="Consolas" panose="020B0609020204030204" pitchFamily="49" charset="0"/>
              </a:rPr>
              <a:t>git status</a:t>
            </a:r>
            <a:r>
              <a:rPr lang="en-US" dirty="0"/>
              <a:t> shows that there is a new </a:t>
            </a:r>
            <a:r>
              <a:rPr lang="en-US" i="1" dirty="0"/>
              <a:t>untracked file</a:t>
            </a:r>
          </a:p>
          <a:p>
            <a:r>
              <a:rPr lang="en-US" dirty="0"/>
              <a:t>Type </a:t>
            </a:r>
            <a:r>
              <a:rPr lang="en-US" dirty="0">
                <a:solidFill>
                  <a:srgbClr val="FF0000"/>
                </a:solidFill>
                <a:latin typeface="Consolas" panose="020B0609020204030204" pitchFamily="49" charset="0"/>
              </a:rPr>
              <a:t>git add HelloWorld.java</a:t>
            </a:r>
            <a:r>
              <a:rPr lang="en-US" dirty="0"/>
              <a:t> to tell Git to </a:t>
            </a:r>
            <a:r>
              <a:rPr lang="en-US" i="1" dirty="0"/>
              <a:t>track</a:t>
            </a:r>
            <a:r>
              <a:rPr lang="en-US" dirty="0"/>
              <a:t> </a:t>
            </a:r>
            <a:r>
              <a:rPr lang="en-US" dirty="0">
                <a:latin typeface="Consolas" panose="020B0609020204030204" pitchFamily="49" charset="0"/>
              </a:rPr>
              <a:t>HelloWorld.java</a:t>
            </a:r>
          </a:p>
        </p:txBody>
      </p:sp>
      <p:sp>
        <p:nvSpPr>
          <p:cNvPr id="4" name="TextBox 3">
            <a:extLst>
              <a:ext uri="{FF2B5EF4-FFF2-40B4-BE49-F238E27FC236}">
                <a16:creationId xmlns:a16="http://schemas.microsoft.com/office/drawing/2014/main" id="{3DEE29FD-08D0-4F1F-92C2-19C21ED25922}"/>
              </a:ext>
            </a:extLst>
          </p:cNvPr>
          <p:cNvSpPr txBox="1"/>
          <p:nvPr/>
        </p:nvSpPr>
        <p:spPr>
          <a:xfrm>
            <a:off x="3217589" y="3114460"/>
            <a:ext cx="4489498" cy="1754326"/>
          </a:xfrm>
          <a:prstGeom prst="rect">
            <a:avLst/>
          </a:prstGeom>
          <a:noFill/>
          <a:ln>
            <a:solidFill>
              <a:schemeClr val="tx1"/>
            </a:solidFill>
          </a:ln>
        </p:spPr>
        <p:txBody>
          <a:bodyPr wrap="square" rtlCol="0">
            <a:spAutoFit/>
          </a:bodyPr>
          <a:lstStyle/>
          <a:p>
            <a:pPr lvl="1"/>
            <a:r>
              <a:rPr lang="en-US" dirty="0"/>
              <a:t>public class HelloWorld </a:t>
            </a:r>
          </a:p>
          <a:p>
            <a:pPr lvl="1"/>
            <a:r>
              <a:rPr lang="en-US" dirty="0"/>
              <a:t>{</a:t>
            </a:r>
          </a:p>
          <a:p>
            <a:pPr lvl="1"/>
            <a:r>
              <a:rPr lang="en-US" dirty="0"/>
              <a:t>    public static void main(String[] </a:t>
            </a:r>
            <a:r>
              <a:rPr lang="en-US" dirty="0" err="1"/>
              <a:t>args</a:t>
            </a:r>
            <a:r>
              <a:rPr lang="en-US" dirty="0"/>
              <a:t>) {</a:t>
            </a:r>
          </a:p>
          <a:p>
            <a:pPr lvl="1"/>
            <a:r>
              <a:rPr lang="en-US" dirty="0"/>
              <a:t>        </a:t>
            </a:r>
            <a:r>
              <a:rPr lang="en-US" dirty="0" err="1"/>
              <a:t>System.out.println</a:t>
            </a:r>
            <a:r>
              <a:rPr lang="en-US" dirty="0"/>
              <a:t>("Hello world");</a:t>
            </a:r>
          </a:p>
          <a:p>
            <a:pPr lvl="1"/>
            <a:r>
              <a:rPr lang="en-US" dirty="0"/>
              <a:t>    }</a:t>
            </a:r>
          </a:p>
          <a:p>
            <a:pPr lvl="1"/>
            <a:r>
              <a:rPr lang="en-US" dirty="0"/>
              <a:t>}</a:t>
            </a:r>
          </a:p>
        </p:txBody>
      </p:sp>
      <p:sp>
        <p:nvSpPr>
          <p:cNvPr id="5" name="TextBox 4">
            <a:extLst>
              <a:ext uri="{FF2B5EF4-FFF2-40B4-BE49-F238E27FC236}">
                <a16:creationId xmlns:a16="http://schemas.microsoft.com/office/drawing/2014/main" id="{1392CE0B-0438-436E-8548-437186BD41AF}"/>
              </a:ext>
            </a:extLst>
          </p:cNvPr>
          <p:cNvSpPr txBox="1"/>
          <p:nvPr/>
        </p:nvSpPr>
        <p:spPr>
          <a:xfrm>
            <a:off x="3129642" y="4834445"/>
            <a:ext cx="3498039" cy="338554"/>
          </a:xfrm>
          <a:prstGeom prst="rect">
            <a:avLst/>
          </a:prstGeom>
          <a:noFill/>
        </p:spPr>
        <p:txBody>
          <a:bodyPr wrap="square" rtlCol="0">
            <a:spAutoFit/>
          </a:bodyPr>
          <a:lstStyle/>
          <a:p>
            <a:r>
              <a:rPr lang="en-US" sz="1600" dirty="0"/>
              <a:t>File: </a:t>
            </a:r>
            <a:r>
              <a:rPr lang="en-US" sz="1600" dirty="0" err="1">
                <a:latin typeface="Consolas" panose="020B0609020204030204" pitchFamily="49" charset="0"/>
              </a:rPr>
              <a:t>testrepo</a:t>
            </a:r>
            <a:r>
              <a:rPr lang="en-US" sz="1600" dirty="0">
                <a:latin typeface="Consolas" panose="020B0609020204030204" pitchFamily="49" charset="0"/>
              </a:rPr>
              <a:t>/HelloWorld.java</a:t>
            </a:r>
          </a:p>
        </p:txBody>
      </p:sp>
    </p:spTree>
    <p:extLst>
      <p:ext uri="{BB962C8B-B14F-4D97-AF65-F5344CB8AC3E}">
        <p14:creationId xmlns:p14="http://schemas.microsoft.com/office/powerpoint/2010/main" val="2607738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AAE5-A21A-497E-B81E-038FB32DAFA4}"/>
              </a:ext>
            </a:extLst>
          </p:cNvPr>
          <p:cNvSpPr>
            <a:spLocks noGrp="1"/>
          </p:cNvSpPr>
          <p:nvPr>
            <p:ph type="title"/>
          </p:nvPr>
        </p:nvSpPr>
        <p:spPr/>
        <p:txBody>
          <a:bodyPr/>
          <a:lstStyle/>
          <a:p>
            <a:r>
              <a:rPr lang="en-US" dirty="0"/>
              <a:t>Making changes</a:t>
            </a:r>
          </a:p>
        </p:txBody>
      </p:sp>
      <p:sp>
        <p:nvSpPr>
          <p:cNvPr id="3" name="Content Placeholder 2">
            <a:extLst>
              <a:ext uri="{FF2B5EF4-FFF2-40B4-BE49-F238E27FC236}">
                <a16:creationId xmlns:a16="http://schemas.microsoft.com/office/drawing/2014/main" id="{3DA6460B-0CB1-4E32-916E-87C7301B7BAD}"/>
              </a:ext>
            </a:extLst>
          </p:cNvPr>
          <p:cNvSpPr>
            <a:spLocks noGrp="1"/>
          </p:cNvSpPr>
          <p:nvPr>
            <p:ph idx="1"/>
          </p:nvPr>
        </p:nvSpPr>
        <p:spPr>
          <a:xfrm>
            <a:off x="831325" y="1825624"/>
            <a:ext cx="10515600" cy="4939561"/>
          </a:xfrm>
        </p:spPr>
        <p:txBody>
          <a:bodyPr>
            <a:normAutofit/>
          </a:bodyPr>
          <a:lstStyle/>
          <a:p>
            <a:r>
              <a:rPr lang="en-US" dirty="0"/>
              <a:t>Now add the changes to the current </a:t>
            </a:r>
            <a:r>
              <a:rPr lang="en-US" i="1" dirty="0"/>
              <a:t>branch </a:t>
            </a:r>
            <a:r>
              <a:rPr lang="en-US" dirty="0"/>
              <a:t>(</a:t>
            </a:r>
            <a:r>
              <a:rPr lang="en-US" i="1" dirty="0"/>
              <a:t>master</a:t>
            </a:r>
            <a:r>
              <a:rPr lang="en-US" dirty="0"/>
              <a:t>) by typing </a:t>
            </a:r>
            <a:br>
              <a:rPr lang="en-US" dirty="0"/>
            </a:br>
            <a:r>
              <a:rPr lang="en-US" dirty="0">
                <a:solidFill>
                  <a:srgbClr val="FF0000"/>
                </a:solidFill>
                <a:latin typeface="Consolas" panose="020B0609020204030204" pitchFamily="49" charset="0"/>
              </a:rPr>
              <a:t>git commit</a:t>
            </a:r>
          </a:p>
          <a:p>
            <a:r>
              <a:rPr lang="en-US" dirty="0"/>
              <a:t>Again you’ll have to give a message before the </a:t>
            </a:r>
            <a:r>
              <a:rPr lang="en-US" i="1" dirty="0"/>
              <a:t>commit </a:t>
            </a:r>
            <a:r>
              <a:rPr lang="en-US" dirty="0"/>
              <a:t>can be accepted</a:t>
            </a:r>
          </a:p>
          <a:p>
            <a:r>
              <a:rPr lang="en-US" dirty="0">
                <a:solidFill>
                  <a:srgbClr val="FF0000"/>
                </a:solidFill>
                <a:latin typeface="Consolas" panose="020B0609020204030204" pitchFamily="49" charset="0"/>
              </a:rPr>
              <a:t>git log</a:t>
            </a:r>
            <a:r>
              <a:rPr lang="en-US" dirty="0"/>
              <a:t> will now show two </a:t>
            </a:r>
            <a:r>
              <a:rPr lang="en-US" i="1" dirty="0"/>
              <a:t>commits</a:t>
            </a:r>
            <a:r>
              <a:rPr lang="en-US" dirty="0"/>
              <a:t> in the history of the </a:t>
            </a:r>
            <a:r>
              <a:rPr lang="en-US" i="1" dirty="0"/>
              <a:t>branch </a:t>
            </a:r>
            <a:r>
              <a:rPr lang="en-US" dirty="0"/>
              <a:t>along with the commit messages</a:t>
            </a:r>
          </a:p>
          <a:p>
            <a:r>
              <a:rPr lang="en-US" dirty="0">
                <a:solidFill>
                  <a:srgbClr val="FF0000"/>
                </a:solidFill>
                <a:latin typeface="Consolas" panose="020B0609020204030204" pitchFamily="49" charset="0"/>
              </a:rPr>
              <a:t>git status</a:t>
            </a:r>
            <a:r>
              <a:rPr lang="en-US" dirty="0"/>
              <a:t> shows that your </a:t>
            </a:r>
            <a:r>
              <a:rPr lang="en-US" i="1" dirty="0"/>
              <a:t>local branch (master) </a:t>
            </a:r>
            <a:r>
              <a:rPr lang="en-US" dirty="0"/>
              <a:t>is ahead of the </a:t>
            </a:r>
            <a:r>
              <a:rPr lang="en-US" i="1" dirty="0"/>
              <a:t>remote branch (origin/master</a:t>
            </a:r>
            <a:r>
              <a:rPr lang="en-US" i="1" dirty="0">
                <a:solidFill>
                  <a:srgbClr val="00B050"/>
                </a:solidFill>
              </a:rPr>
              <a:t>/trunk</a:t>
            </a:r>
            <a:r>
              <a:rPr lang="en-US" i="1" dirty="0"/>
              <a:t>)</a:t>
            </a:r>
            <a:r>
              <a:rPr lang="en-US" dirty="0"/>
              <a:t> by one commit</a:t>
            </a:r>
          </a:p>
          <a:p>
            <a:r>
              <a:rPr lang="en-US" dirty="0"/>
              <a:t>Push the changes by typing </a:t>
            </a:r>
            <a:r>
              <a:rPr lang="en-US" dirty="0">
                <a:solidFill>
                  <a:srgbClr val="FF0000"/>
                </a:solidFill>
                <a:latin typeface="Consolas" panose="020B0609020204030204" pitchFamily="49" charset="0"/>
              </a:rPr>
              <a:t>git push</a:t>
            </a:r>
          </a:p>
          <a:p>
            <a:r>
              <a:rPr lang="en-US" dirty="0"/>
              <a:t>Check that the changes appeared on the GitHub page</a:t>
            </a:r>
          </a:p>
        </p:txBody>
      </p:sp>
    </p:spTree>
    <p:extLst>
      <p:ext uri="{BB962C8B-B14F-4D97-AF65-F5344CB8AC3E}">
        <p14:creationId xmlns:p14="http://schemas.microsoft.com/office/powerpoint/2010/main" val="19254784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AAE5-A21A-497E-B81E-038FB32DAFA4}"/>
              </a:ext>
            </a:extLst>
          </p:cNvPr>
          <p:cNvSpPr>
            <a:spLocks noGrp="1"/>
          </p:cNvSpPr>
          <p:nvPr>
            <p:ph type="title"/>
          </p:nvPr>
        </p:nvSpPr>
        <p:spPr/>
        <p:txBody>
          <a:bodyPr/>
          <a:lstStyle/>
          <a:p>
            <a:r>
              <a:rPr lang="en-US" dirty="0"/>
              <a:t>Still more changes</a:t>
            </a:r>
          </a:p>
        </p:txBody>
      </p:sp>
      <p:sp>
        <p:nvSpPr>
          <p:cNvPr id="3" name="Content Placeholder 2">
            <a:extLst>
              <a:ext uri="{FF2B5EF4-FFF2-40B4-BE49-F238E27FC236}">
                <a16:creationId xmlns:a16="http://schemas.microsoft.com/office/drawing/2014/main" id="{3DA6460B-0CB1-4E32-916E-87C7301B7BAD}"/>
              </a:ext>
            </a:extLst>
          </p:cNvPr>
          <p:cNvSpPr>
            <a:spLocks noGrp="1"/>
          </p:cNvSpPr>
          <p:nvPr>
            <p:ph idx="1"/>
          </p:nvPr>
        </p:nvSpPr>
        <p:spPr>
          <a:xfrm>
            <a:off x="831325" y="1825624"/>
            <a:ext cx="11062750" cy="4973937"/>
          </a:xfrm>
        </p:spPr>
        <p:txBody>
          <a:bodyPr>
            <a:normAutofit/>
          </a:bodyPr>
          <a:lstStyle/>
          <a:p>
            <a:r>
              <a:rPr lang="en-US" dirty="0"/>
              <a:t>Now suppose you want to change the code a bit</a:t>
            </a:r>
          </a:p>
          <a:p>
            <a:r>
              <a:rPr lang="en-US" dirty="0"/>
              <a:t>Open your local copy of </a:t>
            </a:r>
            <a:r>
              <a:rPr lang="en-US" dirty="0">
                <a:latin typeface="Consolas" panose="020B0609020204030204" pitchFamily="49" charset="0"/>
              </a:rPr>
              <a:t>HelloWorld.java</a:t>
            </a:r>
            <a:r>
              <a:rPr lang="en-US" dirty="0"/>
              <a:t> and change the message that is printed:</a:t>
            </a:r>
          </a:p>
          <a:p>
            <a:endParaRPr lang="en-US" dirty="0"/>
          </a:p>
          <a:p>
            <a:endParaRPr lang="en-US" dirty="0"/>
          </a:p>
          <a:p>
            <a:endParaRPr lang="en-US" dirty="0"/>
          </a:p>
          <a:p>
            <a:pPr marL="0" indent="0">
              <a:buNone/>
            </a:pPr>
            <a:endParaRPr lang="en-US" dirty="0"/>
          </a:p>
          <a:p>
            <a:r>
              <a:rPr lang="en-US" dirty="0">
                <a:solidFill>
                  <a:srgbClr val="FF0000"/>
                </a:solidFill>
                <a:latin typeface="Consolas" panose="020B0609020204030204" pitchFamily="49" charset="0"/>
              </a:rPr>
              <a:t>git status</a:t>
            </a:r>
            <a:r>
              <a:rPr lang="en-US" dirty="0"/>
              <a:t> will now show that </a:t>
            </a:r>
            <a:r>
              <a:rPr lang="en-US" dirty="0">
                <a:latin typeface="Consolas" panose="020B0609020204030204" pitchFamily="49" charset="0"/>
              </a:rPr>
              <a:t>HelloWorld.java</a:t>
            </a:r>
            <a:r>
              <a:rPr lang="en-US" dirty="0"/>
              <a:t> has been modified</a:t>
            </a:r>
          </a:p>
          <a:p>
            <a:r>
              <a:rPr lang="en-US" dirty="0"/>
              <a:t>Type </a:t>
            </a:r>
            <a:r>
              <a:rPr lang="en-US" dirty="0">
                <a:solidFill>
                  <a:srgbClr val="FF0000"/>
                </a:solidFill>
                <a:latin typeface="Consolas" panose="020B0609020204030204" pitchFamily="49" charset="0"/>
              </a:rPr>
              <a:t>git diff</a:t>
            </a:r>
            <a:r>
              <a:rPr lang="en-US" dirty="0"/>
              <a:t> to see the details of the changes</a:t>
            </a:r>
          </a:p>
        </p:txBody>
      </p:sp>
      <p:sp>
        <p:nvSpPr>
          <p:cNvPr id="4" name="TextBox 3">
            <a:extLst>
              <a:ext uri="{FF2B5EF4-FFF2-40B4-BE49-F238E27FC236}">
                <a16:creationId xmlns:a16="http://schemas.microsoft.com/office/drawing/2014/main" id="{74CFA979-B8C6-407D-BA36-4A20904FD625}"/>
              </a:ext>
            </a:extLst>
          </p:cNvPr>
          <p:cNvSpPr txBox="1"/>
          <p:nvPr/>
        </p:nvSpPr>
        <p:spPr>
          <a:xfrm>
            <a:off x="3795105" y="3119621"/>
            <a:ext cx="4489498" cy="1754326"/>
          </a:xfrm>
          <a:prstGeom prst="rect">
            <a:avLst/>
          </a:prstGeom>
          <a:noFill/>
          <a:ln>
            <a:solidFill>
              <a:schemeClr val="tx1"/>
            </a:solidFill>
          </a:ln>
        </p:spPr>
        <p:txBody>
          <a:bodyPr wrap="square" rtlCol="0">
            <a:spAutoFit/>
          </a:bodyPr>
          <a:lstStyle/>
          <a:p>
            <a:pPr lvl="1"/>
            <a:r>
              <a:rPr lang="en-US" dirty="0"/>
              <a:t>public class HelloWorld </a:t>
            </a:r>
          </a:p>
          <a:p>
            <a:pPr lvl="1"/>
            <a:r>
              <a:rPr lang="en-US" dirty="0"/>
              <a:t>{</a:t>
            </a:r>
          </a:p>
          <a:p>
            <a:pPr lvl="1"/>
            <a:r>
              <a:rPr lang="en-US" dirty="0"/>
              <a:t>    public static void main(String[] </a:t>
            </a:r>
            <a:r>
              <a:rPr lang="en-US" dirty="0" err="1"/>
              <a:t>args</a:t>
            </a:r>
            <a:r>
              <a:rPr lang="en-US" dirty="0"/>
              <a:t>) {</a:t>
            </a:r>
          </a:p>
          <a:p>
            <a:pPr lvl="1"/>
            <a:r>
              <a:rPr lang="en-US" dirty="0"/>
              <a:t>        </a:t>
            </a:r>
            <a:r>
              <a:rPr lang="en-US" dirty="0" err="1"/>
              <a:t>System.out.println</a:t>
            </a:r>
            <a:r>
              <a:rPr lang="en-US" dirty="0"/>
              <a:t>("Hello USA");</a:t>
            </a:r>
          </a:p>
          <a:p>
            <a:pPr lvl="1"/>
            <a:r>
              <a:rPr lang="en-US" dirty="0"/>
              <a:t>    }</a:t>
            </a:r>
          </a:p>
          <a:p>
            <a:pPr lvl="1"/>
            <a:r>
              <a:rPr lang="en-US" dirty="0"/>
              <a:t>}</a:t>
            </a:r>
          </a:p>
        </p:txBody>
      </p:sp>
      <p:sp>
        <p:nvSpPr>
          <p:cNvPr id="5" name="TextBox 4">
            <a:extLst>
              <a:ext uri="{FF2B5EF4-FFF2-40B4-BE49-F238E27FC236}">
                <a16:creationId xmlns:a16="http://schemas.microsoft.com/office/drawing/2014/main" id="{E3A9FA34-B877-40BF-8A33-29749B2C37C1}"/>
              </a:ext>
            </a:extLst>
          </p:cNvPr>
          <p:cNvSpPr txBox="1"/>
          <p:nvPr/>
        </p:nvSpPr>
        <p:spPr>
          <a:xfrm>
            <a:off x="3707158" y="4839606"/>
            <a:ext cx="3401785" cy="338554"/>
          </a:xfrm>
          <a:prstGeom prst="rect">
            <a:avLst/>
          </a:prstGeom>
          <a:noFill/>
        </p:spPr>
        <p:txBody>
          <a:bodyPr wrap="square" rtlCol="0">
            <a:spAutoFit/>
          </a:bodyPr>
          <a:lstStyle/>
          <a:p>
            <a:r>
              <a:rPr lang="en-US" sz="1600" dirty="0"/>
              <a:t>File: </a:t>
            </a:r>
            <a:r>
              <a:rPr lang="en-US" sz="1600" dirty="0" err="1">
                <a:latin typeface="Consolas" panose="020B0609020204030204" pitchFamily="49" charset="0"/>
              </a:rPr>
              <a:t>testrepo</a:t>
            </a:r>
            <a:r>
              <a:rPr lang="en-US" sz="1600" dirty="0">
                <a:latin typeface="Consolas" panose="020B0609020204030204" pitchFamily="49" charset="0"/>
              </a:rPr>
              <a:t>/HelloWorld.java</a:t>
            </a:r>
          </a:p>
        </p:txBody>
      </p:sp>
    </p:spTree>
    <p:extLst>
      <p:ext uri="{BB962C8B-B14F-4D97-AF65-F5344CB8AC3E}">
        <p14:creationId xmlns:p14="http://schemas.microsoft.com/office/powerpoint/2010/main" val="1886097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AAE5-A21A-497E-B81E-038FB32DAFA4}"/>
              </a:ext>
            </a:extLst>
          </p:cNvPr>
          <p:cNvSpPr>
            <a:spLocks noGrp="1"/>
          </p:cNvSpPr>
          <p:nvPr>
            <p:ph type="title"/>
          </p:nvPr>
        </p:nvSpPr>
        <p:spPr/>
        <p:txBody>
          <a:bodyPr/>
          <a:lstStyle/>
          <a:p>
            <a:r>
              <a:rPr lang="en-US" dirty="0"/>
              <a:t>HEAD</a:t>
            </a:r>
          </a:p>
        </p:txBody>
      </p:sp>
      <p:sp>
        <p:nvSpPr>
          <p:cNvPr id="3" name="Content Placeholder 2">
            <a:extLst>
              <a:ext uri="{FF2B5EF4-FFF2-40B4-BE49-F238E27FC236}">
                <a16:creationId xmlns:a16="http://schemas.microsoft.com/office/drawing/2014/main" id="{3DA6460B-0CB1-4E32-916E-87C7301B7BAD}"/>
              </a:ext>
            </a:extLst>
          </p:cNvPr>
          <p:cNvSpPr>
            <a:spLocks noGrp="1"/>
          </p:cNvSpPr>
          <p:nvPr>
            <p:ph idx="1"/>
          </p:nvPr>
        </p:nvSpPr>
        <p:spPr>
          <a:xfrm>
            <a:off x="831325" y="1825624"/>
            <a:ext cx="10515600" cy="4939561"/>
          </a:xfrm>
        </p:spPr>
        <p:txBody>
          <a:bodyPr>
            <a:normAutofit/>
          </a:bodyPr>
          <a:lstStyle/>
          <a:p>
            <a:r>
              <a:rPr lang="en-US" dirty="0"/>
              <a:t>Some terminology: </a:t>
            </a:r>
            <a:r>
              <a:rPr lang="en-US" dirty="0">
                <a:solidFill>
                  <a:srgbClr val="FF0000"/>
                </a:solidFill>
                <a:latin typeface="Consolas" panose="020B0609020204030204" pitchFamily="49" charset="0"/>
              </a:rPr>
              <a:t>HEAD</a:t>
            </a:r>
            <a:r>
              <a:rPr lang="en-US" dirty="0"/>
              <a:t> refers to the last </a:t>
            </a:r>
            <a:r>
              <a:rPr lang="en-US" i="1" dirty="0"/>
              <a:t>commit</a:t>
            </a:r>
            <a:r>
              <a:rPr lang="en-US" dirty="0"/>
              <a:t> on the current </a:t>
            </a:r>
            <a:r>
              <a:rPr lang="en-US" i="1" dirty="0"/>
              <a:t>branch</a:t>
            </a:r>
          </a:p>
          <a:p>
            <a:r>
              <a:rPr lang="en-US" dirty="0"/>
              <a:t>Right now, </a:t>
            </a:r>
            <a:r>
              <a:rPr lang="en-US" dirty="0">
                <a:solidFill>
                  <a:srgbClr val="FF0000"/>
                </a:solidFill>
                <a:latin typeface="Consolas" panose="020B0609020204030204" pitchFamily="49" charset="0"/>
              </a:rPr>
              <a:t>HEAD</a:t>
            </a:r>
            <a:r>
              <a:rPr lang="en-US" dirty="0"/>
              <a:t> means the </a:t>
            </a:r>
            <a:r>
              <a:rPr lang="en-US" i="1" dirty="0"/>
              <a:t>commit</a:t>
            </a:r>
            <a:r>
              <a:rPr lang="en-US" dirty="0"/>
              <a:t> that added </a:t>
            </a:r>
            <a:r>
              <a:rPr lang="en-US" dirty="0">
                <a:latin typeface="Consolas" panose="020B0609020204030204" pitchFamily="49" charset="0"/>
              </a:rPr>
              <a:t>HelloWorld.java</a:t>
            </a:r>
            <a:r>
              <a:rPr lang="en-US" dirty="0"/>
              <a:t>, as your newest changes are not yet committed</a:t>
            </a:r>
          </a:p>
          <a:p>
            <a:r>
              <a:rPr lang="en-US" dirty="0">
                <a:solidFill>
                  <a:srgbClr val="FF0000"/>
                </a:solidFill>
                <a:latin typeface="Consolas" panose="020B0609020204030204" pitchFamily="49" charset="0"/>
              </a:rPr>
              <a:t>git status</a:t>
            </a:r>
            <a:r>
              <a:rPr lang="en-US" dirty="0"/>
              <a:t> shows which </a:t>
            </a:r>
            <a:r>
              <a:rPr lang="en-US" i="1" dirty="0"/>
              <a:t>commit</a:t>
            </a:r>
            <a:r>
              <a:rPr lang="en-US" dirty="0"/>
              <a:t> </a:t>
            </a:r>
            <a:r>
              <a:rPr lang="en-US" dirty="0">
                <a:solidFill>
                  <a:srgbClr val="FF0000"/>
                </a:solidFill>
                <a:latin typeface="Consolas" panose="020B0609020204030204" pitchFamily="49" charset="0"/>
              </a:rPr>
              <a:t>HEAD</a:t>
            </a:r>
            <a:r>
              <a:rPr lang="en-US" dirty="0"/>
              <a:t> refers to, and that </a:t>
            </a:r>
            <a:r>
              <a:rPr lang="en-US" dirty="0">
                <a:solidFill>
                  <a:srgbClr val="FF0000"/>
                </a:solidFill>
                <a:latin typeface="Consolas" panose="020B0609020204030204" pitchFamily="49" charset="0"/>
              </a:rPr>
              <a:t>origin/master</a:t>
            </a:r>
            <a:r>
              <a:rPr lang="en-US" dirty="0"/>
              <a:t> (our </a:t>
            </a:r>
            <a:r>
              <a:rPr lang="en-US" i="1" dirty="0"/>
              <a:t>remote branch</a:t>
            </a:r>
            <a:r>
              <a:rPr lang="en-US" dirty="0"/>
              <a:t> tracking local </a:t>
            </a:r>
            <a:r>
              <a:rPr lang="en-US" i="1" dirty="0"/>
              <a:t>master</a:t>
            </a:r>
            <a:r>
              <a:rPr lang="en-US" dirty="0"/>
              <a:t>) is in sync with that </a:t>
            </a:r>
            <a:r>
              <a:rPr lang="en-US" i="1" dirty="0"/>
              <a:t>commit</a:t>
            </a:r>
            <a:endParaRPr lang="en-US" i="1" dirty="0">
              <a:solidFill>
                <a:srgbClr val="FF0000"/>
              </a:solidFill>
              <a:latin typeface="Consolas" panose="020B0609020204030204" pitchFamily="49" charset="0"/>
            </a:endParaRPr>
          </a:p>
          <a:p>
            <a:endParaRPr lang="en-US" i="1" dirty="0"/>
          </a:p>
        </p:txBody>
      </p:sp>
    </p:spTree>
    <p:extLst>
      <p:ext uri="{BB962C8B-B14F-4D97-AF65-F5344CB8AC3E}">
        <p14:creationId xmlns:p14="http://schemas.microsoft.com/office/powerpoint/2010/main" val="1775259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AAE5-A21A-497E-B81E-038FB32DAFA4}"/>
              </a:ext>
            </a:extLst>
          </p:cNvPr>
          <p:cNvSpPr>
            <a:spLocks noGrp="1"/>
          </p:cNvSpPr>
          <p:nvPr>
            <p:ph type="title"/>
          </p:nvPr>
        </p:nvSpPr>
        <p:spPr/>
        <p:txBody>
          <a:bodyPr/>
          <a:lstStyle/>
          <a:p>
            <a:r>
              <a:rPr lang="en-US" dirty="0"/>
              <a:t>Working directory, index, and HEAD</a:t>
            </a:r>
          </a:p>
        </p:txBody>
      </p:sp>
      <p:sp>
        <p:nvSpPr>
          <p:cNvPr id="3" name="Content Placeholder 2">
            <a:extLst>
              <a:ext uri="{FF2B5EF4-FFF2-40B4-BE49-F238E27FC236}">
                <a16:creationId xmlns:a16="http://schemas.microsoft.com/office/drawing/2014/main" id="{3DA6460B-0CB1-4E32-916E-87C7301B7BAD}"/>
              </a:ext>
            </a:extLst>
          </p:cNvPr>
          <p:cNvSpPr>
            <a:spLocks noGrp="1"/>
          </p:cNvSpPr>
          <p:nvPr>
            <p:ph idx="1"/>
          </p:nvPr>
        </p:nvSpPr>
        <p:spPr>
          <a:xfrm>
            <a:off x="831325" y="1825624"/>
            <a:ext cx="10515600" cy="4939561"/>
          </a:xfrm>
        </p:spPr>
        <p:txBody>
          <a:bodyPr>
            <a:normAutofit/>
          </a:bodyPr>
          <a:lstStyle/>
          <a:p>
            <a:r>
              <a:rPr lang="en-US" dirty="0"/>
              <a:t>In Git terminology your changes can be in three different “stages”:</a:t>
            </a:r>
          </a:p>
          <a:p>
            <a:pPr lvl="1"/>
            <a:r>
              <a:rPr lang="en-US" dirty="0"/>
              <a:t>The </a:t>
            </a:r>
            <a:r>
              <a:rPr lang="en-US" i="1" dirty="0"/>
              <a:t>working tree (or working directory)</a:t>
            </a:r>
            <a:r>
              <a:rPr lang="en-US" dirty="0"/>
              <a:t> refers to changes that you have made but not added or committed to the repository in any way, for example you are working on some code and have made changes to some files; our </a:t>
            </a:r>
            <a:r>
              <a:rPr lang="en-US" dirty="0">
                <a:latin typeface="Consolas" panose="020B0609020204030204" pitchFamily="49" charset="0"/>
              </a:rPr>
              <a:t>hw.java</a:t>
            </a:r>
            <a:r>
              <a:rPr lang="en-US" dirty="0"/>
              <a:t> shows some changes made to our working directory</a:t>
            </a:r>
          </a:p>
          <a:p>
            <a:pPr lvl="1"/>
            <a:r>
              <a:rPr lang="en-US" dirty="0"/>
              <a:t>The </a:t>
            </a:r>
            <a:r>
              <a:rPr lang="en-US" i="1" dirty="0"/>
              <a:t>index</a:t>
            </a:r>
            <a:r>
              <a:rPr lang="en-US" dirty="0"/>
              <a:t> is like a “staging arena” of changes that are prepared to be committed to the next </a:t>
            </a:r>
            <a:r>
              <a:rPr lang="en-US" i="1" dirty="0"/>
              <a:t>commit.</a:t>
            </a:r>
            <a:r>
              <a:rPr lang="en-US" dirty="0"/>
              <a:t> Git uses a two-step process where changes are first added to the </a:t>
            </a:r>
            <a:r>
              <a:rPr lang="en-US" i="1" dirty="0"/>
              <a:t>index</a:t>
            </a:r>
            <a:r>
              <a:rPr lang="en-US" dirty="0"/>
              <a:t> to form the next commit, which is then added to the current (or some other) branch as a new commit</a:t>
            </a:r>
          </a:p>
          <a:p>
            <a:pPr lvl="1"/>
            <a:r>
              <a:rPr lang="en-US" dirty="0"/>
              <a:t>Once the </a:t>
            </a:r>
            <a:r>
              <a:rPr lang="en-US" i="1" dirty="0"/>
              <a:t>index</a:t>
            </a:r>
            <a:r>
              <a:rPr lang="en-US" dirty="0"/>
              <a:t> has been </a:t>
            </a:r>
            <a:r>
              <a:rPr lang="en-US" i="1" dirty="0"/>
              <a:t>committed</a:t>
            </a:r>
            <a:r>
              <a:rPr lang="en-US" dirty="0"/>
              <a:t>, it becomes a </a:t>
            </a:r>
            <a:r>
              <a:rPr lang="en-US" i="1" dirty="0"/>
              <a:t>commit</a:t>
            </a:r>
            <a:r>
              <a:rPr lang="en-US" dirty="0"/>
              <a:t>; at this point </a:t>
            </a:r>
            <a:r>
              <a:rPr lang="en-US" dirty="0">
                <a:solidFill>
                  <a:srgbClr val="FF0000"/>
                </a:solidFill>
                <a:latin typeface="Consolas" panose="020B0609020204030204" pitchFamily="49" charset="0"/>
              </a:rPr>
              <a:t>HEAD</a:t>
            </a:r>
            <a:r>
              <a:rPr lang="en-US" dirty="0"/>
              <a:t> is updated to point to this new </a:t>
            </a:r>
            <a:r>
              <a:rPr lang="en-US" i="1" dirty="0"/>
              <a:t>commit</a:t>
            </a:r>
          </a:p>
          <a:p>
            <a:r>
              <a:rPr lang="en-US" b="1" dirty="0"/>
              <a:t>Understanding these concepts will make it HUGELY easier for you to read SO posts and other documentation about Git</a:t>
            </a:r>
          </a:p>
        </p:txBody>
      </p:sp>
    </p:spTree>
    <p:extLst>
      <p:ext uri="{BB962C8B-B14F-4D97-AF65-F5344CB8AC3E}">
        <p14:creationId xmlns:p14="http://schemas.microsoft.com/office/powerpoint/2010/main" val="2410753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16530-E993-49EC-A1CF-8640FA56BC3F}"/>
              </a:ext>
            </a:extLst>
          </p:cNvPr>
          <p:cNvSpPr>
            <a:spLocks noGrp="1"/>
          </p:cNvSpPr>
          <p:nvPr>
            <p:ph type="title"/>
          </p:nvPr>
        </p:nvSpPr>
        <p:spPr/>
        <p:txBody>
          <a:bodyPr/>
          <a:lstStyle/>
          <a:p>
            <a:r>
              <a:rPr lang="en-US" dirty="0"/>
              <a:t>Working directory, index, and HEAD</a:t>
            </a:r>
          </a:p>
        </p:txBody>
      </p:sp>
      <p:pic>
        <p:nvPicPr>
          <p:cNvPr id="4" name="Picture 3" descr="A screenshot of a cell phone&#10;&#10;Description automatically generated">
            <a:extLst>
              <a:ext uri="{FF2B5EF4-FFF2-40B4-BE49-F238E27FC236}">
                <a16:creationId xmlns:a16="http://schemas.microsoft.com/office/drawing/2014/main" id="{885164CF-CD4A-4603-8450-EC5B9AD928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4532" y="2024908"/>
            <a:ext cx="6382936" cy="3518593"/>
          </a:xfrm>
          <a:prstGeom prst="rect">
            <a:avLst/>
          </a:prstGeom>
        </p:spPr>
      </p:pic>
      <p:sp>
        <p:nvSpPr>
          <p:cNvPr id="5" name="TextBox 4">
            <a:extLst>
              <a:ext uri="{FF2B5EF4-FFF2-40B4-BE49-F238E27FC236}">
                <a16:creationId xmlns:a16="http://schemas.microsoft.com/office/drawing/2014/main" id="{6E7FFF28-5908-4F1D-95D1-173B1855FA0D}"/>
              </a:ext>
            </a:extLst>
          </p:cNvPr>
          <p:cNvSpPr txBox="1"/>
          <p:nvPr/>
        </p:nvSpPr>
        <p:spPr>
          <a:xfrm>
            <a:off x="254382" y="6308209"/>
            <a:ext cx="7521456" cy="369332"/>
          </a:xfrm>
          <a:prstGeom prst="rect">
            <a:avLst/>
          </a:prstGeom>
          <a:noFill/>
        </p:spPr>
        <p:txBody>
          <a:bodyPr wrap="square" rtlCol="0">
            <a:spAutoFit/>
          </a:bodyPr>
          <a:lstStyle/>
          <a:p>
            <a:r>
              <a:rPr lang="en-US" dirty="0"/>
              <a:t>Source: </a:t>
            </a:r>
            <a:r>
              <a:rPr lang="en-US" dirty="0">
                <a:hlinkClick r:id="rId3"/>
              </a:rPr>
              <a:t>https://git-scm.com/book/en/v2/Git-Tools-Reset-Demystified</a:t>
            </a:r>
            <a:r>
              <a:rPr lang="en-US" dirty="0"/>
              <a:t> </a:t>
            </a:r>
          </a:p>
        </p:txBody>
      </p:sp>
    </p:spTree>
    <p:extLst>
      <p:ext uri="{BB962C8B-B14F-4D97-AF65-F5344CB8AC3E}">
        <p14:creationId xmlns:p14="http://schemas.microsoft.com/office/powerpoint/2010/main" val="40441613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AAE5-A21A-497E-B81E-038FB32DAFA4}"/>
              </a:ext>
            </a:extLst>
          </p:cNvPr>
          <p:cNvSpPr>
            <a:spLocks noGrp="1"/>
          </p:cNvSpPr>
          <p:nvPr>
            <p:ph type="title"/>
          </p:nvPr>
        </p:nvSpPr>
        <p:spPr/>
        <p:txBody>
          <a:bodyPr/>
          <a:lstStyle/>
          <a:p>
            <a:r>
              <a:rPr lang="en-US" dirty="0"/>
              <a:t>Working directory, index, and HEAD</a:t>
            </a:r>
          </a:p>
        </p:txBody>
      </p:sp>
      <p:sp>
        <p:nvSpPr>
          <p:cNvPr id="3" name="Content Placeholder 2">
            <a:extLst>
              <a:ext uri="{FF2B5EF4-FFF2-40B4-BE49-F238E27FC236}">
                <a16:creationId xmlns:a16="http://schemas.microsoft.com/office/drawing/2014/main" id="{3DA6460B-0CB1-4E32-916E-87C7301B7BAD}"/>
              </a:ext>
            </a:extLst>
          </p:cNvPr>
          <p:cNvSpPr>
            <a:spLocks noGrp="1"/>
          </p:cNvSpPr>
          <p:nvPr>
            <p:ph idx="1"/>
          </p:nvPr>
        </p:nvSpPr>
        <p:spPr>
          <a:xfrm>
            <a:off x="831325" y="1825624"/>
            <a:ext cx="10515600" cy="4939561"/>
          </a:xfrm>
        </p:spPr>
        <p:txBody>
          <a:bodyPr>
            <a:normAutofit/>
          </a:bodyPr>
          <a:lstStyle/>
          <a:p>
            <a:r>
              <a:rPr lang="en-US" dirty="0"/>
              <a:t>To add our change to the </a:t>
            </a:r>
            <a:r>
              <a:rPr lang="en-US" i="1" dirty="0"/>
              <a:t>index</a:t>
            </a:r>
            <a:r>
              <a:rPr lang="en-US" dirty="0"/>
              <a:t> type </a:t>
            </a:r>
            <a:r>
              <a:rPr lang="en-US" dirty="0">
                <a:solidFill>
                  <a:srgbClr val="FF0000"/>
                </a:solidFill>
                <a:latin typeface="Consolas" panose="020B0609020204030204" pitchFamily="49" charset="0"/>
              </a:rPr>
              <a:t>git add HelloWorld.java</a:t>
            </a:r>
          </a:p>
          <a:p>
            <a:r>
              <a:rPr lang="en-US" dirty="0"/>
              <a:t>Now </a:t>
            </a:r>
            <a:r>
              <a:rPr lang="en-US" dirty="0">
                <a:solidFill>
                  <a:srgbClr val="FF0000"/>
                </a:solidFill>
                <a:latin typeface="Consolas" panose="020B0609020204030204" pitchFamily="49" charset="0"/>
              </a:rPr>
              <a:t>git status</a:t>
            </a:r>
            <a:r>
              <a:rPr lang="en-US" dirty="0"/>
              <a:t> will show that </a:t>
            </a:r>
            <a:r>
              <a:rPr lang="en-US" dirty="0">
                <a:latin typeface="Consolas" panose="020B0609020204030204" pitchFamily="49" charset="0"/>
              </a:rPr>
              <a:t>HelloWorld.java</a:t>
            </a:r>
            <a:r>
              <a:rPr lang="en-US" dirty="0"/>
              <a:t> is ready to be committed</a:t>
            </a:r>
          </a:p>
          <a:p>
            <a:r>
              <a:rPr lang="en-US" dirty="0"/>
              <a:t>Make also some change to </a:t>
            </a:r>
            <a:r>
              <a:rPr lang="en-US" dirty="0">
                <a:latin typeface="Consolas" panose="020B0609020204030204" pitchFamily="49" charset="0"/>
              </a:rPr>
              <a:t>README.md</a:t>
            </a:r>
            <a:r>
              <a:rPr lang="en-US" dirty="0"/>
              <a:t> and add the change to the index with </a:t>
            </a:r>
            <a:r>
              <a:rPr lang="en-US" dirty="0">
                <a:solidFill>
                  <a:srgbClr val="FF0000"/>
                </a:solidFill>
                <a:latin typeface="Consolas" panose="020B0609020204030204" pitchFamily="49" charset="0"/>
              </a:rPr>
              <a:t>git add README.md</a:t>
            </a:r>
          </a:p>
          <a:p>
            <a:r>
              <a:rPr lang="en-US" dirty="0"/>
              <a:t>Now </a:t>
            </a:r>
            <a:r>
              <a:rPr lang="en-US" dirty="0">
                <a:solidFill>
                  <a:srgbClr val="FF0000"/>
                </a:solidFill>
                <a:latin typeface="Consolas" panose="020B0609020204030204" pitchFamily="49" charset="0"/>
              </a:rPr>
              <a:t>git status</a:t>
            </a:r>
            <a:r>
              <a:rPr lang="en-US" dirty="0"/>
              <a:t> should show that both files have been modified; we are now happy with our changes and are ready to </a:t>
            </a:r>
            <a:r>
              <a:rPr lang="en-US" i="1" dirty="0"/>
              <a:t>commit</a:t>
            </a:r>
            <a:r>
              <a:rPr lang="en-US" dirty="0"/>
              <a:t> them to the local </a:t>
            </a:r>
            <a:r>
              <a:rPr lang="en-US" i="1" dirty="0"/>
              <a:t>master branch</a:t>
            </a:r>
            <a:r>
              <a:rPr lang="en-US" dirty="0"/>
              <a:t>:</a:t>
            </a:r>
            <a:r>
              <a:rPr lang="en-US" i="1" dirty="0"/>
              <a:t> </a:t>
            </a:r>
            <a:r>
              <a:rPr lang="en-US" dirty="0">
                <a:solidFill>
                  <a:srgbClr val="FF0000"/>
                </a:solidFill>
                <a:latin typeface="Consolas" panose="020B0609020204030204" pitchFamily="49" charset="0"/>
              </a:rPr>
              <a:t>git commit</a:t>
            </a:r>
          </a:p>
          <a:p>
            <a:r>
              <a:rPr lang="en-US" b="1" dirty="0"/>
              <a:t>Don’t </a:t>
            </a:r>
            <a:r>
              <a:rPr lang="en-US" b="1" i="1" dirty="0"/>
              <a:t>push</a:t>
            </a:r>
            <a:r>
              <a:rPr lang="en-US" b="1" dirty="0"/>
              <a:t> these changes to the </a:t>
            </a:r>
            <a:r>
              <a:rPr lang="en-US" b="1" i="1" dirty="0"/>
              <a:t>remote</a:t>
            </a:r>
            <a:r>
              <a:rPr lang="en-US" b="1" dirty="0"/>
              <a:t> yet; we’ll do something else instead to learn about </a:t>
            </a:r>
            <a:r>
              <a:rPr lang="en-US" b="1" i="1" dirty="0"/>
              <a:t>merging</a:t>
            </a:r>
          </a:p>
        </p:txBody>
      </p:sp>
    </p:spTree>
    <p:extLst>
      <p:ext uri="{BB962C8B-B14F-4D97-AF65-F5344CB8AC3E}">
        <p14:creationId xmlns:p14="http://schemas.microsoft.com/office/powerpoint/2010/main" val="1237864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D2F6-C756-4C7E-A430-C7031A4336A3}"/>
              </a:ext>
            </a:extLst>
          </p:cNvPr>
          <p:cNvSpPr>
            <a:spLocks noGrp="1"/>
          </p:cNvSpPr>
          <p:nvPr>
            <p:ph type="title"/>
          </p:nvPr>
        </p:nvSpPr>
        <p:spPr/>
        <p:txBody>
          <a:bodyPr/>
          <a:lstStyle/>
          <a:p>
            <a:r>
              <a:rPr lang="en-US" dirty="0"/>
              <a:t>Checking out commits</a:t>
            </a:r>
          </a:p>
        </p:txBody>
      </p:sp>
      <p:sp>
        <p:nvSpPr>
          <p:cNvPr id="3" name="Content Placeholder 2">
            <a:extLst>
              <a:ext uri="{FF2B5EF4-FFF2-40B4-BE49-F238E27FC236}">
                <a16:creationId xmlns:a16="http://schemas.microsoft.com/office/drawing/2014/main" id="{018B48F3-71B3-4043-85A6-143EA74EC123}"/>
              </a:ext>
            </a:extLst>
          </p:cNvPr>
          <p:cNvSpPr>
            <a:spLocks noGrp="1"/>
          </p:cNvSpPr>
          <p:nvPr>
            <p:ph idx="1"/>
          </p:nvPr>
        </p:nvSpPr>
        <p:spPr>
          <a:xfrm>
            <a:off x="838200" y="1825624"/>
            <a:ext cx="10515600" cy="4932685"/>
          </a:xfrm>
        </p:spPr>
        <p:txBody>
          <a:bodyPr>
            <a:normAutofit lnSpcReduction="10000"/>
          </a:bodyPr>
          <a:lstStyle/>
          <a:p>
            <a:r>
              <a:rPr lang="en-US" dirty="0"/>
              <a:t>Git makes it very easy to go back to previous versions of the repository/branches</a:t>
            </a:r>
          </a:p>
          <a:p>
            <a:r>
              <a:rPr lang="en-US" dirty="0"/>
              <a:t>Type </a:t>
            </a:r>
            <a:r>
              <a:rPr lang="en-US" dirty="0">
                <a:solidFill>
                  <a:srgbClr val="FF0000"/>
                </a:solidFill>
                <a:latin typeface="Consolas" panose="020B0609020204030204" pitchFamily="49" charset="0"/>
              </a:rPr>
              <a:t>git status</a:t>
            </a:r>
            <a:r>
              <a:rPr lang="en-US" dirty="0"/>
              <a:t> to see all three commits you have made</a:t>
            </a:r>
          </a:p>
          <a:p>
            <a:r>
              <a:rPr lang="en-US" dirty="0"/>
              <a:t>Note that the name of each </a:t>
            </a:r>
            <a:r>
              <a:rPr lang="en-US" i="1" dirty="0"/>
              <a:t>commit</a:t>
            </a:r>
            <a:r>
              <a:rPr lang="en-US" dirty="0"/>
              <a:t> is actually a hexadecimal string like 217a62ec686c9… that uniquely identifies it and its position in the chain of </a:t>
            </a:r>
            <a:r>
              <a:rPr lang="en-US" i="1" dirty="0"/>
              <a:t>commits </a:t>
            </a:r>
            <a:r>
              <a:rPr lang="en-US" dirty="0"/>
              <a:t>(the latest commit only has a convenient name: </a:t>
            </a:r>
            <a:r>
              <a:rPr lang="en-US" dirty="0">
                <a:solidFill>
                  <a:srgbClr val="FF0000"/>
                </a:solidFill>
                <a:latin typeface="Consolas" panose="020B0609020204030204" pitchFamily="49" charset="0"/>
              </a:rPr>
              <a:t>HEAD</a:t>
            </a:r>
            <a:r>
              <a:rPr lang="en-US" dirty="0"/>
              <a:t>; it is possible to add other such aliases too)</a:t>
            </a:r>
          </a:p>
          <a:p>
            <a:r>
              <a:rPr lang="en-US" dirty="0"/>
              <a:t>To go back to a previous </a:t>
            </a:r>
            <a:r>
              <a:rPr lang="en-US" i="1" dirty="0"/>
              <a:t>commit</a:t>
            </a:r>
            <a:r>
              <a:rPr lang="en-US" dirty="0"/>
              <a:t>, simply type </a:t>
            </a:r>
            <a:br>
              <a:rPr lang="en-US" dirty="0"/>
            </a:br>
            <a:r>
              <a:rPr lang="en-US" dirty="0">
                <a:solidFill>
                  <a:srgbClr val="FF0000"/>
                </a:solidFill>
                <a:latin typeface="Consolas" panose="020B0609020204030204" pitchFamily="49" charset="0"/>
              </a:rPr>
              <a:t>git checkout &lt;ID of commit&gt;</a:t>
            </a:r>
          </a:p>
          <a:p>
            <a:r>
              <a:rPr lang="en-US" dirty="0"/>
              <a:t>You probably don’t want to type the entire long hexadecimal string and you don’t need to: just type a few of the first characters and Git will figure out which commit you mean</a:t>
            </a:r>
            <a:endParaRPr lang="en-US"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40332267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D2F6-C756-4C7E-A430-C7031A4336A3}"/>
              </a:ext>
            </a:extLst>
          </p:cNvPr>
          <p:cNvSpPr>
            <a:spLocks noGrp="1"/>
          </p:cNvSpPr>
          <p:nvPr>
            <p:ph type="title"/>
          </p:nvPr>
        </p:nvSpPr>
        <p:spPr/>
        <p:txBody>
          <a:bodyPr/>
          <a:lstStyle/>
          <a:p>
            <a:r>
              <a:rPr lang="en-US" dirty="0"/>
              <a:t>Checking out commits</a:t>
            </a:r>
          </a:p>
        </p:txBody>
      </p:sp>
      <p:sp>
        <p:nvSpPr>
          <p:cNvPr id="3" name="Content Placeholder 2">
            <a:extLst>
              <a:ext uri="{FF2B5EF4-FFF2-40B4-BE49-F238E27FC236}">
                <a16:creationId xmlns:a16="http://schemas.microsoft.com/office/drawing/2014/main" id="{018B48F3-71B3-4043-85A6-143EA74EC123}"/>
              </a:ext>
            </a:extLst>
          </p:cNvPr>
          <p:cNvSpPr>
            <a:spLocks noGrp="1"/>
          </p:cNvSpPr>
          <p:nvPr>
            <p:ph idx="1"/>
          </p:nvPr>
        </p:nvSpPr>
        <p:spPr>
          <a:xfrm>
            <a:off x="838200" y="1825624"/>
            <a:ext cx="10515600" cy="4932685"/>
          </a:xfrm>
        </p:spPr>
        <p:txBody>
          <a:bodyPr>
            <a:normAutofit lnSpcReduction="10000"/>
          </a:bodyPr>
          <a:lstStyle/>
          <a:p>
            <a:r>
              <a:rPr lang="en-US" dirty="0">
                <a:solidFill>
                  <a:schemeClr val="bg2">
                    <a:lumMod val="90000"/>
                  </a:schemeClr>
                </a:solidFill>
              </a:rPr>
              <a:t>Git makes it very easy to go back to previous versions of the repository/branches</a:t>
            </a:r>
          </a:p>
          <a:p>
            <a:r>
              <a:rPr lang="en-US" dirty="0">
                <a:solidFill>
                  <a:schemeClr val="bg2">
                    <a:lumMod val="90000"/>
                  </a:schemeClr>
                </a:solidFill>
              </a:rPr>
              <a:t>Type </a:t>
            </a:r>
            <a:r>
              <a:rPr lang="en-US" dirty="0">
                <a:solidFill>
                  <a:schemeClr val="bg2">
                    <a:lumMod val="90000"/>
                  </a:schemeClr>
                </a:solidFill>
                <a:latin typeface="Consolas" panose="020B0609020204030204" pitchFamily="49" charset="0"/>
              </a:rPr>
              <a:t>git status</a:t>
            </a:r>
            <a:r>
              <a:rPr lang="en-US" dirty="0">
                <a:solidFill>
                  <a:schemeClr val="bg2">
                    <a:lumMod val="90000"/>
                  </a:schemeClr>
                </a:solidFill>
              </a:rPr>
              <a:t> to see all three commits you have made</a:t>
            </a:r>
          </a:p>
          <a:p>
            <a:r>
              <a:rPr lang="en-US" dirty="0">
                <a:solidFill>
                  <a:schemeClr val="bg2">
                    <a:lumMod val="90000"/>
                  </a:schemeClr>
                </a:solidFill>
              </a:rPr>
              <a:t>Note that the name of each </a:t>
            </a:r>
            <a:r>
              <a:rPr lang="en-US" i="1" dirty="0">
                <a:solidFill>
                  <a:schemeClr val="bg2">
                    <a:lumMod val="90000"/>
                  </a:schemeClr>
                </a:solidFill>
              </a:rPr>
              <a:t>commit</a:t>
            </a:r>
            <a:r>
              <a:rPr lang="en-US" dirty="0">
                <a:solidFill>
                  <a:schemeClr val="bg2">
                    <a:lumMod val="90000"/>
                  </a:schemeClr>
                </a:solidFill>
              </a:rPr>
              <a:t> is actually a hexadecimal string like </a:t>
            </a:r>
            <a:r>
              <a:rPr lang="en-US" dirty="0">
                <a:solidFill>
                  <a:srgbClr val="FF0000"/>
                </a:solidFill>
              </a:rPr>
              <a:t>217a62ec686c9…</a:t>
            </a:r>
            <a:r>
              <a:rPr lang="en-US" dirty="0">
                <a:solidFill>
                  <a:schemeClr val="bg2">
                    <a:lumMod val="90000"/>
                  </a:schemeClr>
                </a:solidFill>
              </a:rPr>
              <a:t> that uniquely identifies it and its position in the chain of </a:t>
            </a:r>
            <a:r>
              <a:rPr lang="en-US" i="1" dirty="0">
                <a:solidFill>
                  <a:schemeClr val="bg2">
                    <a:lumMod val="90000"/>
                  </a:schemeClr>
                </a:solidFill>
              </a:rPr>
              <a:t>commits </a:t>
            </a:r>
            <a:r>
              <a:rPr lang="en-US" dirty="0">
                <a:solidFill>
                  <a:schemeClr val="bg2">
                    <a:lumMod val="90000"/>
                  </a:schemeClr>
                </a:solidFill>
              </a:rPr>
              <a:t>(the latest commit only has a convenient name: </a:t>
            </a:r>
            <a:r>
              <a:rPr lang="en-US" dirty="0">
                <a:solidFill>
                  <a:schemeClr val="bg2">
                    <a:lumMod val="90000"/>
                  </a:schemeClr>
                </a:solidFill>
                <a:latin typeface="Consolas" panose="020B0609020204030204" pitchFamily="49" charset="0"/>
              </a:rPr>
              <a:t>HEAD</a:t>
            </a:r>
            <a:r>
              <a:rPr lang="en-US" dirty="0">
                <a:solidFill>
                  <a:schemeClr val="bg2">
                    <a:lumMod val="90000"/>
                  </a:schemeClr>
                </a:solidFill>
              </a:rPr>
              <a:t>; it is possible to add other such aliases too)</a:t>
            </a:r>
          </a:p>
          <a:p>
            <a:r>
              <a:rPr lang="en-US" dirty="0">
                <a:solidFill>
                  <a:schemeClr val="bg2">
                    <a:lumMod val="90000"/>
                  </a:schemeClr>
                </a:solidFill>
              </a:rPr>
              <a:t>To go back to a previous </a:t>
            </a:r>
            <a:r>
              <a:rPr lang="en-US" i="1" dirty="0">
                <a:solidFill>
                  <a:schemeClr val="bg2">
                    <a:lumMod val="90000"/>
                  </a:schemeClr>
                </a:solidFill>
              </a:rPr>
              <a:t>commit</a:t>
            </a:r>
            <a:r>
              <a:rPr lang="en-US" dirty="0">
                <a:solidFill>
                  <a:schemeClr val="bg2">
                    <a:lumMod val="90000"/>
                  </a:schemeClr>
                </a:solidFill>
              </a:rPr>
              <a:t>, simply type </a:t>
            </a:r>
            <a:br>
              <a:rPr lang="en-US" dirty="0">
                <a:solidFill>
                  <a:schemeClr val="bg2">
                    <a:lumMod val="90000"/>
                  </a:schemeClr>
                </a:solidFill>
              </a:rPr>
            </a:br>
            <a:r>
              <a:rPr lang="en-US" dirty="0">
                <a:solidFill>
                  <a:schemeClr val="bg2">
                    <a:lumMod val="90000"/>
                  </a:schemeClr>
                </a:solidFill>
                <a:latin typeface="Consolas" panose="020B0609020204030204" pitchFamily="49" charset="0"/>
              </a:rPr>
              <a:t>git checkout &lt;ID of commit&gt;</a:t>
            </a:r>
          </a:p>
          <a:p>
            <a:r>
              <a:rPr lang="en-US" dirty="0">
                <a:solidFill>
                  <a:schemeClr val="bg2">
                    <a:lumMod val="90000"/>
                  </a:schemeClr>
                </a:solidFill>
              </a:rPr>
              <a:t>You probably don’t want to type the entire long hexadecimal string and you don’t need to: just type a few of the first characters and Git will figure out which commit you mean</a:t>
            </a:r>
            <a:endParaRPr lang="en-US" dirty="0">
              <a:solidFill>
                <a:schemeClr val="bg2">
                  <a:lumMod val="90000"/>
                </a:schemeClr>
              </a:solidFill>
              <a:latin typeface="Consolas" panose="020B0609020204030204" pitchFamily="49" charset="0"/>
            </a:endParaRPr>
          </a:p>
        </p:txBody>
      </p:sp>
      <p:sp>
        <p:nvSpPr>
          <p:cNvPr id="4" name="TextBox 3">
            <a:extLst>
              <a:ext uri="{FF2B5EF4-FFF2-40B4-BE49-F238E27FC236}">
                <a16:creationId xmlns:a16="http://schemas.microsoft.com/office/drawing/2014/main" id="{CF9749FA-06AE-43BC-8003-63DBF452214B}"/>
              </a:ext>
            </a:extLst>
          </p:cNvPr>
          <p:cNvSpPr txBox="1"/>
          <p:nvPr/>
        </p:nvSpPr>
        <p:spPr>
          <a:xfrm>
            <a:off x="4737005" y="2000679"/>
            <a:ext cx="6730809" cy="3323987"/>
          </a:xfrm>
          <a:prstGeom prst="rect">
            <a:avLst/>
          </a:prstGeom>
          <a:solidFill>
            <a:schemeClr val="bg1"/>
          </a:solidFill>
          <a:ln w="28575">
            <a:solidFill>
              <a:srgbClr val="0070C0"/>
            </a:solidFill>
          </a:ln>
        </p:spPr>
        <p:txBody>
          <a:bodyPr wrap="square" lIns="365760" tIns="365760" rIns="365760" bIns="365760" rtlCol="0">
            <a:spAutoFit/>
          </a:bodyPr>
          <a:lstStyle/>
          <a:p>
            <a:pPr algn="ctr"/>
            <a:r>
              <a:rPr lang="en-US" sz="2800" dirty="0"/>
              <a:t>This is a SHA1 hash (cryptographic hash). Actually, Git works exactly like a blockchain!</a:t>
            </a:r>
          </a:p>
          <a:p>
            <a:pPr algn="ctr"/>
            <a:r>
              <a:rPr lang="en-US" sz="2800" dirty="0"/>
              <a:t>In practice you don’t need to know really anything about this, but just be aware of it and the terminology.</a:t>
            </a:r>
          </a:p>
        </p:txBody>
      </p:sp>
    </p:spTree>
    <p:extLst>
      <p:ext uri="{BB962C8B-B14F-4D97-AF65-F5344CB8AC3E}">
        <p14:creationId xmlns:p14="http://schemas.microsoft.com/office/powerpoint/2010/main" val="26534343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D2F6-C756-4C7E-A430-C7031A4336A3}"/>
              </a:ext>
            </a:extLst>
          </p:cNvPr>
          <p:cNvSpPr>
            <a:spLocks noGrp="1"/>
          </p:cNvSpPr>
          <p:nvPr>
            <p:ph type="title"/>
          </p:nvPr>
        </p:nvSpPr>
        <p:spPr/>
        <p:txBody>
          <a:bodyPr/>
          <a:lstStyle/>
          <a:p>
            <a:r>
              <a:rPr lang="en-US" dirty="0"/>
              <a:t>Checking out commits</a:t>
            </a:r>
          </a:p>
        </p:txBody>
      </p:sp>
      <p:sp>
        <p:nvSpPr>
          <p:cNvPr id="3" name="Content Placeholder 2">
            <a:extLst>
              <a:ext uri="{FF2B5EF4-FFF2-40B4-BE49-F238E27FC236}">
                <a16:creationId xmlns:a16="http://schemas.microsoft.com/office/drawing/2014/main" id="{018B48F3-71B3-4043-85A6-143EA74EC123}"/>
              </a:ext>
            </a:extLst>
          </p:cNvPr>
          <p:cNvSpPr>
            <a:spLocks noGrp="1"/>
          </p:cNvSpPr>
          <p:nvPr>
            <p:ph idx="1"/>
          </p:nvPr>
        </p:nvSpPr>
        <p:spPr>
          <a:xfrm>
            <a:off x="838200" y="1454364"/>
            <a:ext cx="10515600" cy="5297071"/>
          </a:xfrm>
        </p:spPr>
        <p:txBody>
          <a:bodyPr>
            <a:normAutofit fontScale="92500" lnSpcReduction="10000"/>
          </a:bodyPr>
          <a:lstStyle/>
          <a:p>
            <a:r>
              <a:rPr lang="en-US" dirty="0"/>
              <a:t>Use </a:t>
            </a:r>
            <a:r>
              <a:rPr lang="en-US" dirty="0">
                <a:solidFill>
                  <a:srgbClr val="FF0000"/>
                </a:solidFill>
                <a:latin typeface="Consolas" panose="020B0609020204030204" pitchFamily="49" charset="0"/>
              </a:rPr>
              <a:t>git checkout &lt;ID of commit&gt;</a:t>
            </a:r>
            <a:r>
              <a:rPr lang="en-US" dirty="0"/>
              <a:t> to switch to the previous </a:t>
            </a:r>
            <a:r>
              <a:rPr lang="en-US" i="1" dirty="0"/>
              <a:t>commit</a:t>
            </a:r>
            <a:r>
              <a:rPr lang="en-US" dirty="0"/>
              <a:t> where </a:t>
            </a:r>
            <a:r>
              <a:rPr lang="en-US" dirty="0">
                <a:latin typeface="Consolas" panose="020B0609020204030204" pitchFamily="49" charset="0"/>
              </a:rPr>
              <a:t>HelloWorld.java</a:t>
            </a:r>
            <a:r>
              <a:rPr lang="en-US" dirty="0"/>
              <a:t> was added</a:t>
            </a:r>
          </a:p>
          <a:p>
            <a:r>
              <a:rPr lang="en-US" dirty="0"/>
              <a:t>Git also allows you to easily refer to previous </a:t>
            </a:r>
            <a:r>
              <a:rPr lang="en-US" i="1" dirty="0"/>
              <a:t>commits</a:t>
            </a:r>
            <a:r>
              <a:rPr lang="en-US" dirty="0"/>
              <a:t>, e.g., </a:t>
            </a:r>
            <a:r>
              <a:rPr lang="en-US" dirty="0">
                <a:solidFill>
                  <a:srgbClr val="FF0000"/>
                </a:solidFill>
              </a:rPr>
              <a:t>HEAD~0</a:t>
            </a:r>
            <a:r>
              <a:rPr lang="en-US" dirty="0"/>
              <a:t> refers to </a:t>
            </a:r>
            <a:r>
              <a:rPr lang="en-US" dirty="0">
                <a:solidFill>
                  <a:srgbClr val="FF0000"/>
                </a:solidFill>
                <a:latin typeface="Consolas" panose="020B0609020204030204" pitchFamily="49" charset="0"/>
              </a:rPr>
              <a:t>HEAD</a:t>
            </a:r>
            <a:r>
              <a:rPr lang="en-US" dirty="0"/>
              <a:t>, </a:t>
            </a:r>
            <a:r>
              <a:rPr lang="en-US" dirty="0">
                <a:solidFill>
                  <a:srgbClr val="FF0000"/>
                </a:solidFill>
              </a:rPr>
              <a:t>HEAD~1</a:t>
            </a:r>
            <a:r>
              <a:rPr lang="en-US" dirty="0"/>
              <a:t> to one </a:t>
            </a:r>
            <a:r>
              <a:rPr lang="en-US" i="1" dirty="0"/>
              <a:t>commit</a:t>
            </a:r>
            <a:r>
              <a:rPr lang="en-US" dirty="0"/>
              <a:t> before </a:t>
            </a:r>
            <a:r>
              <a:rPr lang="en-US" dirty="0">
                <a:solidFill>
                  <a:srgbClr val="FF0000"/>
                </a:solidFill>
                <a:latin typeface="Consolas" panose="020B0609020204030204" pitchFamily="49" charset="0"/>
              </a:rPr>
              <a:t>HEAD</a:t>
            </a:r>
            <a:r>
              <a:rPr lang="en-US" dirty="0"/>
              <a:t>, </a:t>
            </a:r>
            <a:r>
              <a:rPr lang="en-US" dirty="0">
                <a:solidFill>
                  <a:srgbClr val="FF0000"/>
                </a:solidFill>
              </a:rPr>
              <a:t>HEAD~2</a:t>
            </a:r>
            <a:r>
              <a:rPr lang="en-US" dirty="0"/>
              <a:t> to two </a:t>
            </a:r>
            <a:r>
              <a:rPr lang="en-US" i="1" dirty="0"/>
              <a:t>commits</a:t>
            </a:r>
            <a:r>
              <a:rPr lang="en-US" dirty="0"/>
              <a:t> before </a:t>
            </a:r>
            <a:r>
              <a:rPr lang="en-US" dirty="0">
                <a:solidFill>
                  <a:srgbClr val="FF0000"/>
                </a:solidFill>
                <a:latin typeface="Consolas" panose="020B0609020204030204" pitchFamily="49" charset="0"/>
              </a:rPr>
              <a:t>HEAD</a:t>
            </a:r>
            <a:r>
              <a:rPr lang="en-US" dirty="0"/>
              <a:t>, and so on; the previous action you could therefore also accomplish by </a:t>
            </a:r>
            <a:r>
              <a:rPr lang="en-US" dirty="0">
                <a:solidFill>
                  <a:srgbClr val="FF0000"/>
                </a:solidFill>
                <a:latin typeface="Consolas" panose="020B0609020204030204" pitchFamily="49" charset="0"/>
              </a:rPr>
              <a:t>git checkout HEAD~1</a:t>
            </a:r>
          </a:p>
          <a:p>
            <a:r>
              <a:rPr lang="en-US" dirty="0"/>
              <a:t>What actually happened was that </a:t>
            </a:r>
            <a:r>
              <a:rPr lang="en-US" dirty="0">
                <a:solidFill>
                  <a:srgbClr val="FF0000"/>
                </a:solidFill>
                <a:latin typeface="Consolas" panose="020B0609020204030204" pitchFamily="49" charset="0"/>
              </a:rPr>
              <a:t>HEAD</a:t>
            </a:r>
            <a:r>
              <a:rPr lang="en-US" dirty="0"/>
              <a:t> was changed temporarily to point to the </a:t>
            </a:r>
            <a:r>
              <a:rPr lang="en-US" i="1" dirty="0"/>
              <a:t>commit</a:t>
            </a:r>
            <a:r>
              <a:rPr lang="en-US" dirty="0"/>
              <a:t> you specified (</a:t>
            </a:r>
            <a:r>
              <a:rPr lang="en-US" i="1" dirty="0"/>
              <a:t>detached HEAD state</a:t>
            </a:r>
            <a:r>
              <a:rPr lang="en-US" dirty="0"/>
              <a:t>)</a:t>
            </a:r>
          </a:p>
          <a:p>
            <a:r>
              <a:rPr lang="en-US" dirty="0"/>
              <a:t>If you now look at </a:t>
            </a:r>
            <a:r>
              <a:rPr lang="en-US" dirty="0">
                <a:latin typeface="Consolas" panose="020B0609020204030204" pitchFamily="49" charset="0"/>
              </a:rPr>
              <a:t>HelloWorld.java</a:t>
            </a:r>
            <a:r>
              <a:rPr lang="en-US" dirty="0"/>
              <a:t> and </a:t>
            </a:r>
            <a:r>
              <a:rPr lang="en-US" dirty="0">
                <a:latin typeface="Consolas" panose="020B0609020204030204" pitchFamily="49" charset="0"/>
              </a:rPr>
              <a:t>README.md</a:t>
            </a:r>
            <a:r>
              <a:rPr lang="en-US" dirty="0"/>
              <a:t> you’ll see that your most recent changes are no longer there</a:t>
            </a:r>
          </a:p>
          <a:p>
            <a:r>
              <a:rPr lang="en-US" dirty="0"/>
              <a:t>Type </a:t>
            </a:r>
            <a:r>
              <a:rPr lang="en-US" dirty="0">
                <a:solidFill>
                  <a:srgbClr val="FF0000"/>
                </a:solidFill>
                <a:latin typeface="Consolas" panose="020B0609020204030204" pitchFamily="49" charset="0"/>
              </a:rPr>
              <a:t>git checkout master</a:t>
            </a:r>
            <a:r>
              <a:rPr lang="en-US" dirty="0"/>
              <a:t> to switch to the most recent </a:t>
            </a:r>
            <a:r>
              <a:rPr lang="en-US" i="1" dirty="0"/>
              <a:t>commit</a:t>
            </a:r>
            <a:r>
              <a:rPr lang="en-US" dirty="0"/>
              <a:t> in </a:t>
            </a:r>
            <a:r>
              <a:rPr lang="en-US" i="1" dirty="0"/>
              <a:t>master branch</a:t>
            </a:r>
            <a:r>
              <a:rPr lang="en-US" dirty="0"/>
              <a:t>, i.e. to reset </a:t>
            </a:r>
            <a:r>
              <a:rPr lang="en-US" dirty="0">
                <a:solidFill>
                  <a:srgbClr val="FF0000"/>
                </a:solidFill>
                <a:latin typeface="Consolas" panose="020B0609020204030204" pitchFamily="49" charset="0"/>
              </a:rPr>
              <a:t>HEAD</a:t>
            </a:r>
            <a:r>
              <a:rPr lang="en-US" dirty="0"/>
              <a:t> to point to your newest </a:t>
            </a:r>
            <a:r>
              <a:rPr lang="en-US" i="1" dirty="0"/>
              <a:t>commit</a:t>
            </a:r>
          </a:p>
          <a:p>
            <a:r>
              <a:rPr lang="en-US" dirty="0"/>
              <a:t>If you look at </a:t>
            </a:r>
            <a:r>
              <a:rPr lang="en-US" dirty="0">
                <a:latin typeface="Consolas" panose="020B0609020204030204" pitchFamily="49" charset="0"/>
              </a:rPr>
              <a:t>HelloWorld.java</a:t>
            </a:r>
            <a:r>
              <a:rPr lang="en-US" dirty="0"/>
              <a:t> and </a:t>
            </a:r>
            <a:r>
              <a:rPr lang="en-US" dirty="0">
                <a:latin typeface="Consolas" panose="020B0609020204030204" pitchFamily="49" charset="0"/>
              </a:rPr>
              <a:t>README.md</a:t>
            </a:r>
            <a:r>
              <a:rPr lang="en-US" dirty="0"/>
              <a:t> you’ll see that your newest changes are back</a:t>
            </a:r>
          </a:p>
        </p:txBody>
      </p:sp>
    </p:spTree>
    <p:extLst>
      <p:ext uri="{BB962C8B-B14F-4D97-AF65-F5344CB8AC3E}">
        <p14:creationId xmlns:p14="http://schemas.microsoft.com/office/powerpoint/2010/main" val="16263435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D2F6-C756-4C7E-A430-C7031A4336A3}"/>
              </a:ext>
            </a:extLst>
          </p:cNvPr>
          <p:cNvSpPr>
            <a:spLocks noGrp="1"/>
          </p:cNvSpPr>
          <p:nvPr>
            <p:ph type="title"/>
          </p:nvPr>
        </p:nvSpPr>
        <p:spPr/>
        <p:txBody>
          <a:bodyPr/>
          <a:lstStyle/>
          <a:p>
            <a:r>
              <a:rPr lang="en-US" dirty="0"/>
              <a:t>Reset</a:t>
            </a:r>
          </a:p>
        </p:txBody>
      </p:sp>
      <p:sp>
        <p:nvSpPr>
          <p:cNvPr id="3" name="Content Placeholder 2">
            <a:extLst>
              <a:ext uri="{FF2B5EF4-FFF2-40B4-BE49-F238E27FC236}">
                <a16:creationId xmlns:a16="http://schemas.microsoft.com/office/drawing/2014/main" id="{018B48F3-71B3-4043-85A6-143EA74EC123}"/>
              </a:ext>
            </a:extLst>
          </p:cNvPr>
          <p:cNvSpPr>
            <a:spLocks noGrp="1"/>
          </p:cNvSpPr>
          <p:nvPr>
            <p:ph idx="1"/>
          </p:nvPr>
        </p:nvSpPr>
        <p:spPr>
          <a:xfrm>
            <a:off x="838200" y="1825624"/>
            <a:ext cx="10515600" cy="4932685"/>
          </a:xfrm>
        </p:spPr>
        <p:txBody>
          <a:bodyPr>
            <a:normAutofit/>
          </a:bodyPr>
          <a:lstStyle/>
          <a:p>
            <a:r>
              <a:rPr lang="en-US" dirty="0"/>
              <a:t>One of the most confusing commands in Git is </a:t>
            </a:r>
            <a:r>
              <a:rPr lang="en-US" dirty="0">
                <a:solidFill>
                  <a:srgbClr val="FF0000"/>
                </a:solidFill>
                <a:latin typeface="Consolas" panose="020B0609020204030204" pitchFamily="49" charset="0"/>
              </a:rPr>
              <a:t>git reset</a:t>
            </a:r>
            <a:r>
              <a:rPr lang="en-US" dirty="0"/>
              <a:t> due to people not reading the manual or understanding core terminology</a:t>
            </a:r>
          </a:p>
          <a:p>
            <a:r>
              <a:rPr lang="en-US" dirty="0">
                <a:hlinkClick r:id="rId2"/>
              </a:rPr>
              <a:t>https://git-scm.com/book/en/v2/Git-Tools-Reset-Demystified</a:t>
            </a:r>
            <a:r>
              <a:rPr lang="en-US" dirty="0"/>
              <a:t> </a:t>
            </a:r>
          </a:p>
          <a:p>
            <a:r>
              <a:rPr lang="en-US" dirty="0"/>
              <a:t>It allows you to cancel the effects of </a:t>
            </a:r>
            <a:r>
              <a:rPr lang="en-US" dirty="0">
                <a:solidFill>
                  <a:srgbClr val="FF0000"/>
                </a:solidFill>
                <a:latin typeface="Consolas" panose="020B0609020204030204" pitchFamily="49" charset="0"/>
              </a:rPr>
              <a:t>git commit</a:t>
            </a:r>
            <a:r>
              <a:rPr lang="en-US" dirty="0"/>
              <a:t>, </a:t>
            </a:r>
            <a:r>
              <a:rPr lang="en-US" dirty="0">
                <a:solidFill>
                  <a:srgbClr val="FF0000"/>
                </a:solidFill>
                <a:latin typeface="Consolas" panose="020B0609020204030204" pitchFamily="49" charset="0"/>
              </a:rPr>
              <a:t>git add</a:t>
            </a:r>
            <a:r>
              <a:rPr lang="en-US" dirty="0"/>
              <a:t> (</a:t>
            </a:r>
            <a:r>
              <a:rPr lang="en-US" i="1" dirty="0"/>
              <a:t>moving files to index aka staging files</a:t>
            </a:r>
            <a:r>
              <a:rPr lang="en-US" dirty="0"/>
              <a:t>), and even reset the </a:t>
            </a:r>
            <a:r>
              <a:rPr lang="en-US" i="1" dirty="0"/>
              <a:t>local branch</a:t>
            </a:r>
            <a:r>
              <a:rPr lang="en-US" dirty="0"/>
              <a:t> to that of a </a:t>
            </a:r>
            <a:r>
              <a:rPr lang="en-US" i="1" dirty="0"/>
              <a:t>remote branch</a:t>
            </a:r>
            <a:r>
              <a:rPr lang="en-US" dirty="0"/>
              <a:t> if you want to cancel all of the changes you have made locally</a:t>
            </a:r>
          </a:p>
          <a:p>
            <a:endParaRPr lang="en-US" dirty="0"/>
          </a:p>
          <a:p>
            <a:endParaRPr lang="en-US"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42795509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D2F6-C756-4C7E-A430-C7031A4336A3}"/>
              </a:ext>
            </a:extLst>
          </p:cNvPr>
          <p:cNvSpPr>
            <a:spLocks noGrp="1"/>
          </p:cNvSpPr>
          <p:nvPr>
            <p:ph type="title"/>
          </p:nvPr>
        </p:nvSpPr>
        <p:spPr/>
        <p:txBody>
          <a:bodyPr/>
          <a:lstStyle/>
          <a:p>
            <a:r>
              <a:rPr lang="en-US" dirty="0"/>
              <a:t>Reset</a:t>
            </a:r>
          </a:p>
        </p:txBody>
      </p:sp>
      <p:sp>
        <p:nvSpPr>
          <p:cNvPr id="3" name="Content Placeholder 2">
            <a:extLst>
              <a:ext uri="{FF2B5EF4-FFF2-40B4-BE49-F238E27FC236}">
                <a16:creationId xmlns:a16="http://schemas.microsoft.com/office/drawing/2014/main" id="{018B48F3-71B3-4043-85A6-143EA74EC123}"/>
              </a:ext>
            </a:extLst>
          </p:cNvPr>
          <p:cNvSpPr>
            <a:spLocks noGrp="1"/>
          </p:cNvSpPr>
          <p:nvPr>
            <p:ph idx="1"/>
          </p:nvPr>
        </p:nvSpPr>
        <p:spPr>
          <a:xfrm>
            <a:off x="838200" y="1595044"/>
            <a:ext cx="10691490" cy="5163266"/>
          </a:xfrm>
        </p:spPr>
        <p:txBody>
          <a:bodyPr>
            <a:normAutofit/>
          </a:bodyPr>
          <a:lstStyle/>
          <a:p>
            <a:r>
              <a:rPr lang="en-US" dirty="0"/>
              <a:t>Type </a:t>
            </a:r>
            <a:r>
              <a:rPr lang="en-US" dirty="0">
                <a:solidFill>
                  <a:srgbClr val="FF0000"/>
                </a:solidFill>
                <a:latin typeface="Consolas" panose="020B0609020204030204" pitchFamily="49" charset="0"/>
              </a:rPr>
              <a:t>git reset --soft HEAD~1</a:t>
            </a:r>
            <a:r>
              <a:rPr lang="en-US" dirty="0"/>
              <a:t> to change the </a:t>
            </a:r>
            <a:r>
              <a:rPr lang="en-US" i="1" dirty="0"/>
              <a:t>master branch</a:t>
            </a:r>
            <a:r>
              <a:rPr lang="en-US" dirty="0"/>
              <a:t> so that the most recent commit becomes whatever was preceding </a:t>
            </a:r>
            <a:r>
              <a:rPr lang="en-US" dirty="0">
                <a:solidFill>
                  <a:srgbClr val="FF0000"/>
                </a:solidFill>
                <a:latin typeface="Consolas" panose="020B0609020204030204" pitchFamily="49" charset="0"/>
              </a:rPr>
              <a:t>HEAD</a:t>
            </a:r>
            <a:r>
              <a:rPr lang="en-US" dirty="0"/>
              <a:t> (or use the full </a:t>
            </a:r>
            <a:r>
              <a:rPr lang="en-US" i="1" dirty="0"/>
              <a:t>commit</a:t>
            </a:r>
            <a:r>
              <a:rPr lang="en-US" dirty="0"/>
              <a:t> hexadecimal identifier in place of </a:t>
            </a:r>
            <a:r>
              <a:rPr lang="en-US" dirty="0">
                <a:solidFill>
                  <a:srgbClr val="FF0000"/>
                </a:solidFill>
                <a:latin typeface="Consolas" panose="020B0609020204030204" pitchFamily="49" charset="0"/>
              </a:rPr>
              <a:t>HEAD~1</a:t>
            </a:r>
            <a:r>
              <a:rPr lang="en-US" dirty="0"/>
              <a:t>)</a:t>
            </a:r>
          </a:p>
          <a:p>
            <a:r>
              <a:rPr lang="en-US" dirty="0"/>
              <a:t>This means that your most recent changes are put back in </a:t>
            </a:r>
            <a:r>
              <a:rPr lang="en-US" i="1" dirty="0"/>
              <a:t>index</a:t>
            </a:r>
          </a:p>
          <a:p>
            <a:r>
              <a:rPr lang="en-US" dirty="0"/>
              <a:t>Note that no information has been lost: your most recent changes are still there but the most recent </a:t>
            </a:r>
            <a:r>
              <a:rPr lang="en-US" i="1" dirty="0"/>
              <a:t>commit</a:t>
            </a:r>
            <a:r>
              <a:rPr lang="en-US" dirty="0"/>
              <a:t> is gone (</a:t>
            </a:r>
            <a:r>
              <a:rPr lang="en-US" dirty="0">
                <a:solidFill>
                  <a:srgbClr val="FF0000"/>
                </a:solidFill>
                <a:latin typeface="Consolas" panose="020B0609020204030204" pitchFamily="49" charset="0"/>
              </a:rPr>
              <a:t>git log</a:t>
            </a:r>
            <a:r>
              <a:rPr lang="en-US" dirty="0"/>
              <a:t>)</a:t>
            </a:r>
          </a:p>
          <a:p>
            <a:r>
              <a:rPr lang="en-US" dirty="0"/>
              <a:t>You could type </a:t>
            </a:r>
            <a:r>
              <a:rPr lang="en-US" dirty="0">
                <a:solidFill>
                  <a:srgbClr val="FF0000"/>
                </a:solidFill>
                <a:latin typeface="Consolas" panose="020B0609020204030204" pitchFamily="49" charset="0"/>
              </a:rPr>
              <a:t>git commit</a:t>
            </a:r>
            <a:r>
              <a:rPr lang="en-US" dirty="0"/>
              <a:t> to re-create the </a:t>
            </a:r>
            <a:r>
              <a:rPr lang="en-US" i="1" dirty="0"/>
              <a:t>commit</a:t>
            </a:r>
            <a:r>
              <a:rPr lang="en-US" dirty="0"/>
              <a:t>, or use </a:t>
            </a:r>
            <a:r>
              <a:rPr lang="en-US" dirty="0">
                <a:solidFill>
                  <a:srgbClr val="FF0000"/>
                </a:solidFill>
                <a:latin typeface="Consolas" panose="020B0609020204030204" pitchFamily="49" charset="0"/>
              </a:rPr>
              <a:t>git add</a:t>
            </a:r>
            <a:r>
              <a:rPr lang="en-US" dirty="0"/>
              <a:t> </a:t>
            </a:r>
            <a:r>
              <a:rPr lang="en-US" dirty="0" err="1"/>
              <a:t>add</a:t>
            </a:r>
            <a:r>
              <a:rPr lang="en-US" dirty="0"/>
              <a:t> new files to the index before committing (don’t do either now)</a:t>
            </a:r>
          </a:p>
        </p:txBody>
      </p:sp>
    </p:spTree>
    <p:extLst>
      <p:ext uri="{BB962C8B-B14F-4D97-AF65-F5344CB8AC3E}">
        <p14:creationId xmlns:p14="http://schemas.microsoft.com/office/powerpoint/2010/main" val="26242149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D2F6-C756-4C7E-A430-C7031A4336A3}"/>
              </a:ext>
            </a:extLst>
          </p:cNvPr>
          <p:cNvSpPr>
            <a:spLocks noGrp="1"/>
          </p:cNvSpPr>
          <p:nvPr>
            <p:ph type="title"/>
          </p:nvPr>
        </p:nvSpPr>
        <p:spPr/>
        <p:txBody>
          <a:bodyPr/>
          <a:lstStyle/>
          <a:p>
            <a:r>
              <a:rPr lang="en-US" dirty="0"/>
              <a:t>Reset</a:t>
            </a:r>
          </a:p>
        </p:txBody>
      </p:sp>
      <p:sp>
        <p:nvSpPr>
          <p:cNvPr id="3" name="Content Placeholder 2">
            <a:extLst>
              <a:ext uri="{FF2B5EF4-FFF2-40B4-BE49-F238E27FC236}">
                <a16:creationId xmlns:a16="http://schemas.microsoft.com/office/drawing/2014/main" id="{018B48F3-71B3-4043-85A6-143EA74EC123}"/>
              </a:ext>
            </a:extLst>
          </p:cNvPr>
          <p:cNvSpPr>
            <a:spLocks noGrp="1"/>
          </p:cNvSpPr>
          <p:nvPr>
            <p:ph idx="1"/>
          </p:nvPr>
        </p:nvSpPr>
        <p:spPr>
          <a:xfrm>
            <a:off x="838200" y="1636294"/>
            <a:ext cx="10691490" cy="5122015"/>
          </a:xfrm>
        </p:spPr>
        <p:txBody>
          <a:bodyPr>
            <a:normAutofit lnSpcReduction="10000"/>
          </a:bodyPr>
          <a:lstStyle/>
          <a:p>
            <a:r>
              <a:rPr lang="en-US" dirty="0"/>
              <a:t>You can further demote changes from </a:t>
            </a:r>
            <a:r>
              <a:rPr lang="en-US" i="1" dirty="0"/>
              <a:t>index</a:t>
            </a:r>
            <a:r>
              <a:rPr lang="en-US" dirty="0"/>
              <a:t> back to </a:t>
            </a:r>
            <a:r>
              <a:rPr lang="en-US" i="1" dirty="0"/>
              <a:t>working directory</a:t>
            </a:r>
            <a:r>
              <a:rPr lang="en-US" dirty="0"/>
              <a:t> by using </a:t>
            </a:r>
            <a:r>
              <a:rPr lang="en-US" dirty="0">
                <a:solidFill>
                  <a:srgbClr val="FF0000"/>
                </a:solidFill>
                <a:latin typeface="Consolas" panose="020B0609020204030204" pitchFamily="49" charset="0"/>
              </a:rPr>
              <a:t>git reset &lt;file&gt;</a:t>
            </a:r>
            <a:r>
              <a:rPr lang="en-US" dirty="0"/>
              <a:t>; try typing </a:t>
            </a:r>
            <a:br>
              <a:rPr lang="en-US" dirty="0"/>
            </a:br>
            <a:r>
              <a:rPr lang="en-US" dirty="0">
                <a:solidFill>
                  <a:srgbClr val="FF0000"/>
                </a:solidFill>
                <a:latin typeface="Consolas" panose="020B0609020204030204" pitchFamily="49" charset="0"/>
              </a:rPr>
              <a:t>git reset HelloWorld.java</a:t>
            </a:r>
            <a:r>
              <a:rPr lang="en-US" dirty="0"/>
              <a:t> and type </a:t>
            </a:r>
            <a:r>
              <a:rPr lang="en-US" dirty="0">
                <a:solidFill>
                  <a:srgbClr val="FF0000"/>
                </a:solidFill>
                <a:latin typeface="Consolas" panose="020B0609020204030204" pitchFamily="49" charset="0"/>
              </a:rPr>
              <a:t>git status</a:t>
            </a:r>
            <a:r>
              <a:rPr lang="en-US" dirty="0"/>
              <a:t> to see the effects of this</a:t>
            </a:r>
          </a:p>
          <a:p>
            <a:r>
              <a:rPr lang="en-US" dirty="0"/>
              <a:t>Make some changes to </a:t>
            </a:r>
            <a:r>
              <a:rPr lang="en-US" dirty="0">
                <a:latin typeface="Consolas" panose="020B0609020204030204" pitchFamily="49" charset="0"/>
              </a:rPr>
              <a:t>HelloWorld.java</a:t>
            </a:r>
            <a:r>
              <a:rPr lang="en-US" dirty="0"/>
              <a:t>:</a:t>
            </a:r>
          </a:p>
          <a:p>
            <a:endParaRPr lang="en-US" dirty="0"/>
          </a:p>
          <a:p>
            <a:endParaRPr lang="en-US" dirty="0"/>
          </a:p>
          <a:p>
            <a:endParaRPr lang="en-US" dirty="0"/>
          </a:p>
          <a:p>
            <a:pPr marL="0" indent="0">
              <a:buNone/>
            </a:pPr>
            <a:endParaRPr lang="en-US" dirty="0">
              <a:solidFill>
                <a:srgbClr val="FF0000"/>
              </a:solidFill>
              <a:latin typeface="Consolas" panose="020B0609020204030204" pitchFamily="49" charset="0"/>
            </a:endParaRPr>
          </a:p>
          <a:p>
            <a:endParaRPr lang="en-US" dirty="0">
              <a:solidFill>
                <a:srgbClr val="FF0000"/>
              </a:solidFill>
              <a:latin typeface="Consolas" panose="020B0609020204030204" pitchFamily="49" charset="0"/>
            </a:endParaRPr>
          </a:p>
          <a:p>
            <a:r>
              <a:rPr lang="en-US" dirty="0">
                <a:solidFill>
                  <a:srgbClr val="FF0000"/>
                </a:solidFill>
                <a:latin typeface="Consolas" panose="020B0609020204030204" pitchFamily="49" charset="0"/>
              </a:rPr>
              <a:t>git add HelloWorld.java</a:t>
            </a:r>
            <a:r>
              <a:rPr lang="en-US" dirty="0">
                <a:solidFill>
                  <a:srgbClr val="FF0000"/>
                </a:solidFill>
              </a:rPr>
              <a:t> </a:t>
            </a:r>
            <a:r>
              <a:rPr lang="en-US" dirty="0"/>
              <a:t>and </a:t>
            </a:r>
            <a:r>
              <a:rPr lang="en-US" dirty="0">
                <a:solidFill>
                  <a:srgbClr val="FF0000"/>
                </a:solidFill>
                <a:latin typeface="Consolas" panose="020B0609020204030204" pitchFamily="49" charset="0"/>
              </a:rPr>
              <a:t>git commit</a:t>
            </a:r>
            <a:r>
              <a:rPr lang="en-US" dirty="0"/>
              <a:t> these changes </a:t>
            </a:r>
            <a:br>
              <a:rPr lang="en-US" dirty="0"/>
            </a:br>
            <a:r>
              <a:rPr lang="en-US" dirty="0"/>
              <a:t>(</a:t>
            </a:r>
            <a:r>
              <a:rPr lang="en-US" b="1" dirty="0"/>
              <a:t>don’t push</a:t>
            </a:r>
            <a:r>
              <a:rPr lang="en-US" dirty="0"/>
              <a:t>)</a:t>
            </a:r>
          </a:p>
        </p:txBody>
      </p:sp>
      <p:sp>
        <p:nvSpPr>
          <p:cNvPr id="4" name="TextBox 3">
            <a:extLst>
              <a:ext uri="{FF2B5EF4-FFF2-40B4-BE49-F238E27FC236}">
                <a16:creationId xmlns:a16="http://schemas.microsoft.com/office/drawing/2014/main" id="{4D1370E3-1667-4FA4-964C-662AD77007CF}"/>
              </a:ext>
            </a:extLst>
          </p:cNvPr>
          <p:cNvSpPr txBox="1"/>
          <p:nvPr/>
        </p:nvSpPr>
        <p:spPr>
          <a:xfrm>
            <a:off x="3966984" y="3611721"/>
            <a:ext cx="4489498" cy="1754326"/>
          </a:xfrm>
          <a:prstGeom prst="rect">
            <a:avLst/>
          </a:prstGeom>
          <a:noFill/>
          <a:ln>
            <a:solidFill>
              <a:schemeClr val="tx1"/>
            </a:solidFill>
          </a:ln>
        </p:spPr>
        <p:txBody>
          <a:bodyPr wrap="square" rtlCol="0">
            <a:spAutoFit/>
          </a:bodyPr>
          <a:lstStyle/>
          <a:p>
            <a:pPr lvl="1"/>
            <a:r>
              <a:rPr lang="en-US" dirty="0"/>
              <a:t>public class HelloWorld </a:t>
            </a:r>
          </a:p>
          <a:p>
            <a:pPr lvl="1"/>
            <a:r>
              <a:rPr lang="en-US" dirty="0"/>
              <a:t>{</a:t>
            </a:r>
          </a:p>
          <a:p>
            <a:pPr lvl="1"/>
            <a:r>
              <a:rPr lang="en-US" dirty="0"/>
              <a:t>    public static void main(String[] </a:t>
            </a:r>
            <a:r>
              <a:rPr lang="en-US" dirty="0" err="1"/>
              <a:t>args</a:t>
            </a:r>
            <a:r>
              <a:rPr lang="en-US" dirty="0"/>
              <a:t>) {</a:t>
            </a:r>
          </a:p>
          <a:p>
            <a:pPr lvl="1"/>
            <a:r>
              <a:rPr lang="en-US" dirty="0"/>
              <a:t>        </a:t>
            </a:r>
            <a:r>
              <a:rPr lang="en-US" dirty="0" err="1"/>
              <a:t>System.out.println</a:t>
            </a:r>
            <a:r>
              <a:rPr lang="en-US" dirty="0"/>
              <a:t>("Hello Mexico");</a:t>
            </a:r>
          </a:p>
          <a:p>
            <a:pPr lvl="1"/>
            <a:r>
              <a:rPr lang="en-US" dirty="0"/>
              <a:t>    }</a:t>
            </a:r>
          </a:p>
          <a:p>
            <a:pPr lvl="1"/>
            <a:r>
              <a:rPr lang="en-US" dirty="0"/>
              <a:t>}</a:t>
            </a:r>
          </a:p>
        </p:txBody>
      </p:sp>
      <p:sp>
        <p:nvSpPr>
          <p:cNvPr id="5" name="TextBox 4">
            <a:extLst>
              <a:ext uri="{FF2B5EF4-FFF2-40B4-BE49-F238E27FC236}">
                <a16:creationId xmlns:a16="http://schemas.microsoft.com/office/drawing/2014/main" id="{DA6403A2-DB01-48E4-934A-393085F62C3F}"/>
              </a:ext>
            </a:extLst>
          </p:cNvPr>
          <p:cNvSpPr txBox="1"/>
          <p:nvPr/>
        </p:nvSpPr>
        <p:spPr>
          <a:xfrm>
            <a:off x="3879037" y="5331706"/>
            <a:ext cx="3683669" cy="338554"/>
          </a:xfrm>
          <a:prstGeom prst="rect">
            <a:avLst/>
          </a:prstGeom>
          <a:noFill/>
        </p:spPr>
        <p:txBody>
          <a:bodyPr wrap="square" rtlCol="0">
            <a:spAutoFit/>
          </a:bodyPr>
          <a:lstStyle/>
          <a:p>
            <a:r>
              <a:rPr lang="en-US" sz="1600" dirty="0"/>
              <a:t>File: </a:t>
            </a:r>
            <a:r>
              <a:rPr lang="en-US" sz="1600" dirty="0" err="1">
                <a:latin typeface="Consolas" panose="020B0609020204030204" pitchFamily="49" charset="0"/>
              </a:rPr>
              <a:t>testrepo</a:t>
            </a:r>
            <a:r>
              <a:rPr lang="en-US" sz="1600" dirty="0">
                <a:latin typeface="Consolas" panose="020B0609020204030204" pitchFamily="49" charset="0"/>
              </a:rPr>
              <a:t>/HelloWorld.java</a:t>
            </a:r>
          </a:p>
        </p:txBody>
      </p:sp>
    </p:spTree>
    <p:extLst>
      <p:ext uri="{BB962C8B-B14F-4D97-AF65-F5344CB8AC3E}">
        <p14:creationId xmlns:p14="http://schemas.microsoft.com/office/powerpoint/2010/main" val="6876792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D2F6-C756-4C7E-A430-C7031A4336A3}"/>
              </a:ext>
            </a:extLst>
          </p:cNvPr>
          <p:cNvSpPr>
            <a:spLocks noGrp="1"/>
          </p:cNvSpPr>
          <p:nvPr>
            <p:ph type="title"/>
          </p:nvPr>
        </p:nvSpPr>
        <p:spPr/>
        <p:txBody>
          <a:bodyPr/>
          <a:lstStyle/>
          <a:p>
            <a:r>
              <a:rPr lang="en-US" dirty="0"/>
              <a:t>Reset</a:t>
            </a:r>
          </a:p>
        </p:txBody>
      </p:sp>
      <p:sp>
        <p:nvSpPr>
          <p:cNvPr id="3" name="Content Placeholder 2">
            <a:extLst>
              <a:ext uri="{FF2B5EF4-FFF2-40B4-BE49-F238E27FC236}">
                <a16:creationId xmlns:a16="http://schemas.microsoft.com/office/drawing/2014/main" id="{018B48F3-71B3-4043-85A6-143EA74EC123}"/>
              </a:ext>
            </a:extLst>
          </p:cNvPr>
          <p:cNvSpPr>
            <a:spLocks noGrp="1"/>
          </p:cNvSpPr>
          <p:nvPr>
            <p:ph idx="1"/>
          </p:nvPr>
        </p:nvSpPr>
        <p:spPr>
          <a:xfrm>
            <a:off x="838199" y="1636294"/>
            <a:ext cx="10883995" cy="5122015"/>
          </a:xfrm>
        </p:spPr>
        <p:txBody>
          <a:bodyPr>
            <a:normAutofit/>
          </a:bodyPr>
          <a:lstStyle/>
          <a:p>
            <a:r>
              <a:rPr lang="en-US" dirty="0"/>
              <a:t>You can also reset changes in your </a:t>
            </a:r>
            <a:r>
              <a:rPr lang="en-US" i="1" dirty="0"/>
              <a:t>working directory</a:t>
            </a:r>
            <a:r>
              <a:rPr lang="en-US" dirty="0"/>
              <a:t> using </a:t>
            </a:r>
            <a:br>
              <a:rPr lang="en-US" dirty="0"/>
            </a:br>
            <a:r>
              <a:rPr lang="en-US" dirty="0">
                <a:solidFill>
                  <a:srgbClr val="FF0000"/>
                </a:solidFill>
                <a:latin typeface="Consolas" panose="020B0609020204030204" pitchFamily="49" charset="0"/>
              </a:rPr>
              <a:t>git reset --hard &lt;commit&gt; </a:t>
            </a:r>
          </a:p>
          <a:p>
            <a:r>
              <a:rPr lang="en-US" dirty="0"/>
              <a:t>This means that all changes made after the given </a:t>
            </a:r>
            <a:r>
              <a:rPr lang="en-US" i="1" dirty="0"/>
              <a:t>commit</a:t>
            </a:r>
            <a:r>
              <a:rPr lang="en-US" dirty="0"/>
              <a:t> are discarded entirely and will not be recoverable from the local copy of the repository</a:t>
            </a:r>
          </a:p>
          <a:p>
            <a:r>
              <a:rPr lang="en-US" dirty="0"/>
              <a:t>For example, </a:t>
            </a:r>
            <a:r>
              <a:rPr lang="en-US" dirty="0">
                <a:solidFill>
                  <a:srgbClr val="FF0000"/>
                </a:solidFill>
                <a:latin typeface="Consolas" panose="020B0609020204030204" pitchFamily="49" charset="0"/>
              </a:rPr>
              <a:t>git reset --hard origin/master</a:t>
            </a:r>
            <a:r>
              <a:rPr lang="en-US" dirty="0"/>
              <a:t> will reset the state of your local branch to be exactly that of </a:t>
            </a:r>
            <a:r>
              <a:rPr lang="en-US" dirty="0">
                <a:solidFill>
                  <a:srgbClr val="FF0000"/>
                </a:solidFill>
                <a:latin typeface="Consolas" panose="020B0609020204030204" pitchFamily="49" charset="0"/>
              </a:rPr>
              <a:t>origin/master</a:t>
            </a:r>
            <a:r>
              <a:rPr lang="en-US" dirty="0"/>
              <a:t>, i.e. you completely delete all changes you’ve made locally </a:t>
            </a:r>
            <a:r>
              <a:rPr lang="en-US" b="1" dirty="0"/>
              <a:t>(don’t do this now)</a:t>
            </a:r>
          </a:p>
          <a:p>
            <a:r>
              <a:rPr lang="en-US" dirty="0"/>
              <a:t>Hard reset can make sense when you try something and decide that it was a bad idea and just want to go back to whatever worked, although a better approach is to create a separate </a:t>
            </a:r>
            <a:r>
              <a:rPr lang="en-US" i="1" dirty="0"/>
              <a:t>branch</a:t>
            </a:r>
            <a:r>
              <a:rPr lang="en-US" dirty="0"/>
              <a:t> that you use for experiments and then delete if it didn’t work out</a:t>
            </a:r>
          </a:p>
        </p:txBody>
      </p:sp>
    </p:spTree>
    <p:extLst>
      <p:ext uri="{BB962C8B-B14F-4D97-AF65-F5344CB8AC3E}">
        <p14:creationId xmlns:p14="http://schemas.microsoft.com/office/powerpoint/2010/main" val="10089203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D2F6-C756-4C7E-A430-C7031A4336A3}"/>
              </a:ext>
            </a:extLst>
          </p:cNvPr>
          <p:cNvSpPr>
            <a:spLocks noGrp="1"/>
          </p:cNvSpPr>
          <p:nvPr>
            <p:ph type="title"/>
          </p:nvPr>
        </p:nvSpPr>
        <p:spPr/>
        <p:txBody>
          <a:bodyPr/>
          <a:lstStyle/>
          <a:p>
            <a:r>
              <a:rPr lang="en-US" dirty="0"/>
              <a:t>Branches are commits</a:t>
            </a:r>
          </a:p>
        </p:txBody>
      </p:sp>
      <p:sp>
        <p:nvSpPr>
          <p:cNvPr id="3" name="Content Placeholder 2">
            <a:extLst>
              <a:ext uri="{FF2B5EF4-FFF2-40B4-BE49-F238E27FC236}">
                <a16:creationId xmlns:a16="http://schemas.microsoft.com/office/drawing/2014/main" id="{018B48F3-71B3-4043-85A6-143EA74EC123}"/>
              </a:ext>
            </a:extLst>
          </p:cNvPr>
          <p:cNvSpPr>
            <a:spLocks noGrp="1"/>
          </p:cNvSpPr>
          <p:nvPr>
            <p:ph idx="1"/>
          </p:nvPr>
        </p:nvSpPr>
        <p:spPr>
          <a:xfrm>
            <a:off x="838199" y="1361288"/>
            <a:ext cx="10883995" cy="5438274"/>
          </a:xfrm>
        </p:spPr>
        <p:txBody>
          <a:bodyPr>
            <a:normAutofit/>
          </a:bodyPr>
          <a:lstStyle/>
          <a:p>
            <a:r>
              <a:rPr lang="en-US" dirty="0"/>
              <a:t>On the previous slide you may have noticed how </a:t>
            </a:r>
            <a:r>
              <a:rPr lang="en-US" dirty="0">
                <a:solidFill>
                  <a:srgbClr val="FF0000"/>
                </a:solidFill>
                <a:latin typeface="Consolas" panose="020B0609020204030204" pitchFamily="49" charset="0"/>
              </a:rPr>
              <a:t>git reset --hard</a:t>
            </a:r>
            <a:r>
              <a:rPr lang="en-US" dirty="0"/>
              <a:t> was supposed to take a </a:t>
            </a:r>
            <a:r>
              <a:rPr lang="en-US" i="1" dirty="0"/>
              <a:t>commit</a:t>
            </a:r>
            <a:r>
              <a:rPr lang="en-US" dirty="0"/>
              <a:t> as an argument, but instead the example showed something like </a:t>
            </a:r>
            <a:r>
              <a:rPr lang="en-US" dirty="0">
                <a:solidFill>
                  <a:srgbClr val="FF0000"/>
                </a:solidFill>
                <a:latin typeface="Consolas" panose="020B0609020204030204" pitchFamily="49" charset="0"/>
              </a:rPr>
              <a:t>origin/master</a:t>
            </a:r>
            <a:r>
              <a:rPr lang="en-US" dirty="0"/>
              <a:t> which is a </a:t>
            </a:r>
            <a:r>
              <a:rPr lang="en-US" i="1" dirty="0"/>
              <a:t>branch</a:t>
            </a:r>
          </a:p>
          <a:p>
            <a:r>
              <a:rPr lang="en-US" dirty="0"/>
              <a:t>Actually, branches (like </a:t>
            </a:r>
            <a:r>
              <a:rPr lang="en-US" i="1" dirty="0"/>
              <a:t>master</a:t>
            </a:r>
            <a:r>
              <a:rPr lang="en-US" dirty="0"/>
              <a:t>) are just </a:t>
            </a:r>
            <a:r>
              <a:rPr lang="en-US" i="1" dirty="0"/>
              <a:t>commits</a:t>
            </a:r>
            <a:r>
              <a:rPr lang="en-US" dirty="0"/>
              <a:t>, or more correctly a </a:t>
            </a:r>
            <a:r>
              <a:rPr lang="en-US" i="1" dirty="0"/>
              <a:t>branch</a:t>
            </a:r>
            <a:r>
              <a:rPr lang="en-US" dirty="0"/>
              <a:t> is a “pointer” to </a:t>
            </a:r>
            <a:r>
              <a:rPr lang="en-US" i="1" dirty="0"/>
              <a:t>a commit </a:t>
            </a:r>
            <a:r>
              <a:rPr lang="en-US" dirty="0"/>
              <a:t>that is the latest one in the </a:t>
            </a:r>
            <a:r>
              <a:rPr lang="en-US" i="1" dirty="0"/>
              <a:t>branch</a:t>
            </a:r>
          </a:p>
          <a:p>
            <a:r>
              <a:rPr lang="en-US" dirty="0"/>
              <a:t>If you look at the file </a:t>
            </a:r>
            <a:r>
              <a:rPr lang="en-US" dirty="0" err="1">
                <a:latin typeface="Consolas" panose="020B0609020204030204" pitchFamily="49" charset="0"/>
              </a:rPr>
              <a:t>testrepo</a:t>
            </a:r>
            <a:r>
              <a:rPr lang="en-US" dirty="0">
                <a:latin typeface="Consolas" panose="020B0609020204030204" pitchFamily="49" charset="0"/>
              </a:rPr>
              <a:t>/.git/refs/heads/master</a:t>
            </a:r>
            <a:r>
              <a:rPr lang="en-US" dirty="0"/>
              <a:t> you’ll see this: </a:t>
            </a:r>
            <a:r>
              <a:rPr lang="en-US" i="1" dirty="0"/>
              <a:t>master</a:t>
            </a:r>
            <a:r>
              <a:rPr lang="en-US" dirty="0"/>
              <a:t> consists of nothing more than the identifier of a </a:t>
            </a:r>
            <a:r>
              <a:rPr lang="en-US" i="1" dirty="0"/>
              <a:t>commit</a:t>
            </a:r>
          </a:p>
          <a:p>
            <a:r>
              <a:rPr lang="en-US" dirty="0">
                <a:solidFill>
                  <a:srgbClr val="FF0000"/>
                </a:solidFill>
                <a:latin typeface="Consolas" panose="020B0609020204030204" pitchFamily="49" charset="0"/>
              </a:rPr>
              <a:t>git reset --soft &lt;commit&gt;</a:t>
            </a:r>
            <a:r>
              <a:rPr lang="en-US" dirty="0"/>
              <a:t> changes what the current branch (</a:t>
            </a:r>
            <a:r>
              <a:rPr lang="en-US" i="1" dirty="0"/>
              <a:t>master</a:t>
            </a:r>
            <a:r>
              <a:rPr lang="en-US" dirty="0"/>
              <a:t> in this case) points to but doesn’t change the </a:t>
            </a:r>
            <a:r>
              <a:rPr lang="en-US" i="1" dirty="0"/>
              <a:t>working directory</a:t>
            </a:r>
            <a:r>
              <a:rPr lang="en-US" dirty="0"/>
              <a:t>, thereby “rolling back” the </a:t>
            </a:r>
            <a:r>
              <a:rPr lang="en-US" i="1" dirty="0"/>
              <a:t>branch</a:t>
            </a:r>
          </a:p>
          <a:p>
            <a:r>
              <a:rPr lang="en-US" dirty="0"/>
              <a:t>This explains the use of </a:t>
            </a:r>
            <a:r>
              <a:rPr lang="en-US" dirty="0">
                <a:solidFill>
                  <a:srgbClr val="FF0000"/>
                </a:solidFill>
                <a:latin typeface="Consolas" panose="020B0609020204030204" pitchFamily="49" charset="0"/>
              </a:rPr>
              <a:t>origin/master</a:t>
            </a:r>
            <a:r>
              <a:rPr lang="en-US" dirty="0"/>
              <a:t> on the previous slide</a:t>
            </a:r>
          </a:p>
          <a:p>
            <a:r>
              <a:rPr lang="en-US" i="1" dirty="0">
                <a:hlinkClick r:id="rId2"/>
              </a:rPr>
              <a:t>https://git-scm.com/book/en/v2/Git-Branching-Branches-in-a-Nutshell</a:t>
            </a:r>
            <a:r>
              <a:rPr lang="en-US" i="1" dirty="0"/>
              <a:t> </a:t>
            </a:r>
          </a:p>
        </p:txBody>
      </p:sp>
    </p:spTree>
    <p:extLst>
      <p:ext uri="{BB962C8B-B14F-4D97-AF65-F5344CB8AC3E}">
        <p14:creationId xmlns:p14="http://schemas.microsoft.com/office/powerpoint/2010/main" val="41765928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84560-9EB5-4AFB-85C7-E5E23C2E29D4}"/>
              </a:ext>
            </a:extLst>
          </p:cNvPr>
          <p:cNvSpPr>
            <a:spLocks noGrp="1"/>
          </p:cNvSpPr>
          <p:nvPr>
            <p:ph type="title"/>
          </p:nvPr>
        </p:nvSpPr>
        <p:spPr/>
        <p:txBody>
          <a:bodyPr/>
          <a:lstStyle/>
          <a:p>
            <a:r>
              <a:rPr lang="en-US" dirty="0"/>
              <a:t>Branches vs HEAD</a:t>
            </a:r>
          </a:p>
        </p:txBody>
      </p:sp>
      <p:sp>
        <p:nvSpPr>
          <p:cNvPr id="3" name="Content Placeholder 2">
            <a:extLst>
              <a:ext uri="{FF2B5EF4-FFF2-40B4-BE49-F238E27FC236}">
                <a16:creationId xmlns:a16="http://schemas.microsoft.com/office/drawing/2014/main" id="{5A69206B-76D2-4475-8B74-1F845C49F976}"/>
              </a:ext>
            </a:extLst>
          </p:cNvPr>
          <p:cNvSpPr>
            <a:spLocks noGrp="1"/>
          </p:cNvSpPr>
          <p:nvPr>
            <p:ph idx="1"/>
          </p:nvPr>
        </p:nvSpPr>
        <p:spPr>
          <a:xfrm>
            <a:off x="838200" y="1784374"/>
            <a:ext cx="10515600" cy="5032376"/>
          </a:xfrm>
        </p:spPr>
        <p:txBody>
          <a:bodyPr>
            <a:normAutofit lnSpcReduction="10000"/>
          </a:bodyPr>
          <a:lstStyle/>
          <a:p>
            <a:r>
              <a:rPr lang="en-US" i="1" dirty="0"/>
              <a:t>Branches</a:t>
            </a:r>
            <a:r>
              <a:rPr lang="en-US" dirty="0"/>
              <a:t> are pointers to </a:t>
            </a:r>
            <a:r>
              <a:rPr lang="en-US" i="1" dirty="0"/>
              <a:t>commits</a:t>
            </a:r>
            <a:r>
              <a:rPr lang="en-US" dirty="0"/>
              <a:t> (latest </a:t>
            </a:r>
            <a:r>
              <a:rPr lang="en-US" i="1" dirty="0"/>
              <a:t>commit</a:t>
            </a:r>
            <a:r>
              <a:rPr lang="en-US" dirty="0"/>
              <a:t> in the </a:t>
            </a:r>
            <a:r>
              <a:rPr lang="en-US" i="1" dirty="0"/>
              <a:t>branch</a:t>
            </a:r>
            <a:r>
              <a:rPr lang="en-US" dirty="0"/>
              <a:t>)</a:t>
            </a:r>
          </a:p>
          <a:p>
            <a:r>
              <a:rPr lang="en-US" dirty="0">
                <a:solidFill>
                  <a:srgbClr val="FF0000"/>
                </a:solidFill>
                <a:latin typeface="Consolas" panose="020B0609020204030204" pitchFamily="49" charset="0"/>
              </a:rPr>
              <a:t>HEAD</a:t>
            </a:r>
            <a:r>
              <a:rPr lang="en-US" dirty="0"/>
              <a:t> is a so-called “symbolic reference” (like an alias) to a </a:t>
            </a:r>
            <a:r>
              <a:rPr lang="en-US" i="1" dirty="0"/>
              <a:t>commit</a:t>
            </a:r>
          </a:p>
          <a:p>
            <a:r>
              <a:rPr lang="en-US" dirty="0">
                <a:solidFill>
                  <a:srgbClr val="FF0000"/>
                </a:solidFill>
                <a:latin typeface="Consolas" panose="020B0609020204030204" pitchFamily="49" charset="0"/>
              </a:rPr>
              <a:t>HEAD</a:t>
            </a:r>
            <a:r>
              <a:rPr lang="en-US" dirty="0"/>
              <a:t> always points to the </a:t>
            </a:r>
            <a:r>
              <a:rPr lang="en-US" i="1" dirty="0"/>
              <a:t>commit</a:t>
            </a:r>
            <a:r>
              <a:rPr lang="en-US" dirty="0"/>
              <a:t> that is </a:t>
            </a:r>
            <a:r>
              <a:rPr lang="en-US" i="1" dirty="0"/>
              <a:t>checked out</a:t>
            </a:r>
            <a:r>
              <a:rPr lang="en-US" dirty="0"/>
              <a:t> at the time</a:t>
            </a:r>
          </a:p>
          <a:p>
            <a:r>
              <a:rPr lang="en-US" dirty="0">
                <a:solidFill>
                  <a:srgbClr val="FF0000"/>
                </a:solidFill>
                <a:latin typeface="Consolas" panose="020B0609020204030204" pitchFamily="49" charset="0"/>
              </a:rPr>
              <a:t>git checkout</a:t>
            </a:r>
            <a:r>
              <a:rPr lang="en-US" dirty="0"/>
              <a:t> is used to change the current </a:t>
            </a:r>
            <a:r>
              <a:rPr lang="en-US" dirty="0">
                <a:solidFill>
                  <a:srgbClr val="FF0000"/>
                </a:solidFill>
                <a:latin typeface="Consolas" panose="020B0609020204030204" pitchFamily="49" charset="0"/>
              </a:rPr>
              <a:t>HEAD</a:t>
            </a:r>
            <a:r>
              <a:rPr lang="en-US" dirty="0"/>
              <a:t>, for example you can </a:t>
            </a:r>
            <a:r>
              <a:rPr lang="en-US" i="1" dirty="0"/>
              <a:t>checkout</a:t>
            </a:r>
            <a:r>
              <a:rPr lang="en-US" dirty="0"/>
              <a:t> a </a:t>
            </a:r>
            <a:r>
              <a:rPr lang="en-US" i="1" dirty="0"/>
              <a:t>branch</a:t>
            </a:r>
            <a:r>
              <a:rPr lang="en-US" dirty="0"/>
              <a:t> called </a:t>
            </a:r>
            <a:r>
              <a:rPr lang="en-US" i="1" dirty="0" err="1"/>
              <a:t>mybranch</a:t>
            </a:r>
            <a:r>
              <a:rPr lang="en-US" dirty="0"/>
              <a:t> by typing </a:t>
            </a:r>
            <a:br>
              <a:rPr lang="en-US" dirty="0"/>
            </a:br>
            <a:r>
              <a:rPr lang="en-US" dirty="0">
                <a:solidFill>
                  <a:srgbClr val="FF0000"/>
                </a:solidFill>
                <a:latin typeface="Consolas" panose="020B0609020204030204" pitchFamily="49" charset="0"/>
              </a:rPr>
              <a:t>git checkout </a:t>
            </a:r>
            <a:r>
              <a:rPr lang="en-US" dirty="0" err="1">
                <a:solidFill>
                  <a:srgbClr val="FF0000"/>
                </a:solidFill>
                <a:latin typeface="Consolas" panose="020B0609020204030204" pitchFamily="49" charset="0"/>
              </a:rPr>
              <a:t>mybranch</a:t>
            </a:r>
            <a:r>
              <a:rPr lang="en-US" dirty="0"/>
              <a:t> (again, </a:t>
            </a:r>
            <a:r>
              <a:rPr lang="en-US" dirty="0" err="1">
                <a:solidFill>
                  <a:srgbClr val="FF0000"/>
                </a:solidFill>
                <a:latin typeface="Consolas" panose="020B0609020204030204" pitchFamily="49" charset="0"/>
              </a:rPr>
              <a:t>mybranch</a:t>
            </a:r>
            <a:r>
              <a:rPr lang="en-US" dirty="0"/>
              <a:t> is really the latest </a:t>
            </a:r>
            <a:r>
              <a:rPr lang="en-US" i="1" dirty="0"/>
              <a:t>commit</a:t>
            </a:r>
            <a:r>
              <a:rPr lang="en-US" dirty="0"/>
              <a:t> in the </a:t>
            </a:r>
            <a:r>
              <a:rPr lang="en-US" i="1" dirty="0"/>
              <a:t>branch</a:t>
            </a:r>
            <a:r>
              <a:rPr lang="en-US" dirty="0"/>
              <a:t>)</a:t>
            </a:r>
          </a:p>
          <a:p>
            <a:r>
              <a:rPr lang="en-US" dirty="0"/>
              <a:t>Our example before of </a:t>
            </a:r>
            <a:r>
              <a:rPr lang="en-US" i="1" dirty="0"/>
              <a:t>checking out</a:t>
            </a:r>
            <a:r>
              <a:rPr lang="en-US" dirty="0"/>
              <a:t> an earlier </a:t>
            </a:r>
            <a:r>
              <a:rPr lang="en-US" i="1" dirty="0"/>
              <a:t>commit</a:t>
            </a:r>
            <a:r>
              <a:rPr lang="en-US" dirty="0"/>
              <a:t> showed how </a:t>
            </a:r>
            <a:r>
              <a:rPr lang="en-US" dirty="0">
                <a:solidFill>
                  <a:srgbClr val="FF0000"/>
                </a:solidFill>
                <a:latin typeface="Consolas" panose="020B0609020204030204" pitchFamily="49" charset="0"/>
              </a:rPr>
              <a:t>git checkout</a:t>
            </a:r>
            <a:r>
              <a:rPr lang="en-US" dirty="0"/>
              <a:t> changed </a:t>
            </a:r>
            <a:r>
              <a:rPr lang="en-US" dirty="0">
                <a:solidFill>
                  <a:srgbClr val="FF0000"/>
                </a:solidFill>
                <a:latin typeface="Consolas" panose="020B0609020204030204" pitchFamily="49" charset="0"/>
              </a:rPr>
              <a:t>HEAD</a:t>
            </a:r>
            <a:r>
              <a:rPr lang="en-US" dirty="0"/>
              <a:t> to point to other than the latest </a:t>
            </a:r>
            <a:r>
              <a:rPr lang="en-US" i="1" dirty="0"/>
              <a:t>commit</a:t>
            </a:r>
            <a:r>
              <a:rPr lang="en-US" dirty="0"/>
              <a:t> in a </a:t>
            </a:r>
            <a:r>
              <a:rPr lang="en-US" i="1" dirty="0"/>
              <a:t>branch</a:t>
            </a:r>
            <a:r>
              <a:rPr lang="en-US" dirty="0"/>
              <a:t> (</a:t>
            </a:r>
            <a:r>
              <a:rPr lang="en-US" i="1" dirty="0"/>
              <a:t>detached HEAD state</a:t>
            </a:r>
            <a:r>
              <a:rPr lang="en-US" dirty="0"/>
              <a:t>)</a:t>
            </a:r>
          </a:p>
          <a:p>
            <a:r>
              <a:rPr lang="en-US" dirty="0">
                <a:hlinkClick r:id="rId2"/>
              </a:rPr>
              <a:t>https://stackoverflow.com/questions/4386959/difference-between-head-and-master</a:t>
            </a:r>
            <a:r>
              <a:rPr lang="en-US" dirty="0"/>
              <a:t> </a:t>
            </a:r>
          </a:p>
        </p:txBody>
      </p:sp>
    </p:spTree>
    <p:extLst>
      <p:ext uri="{BB962C8B-B14F-4D97-AF65-F5344CB8AC3E}">
        <p14:creationId xmlns:p14="http://schemas.microsoft.com/office/powerpoint/2010/main" val="1876621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0182-3D79-4F84-AEAB-11EFB771AE4F}"/>
              </a:ext>
            </a:extLst>
          </p:cNvPr>
          <p:cNvSpPr>
            <a:spLocks noGrp="1"/>
          </p:cNvSpPr>
          <p:nvPr>
            <p:ph type="title"/>
          </p:nvPr>
        </p:nvSpPr>
        <p:spPr/>
        <p:txBody>
          <a:bodyPr/>
          <a:lstStyle/>
          <a:p>
            <a:r>
              <a:rPr lang="en-US" dirty="0"/>
              <a:t>Clone</a:t>
            </a:r>
          </a:p>
        </p:txBody>
      </p:sp>
      <p:sp>
        <p:nvSpPr>
          <p:cNvPr id="3" name="Content Placeholder 2">
            <a:extLst>
              <a:ext uri="{FF2B5EF4-FFF2-40B4-BE49-F238E27FC236}">
                <a16:creationId xmlns:a16="http://schemas.microsoft.com/office/drawing/2014/main" id="{DF4244B8-82A0-4757-B14B-1D26C0F419AC}"/>
              </a:ext>
            </a:extLst>
          </p:cNvPr>
          <p:cNvSpPr>
            <a:spLocks noGrp="1"/>
          </p:cNvSpPr>
          <p:nvPr>
            <p:ph idx="1"/>
          </p:nvPr>
        </p:nvSpPr>
        <p:spPr>
          <a:xfrm>
            <a:off x="838200" y="1825625"/>
            <a:ext cx="10515600" cy="4740180"/>
          </a:xfrm>
        </p:spPr>
        <p:txBody>
          <a:bodyPr>
            <a:normAutofit/>
          </a:bodyPr>
          <a:lstStyle/>
          <a:p>
            <a:r>
              <a:rPr lang="en-US" dirty="0"/>
              <a:t>Since Git is all about collaboration, let’s imagine that another user wants to contribute to the code</a:t>
            </a:r>
          </a:p>
          <a:p>
            <a:r>
              <a:rPr lang="en-US" dirty="0"/>
              <a:t>They would look at the GitHub project page </a:t>
            </a:r>
            <a:r>
              <a:rPr lang="en-US" dirty="0">
                <a:latin typeface="Consolas" panose="020B0609020204030204" pitchFamily="49" charset="0"/>
                <a:hlinkClick r:id="rId2"/>
              </a:rPr>
              <a:t>https://github.com/&lt;something&gt;/testrepo</a:t>
            </a:r>
            <a:r>
              <a:rPr lang="en-US" dirty="0"/>
              <a:t> and see the green “Clone or download” button on the side</a:t>
            </a:r>
          </a:p>
          <a:p>
            <a:r>
              <a:rPr lang="en-US" dirty="0"/>
              <a:t>Clicking this opens a little dialog that give the appropriate URLs to the repository</a:t>
            </a:r>
          </a:p>
          <a:p>
            <a:r>
              <a:rPr lang="en-US" dirty="0"/>
              <a:t>Click “Use HTTPS” to get the HTTPS URL instead of the SSH URL (we’ll set up an SSH public key later)</a:t>
            </a:r>
          </a:p>
          <a:p>
            <a:r>
              <a:rPr lang="en-US" dirty="0"/>
              <a:t>Copy the URL to </a:t>
            </a:r>
            <a:r>
              <a:rPr lang="en-US" dirty="0" err="1">
                <a:latin typeface="Consolas" panose="020B0609020204030204" pitchFamily="49" charset="0"/>
              </a:rPr>
              <a:t>testrepo.git</a:t>
            </a:r>
            <a:endParaRPr lang="en-US" dirty="0">
              <a:latin typeface="Consolas" panose="020B0609020204030204" pitchFamily="49" charset="0"/>
            </a:endParaRPr>
          </a:p>
        </p:txBody>
      </p:sp>
    </p:spTree>
    <p:extLst>
      <p:ext uri="{BB962C8B-B14F-4D97-AF65-F5344CB8AC3E}">
        <p14:creationId xmlns:p14="http://schemas.microsoft.com/office/powerpoint/2010/main" val="23970192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0182-3D79-4F84-AEAB-11EFB771AE4F}"/>
              </a:ext>
            </a:extLst>
          </p:cNvPr>
          <p:cNvSpPr>
            <a:spLocks noGrp="1"/>
          </p:cNvSpPr>
          <p:nvPr>
            <p:ph type="title"/>
          </p:nvPr>
        </p:nvSpPr>
        <p:spPr/>
        <p:txBody>
          <a:bodyPr/>
          <a:lstStyle/>
          <a:p>
            <a:r>
              <a:rPr lang="en-US" dirty="0"/>
              <a:t>Clone</a:t>
            </a:r>
          </a:p>
        </p:txBody>
      </p:sp>
      <p:sp>
        <p:nvSpPr>
          <p:cNvPr id="3" name="Content Placeholder 2">
            <a:extLst>
              <a:ext uri="{FF2B5EF4-FFF2-40B4-BE49-F238E27FC236}">
                <a16:creationId xmlns:a16="http://schemas.microsoft.com/office/drawing/2014/main" id="{DF4244B8-82A0-4757-B14B-1D26C0F419AC}"/>
              </a:ext>
            </a:extLst>
          </p:cNvPr>
          <p:cNvSpPr>
            <a:spLocks noGrp="1"/>
          </p:cNvSpPr>
          <p:nvPr>
            <p:ph idx="1"/>
          </p:nvPr>
        </p:nvSpPr>
        <p:spPr>
          <a:xfrm>
            <a:off x="838200" y="1533168"/>
            <a:ext cx="10897746" cy="5183892"/>
          </a:xfrm>
        </p:spPr>
        <p:txBody>
          <a:bodyPr>
            <a:normAutofit lnSpcReduction="10000"/>
          </a:bodyPr>
          <a:lstStyle/>
          <a:p>
            <a:r>
              <a:rPr lang="en-US" i="1" dirty="0"/>
              <a:t>Cloning</a:t>
            </a:r>
            <a:r>
              <a:rPr lang="en-US" dirty="0"/>
              <a:t> a repository means making a local copy of a </a:t>
            </a:r>
            <a:r>
              <a:rPr lang="en-US" i="1" dirty="0"/>
              <a:t>remote</a:t>
            </a:r>
            <a:r>
              <a:rPr lang="en-US" dirty="0"/>
              <a:t> repository</a:t>
            </a:r>
          </a:p>
          <a:p>
            <a:r>
              <a:rPr lang="en-US" dirty="0"/>
              <a:t>A user would get started on working on the project by typing</a:t>
            </a:r>
            <a:br>
              <a:rPr lang="en-US" dirty="0">
                <a:latin typeface="Consolas" panose="020B0609020204030204" pitchFamily="49" charset="0"/>
              </a:rPr>
            </a:br>
            <a:r>
              <a:rPr lang="en-US" dirty="0">
                <a:solidFill>
                  <a:srgbClr val="FF0000"/>
                </a:solidFill>
                <a:latin typeface="Consolas" panose="020B0609020204030204" pitchFamily="49" charset="0"/>
              </a:rPr>
              <a:t>git clone </a:t>
            </a:r>
            <a:r>
              <a:rPr lang="en-US" dirty="0">
                <a:solidFill>
                  <a:srgbClr val="FF0000"/>
                </a:solidFill>
                <a:latin typeface="Consolas" panose="020B0609020204030204" pitchFamily="49" charset="0"/>
                <a:hlinkClick r:id="rId2"/>
              </a:rPr>
              <a:t>https://github.com/&lt;something&gt;/testrepo.git</a:t>
            </a:r>
            <a:endParaRPr lang="en-US" dirty="0">
              <a:solidFill>
                <a:srgbClr val="FF0000"/>
              </a:solidFill>
              <a:latin typeface="Consolas" panose="020B0609020204030204" pitchFamily="49" charset="0"/>
            </a:endParaRPr>
          </a:p>
          <a:p>
            <a:r>
              <a:rPr lang="en-US" dirty="0"/>
              <a:t>Go to the parent directory above </a:t>
            </a:r>
            <a:r>
              <a:rPr lang="en-US" dirty="0" err="1">
                <a:latin typeface="Consolas" panose="020B0609020204030204" pitchFamily="49" charset="0"/>
              </a:rPr>
              <a:t>testrepo</a:t>
            </a:r>
            <a:r>
              <a:rPr lang="en-US" dirty="0"/>
              <a:t> (</a:t>
            </a:r>
            <a:r>
              <a:rPr lang="en-US" dirty="0">
                <a:latin typeface="Consolas" panose="020B0609020204030204" pitchFamily="49" charset="0"/>
              </a:rPr>
              <a:t>cd ..</a:t>
            </a:r>
            <a:r>
              <a:rPr lang="en-US" dirty="0"/>
              <a:t>) and type</a:t>
            </a:r>
            <a:br>
              <a:rPr lang="en-US" dirty="0"/>
            </a:br>
            <a:r>
              <a:rPr lang="en-US" sz="2300" dirty="0">
                <a:solidFill>
                  <a:srgbClr val="FF0000"/>
                </a:solidFill>
                <a:latin typeface="Consolas" panose="020B0609020204030204" pitchFamily="49" charset="0"/>
              </a:rPr>
              <a:t>git clone </a:t>
            </a:r>
            <a:r>
              <a:rPr lang="en-US" sz="2300" dirty="0">
                <a:solidFill>
                  <a:srgbClr val="FF0000"/>
                </a:solidFill>
                <a:latin typeface="Consolas" panose="020B0609020204030204" pitchFamily="49" charset="0"/>
                <a:hlinkClick r:id="rId2"/>
              </a:rPr>
              <a:t>https://github.com/&lt;something&gt;/testrepo.git</a:t>
            </a:r>
            <a:r>
              <a:rPr lang="en-US" sz="2300" dirty="0">
                <a:solidFill>
                  <a:srgbClr val="FF0000"/>
                </a:solidFill>
                <a:latin typeface="Consolas" panose="020B0609020204030204" pitchFamily="49" charset="0"/>
              </a:rPr>
              <a:t> testrepo2</a:t>
            </a:r>
            <a:br>
              <a:rPr lang="en-US" sz="2300" dirty="0">
                <a:solidFill>
                  <a:srgbClr val="FF0000"/>
                </a:solidFill>
                <a:latin typeface="Consolas" panose="020B0609020204030204" pitchFamily="49" charset="0"/>
              </a:rPr>
            </a:br>
            <a:r>
              <a:rPr lang="en-US" dirty="0"/>
              <a:t>to use </a:t>
            </a:r>
            <a:r>
              <a:rPr lang="en-US" dirty="0">
                <a:latin typeface="Consolas" panose="020B0609020204030204" pitchFamily="49" charset="0"/>
              </a:rPr>
              <a:t>testrepo2</a:t>
            </a:r>
            <a:r>
              <a:rPr lang="en-US" dirty="0"/>
              <a:t> as the local directory for a fresh local copy</a:t>
            </a:r>
          </a:p>
          <a:p>
            <a:r>
              <a:rPr lang="en-US" dirty="0"/>
              <a:t>We had to explicitly use </a:t>
            </a:r>
            <a:r>
              <a:rPr lang="en-US" dirty="0">
                <a:latin typeface="Consolas" panose="020B0609020204030204" pitchFamily="49" charset="0"/>
              </a:rPr>
              <a:t>testrepo2</a:t>
            </a:r>
            <a:r>
              <a:rPr lang="en-US" dirty="0"/>
              <a:t> as the directory name to avoid directory name conflict since we already have a </a:t>
            </a:r>
            <a:r>
              <a:rPr lang="en-US" dirty="0" err="1">
                <a:latin typeface="Consolas" panose="020B0609020204030204" pitchFamily="49" charset="0"/>
              </a:rPr>
              <a:t>testrepo</a:t>
            </a:r>
            <a:r>
              <a:rPr lang="en-US" dirty="0"/>
              <a:t> directory</a:t>
            </a:r>
          </a:p>
          <a:p>
            <a:r>
              <a:rPr lang="en-US" dirty="0"/>
              <a:t>You should now have two directories: </a:t>
            </a:r>
            <a:r>
              <a:rPr lang="en-US" dirty="0" err="1">
                <a:latin typeface="Consolas" panose="020B0609020204030204" pitchFamily="49" charset="0"/>
              </a:rPr>
              <a:t>testrepo</a:t>
            </a:r>
            <a:r>
              <a:rPr lang="en-US" dirty="0">
                <a:latin typeface="Consolas" panose="020B0609020204030204" pitchFamily="49" charset="0"/>
              </a:rPr>
              <a:t>/</a:t>
            </a:r>
            <a:r>
              <a:rPr lang="en-US" dirty="0"/>
              <a:t> and </a:t>
            </a:r>
            <a:r>
              <a:rPr lang="en-US" dirty="0">
                <a:latin typeface="Consolas" panose="020B0609020204030204" pitchFamily="49" charset="0"/>
              </a:rPr>
              <a:t>testrepo2/</a:t>
            </a:r>
          </a:p>
          <a:p>
            <a:r>
              <a:rPr lang="en-US" dirty="0">
                <a:solidFill>
                  <a:srgbClr val="FF0000"/>
                </a:solidFill>
                <a:latin typeface="Consolas" panose="020B0609020204030204" pitchFamily="49" charset="0"/>
              </a:rPr>
              <a:t>git clone</a:t>
            </a:r>
            <a:r>
              <a:rPr lang="en-US" dirty="0"/>
              <a:t> will: create a directory for local copy, download the files and data for all prior edits, create a </a:t>
            </a:r>
            <a:r>
              <a:rPr lang="en-US" i="1" dirty="0"/>
              <a:t>remote</a:t>
            </a:r>
            <a:r>
              <a:rPr lang="en-US" dirty="0"/>
              <a:t> called </a:t>
            </a:r>
            <a:r>
              <a:rPr lang="en-US" i="1" dirty="0"/>
              <a:t>origin</a:t>
            </a:r>
            <a:r>
              <a:rPr lang="en-US" dirty="0"/>
              <a:t> that points to the </a:t>
            </a:r>
            <a:r>
              <a:rPr lang="en-US" i="1" dirty="0"/>
              <a:t>bare</a:t>
            </a:r>
            <a:r>
              <a:rPr lang="en-US" dirty="0"/>
              <a:t> repository hosted at GitHub (</a:t>
            </a:r>
            <a:r>
              <a:rPr lang="en-US" dirty="0" err="1">
                <a:latin typeface="Consolas" panose="020B0609020204030204" pitchFamily="49" charset="0"/>
              </a:rPr>
              <a:t>testrepo.git</a:t>
            </a:r>
            <a:r>
              <a:rPr lang="en-US" dirty="0"/>
              <a:t>)</a:t>
            </a:r>
          </a:p>
          <a:p>
            <a:endParaRPr lang="en-US"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20558422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Non-conflicting changes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825625"/>
            <a:ext cx="10890871" cy="4351338"/>
          </a:xfrm>
        </p:spPr>
        <p:txBody>
          <a:bodyPr/>
          <a:lstStyle/>
          <a:p>
            <a:r>
              <a:rPr lang="en-US" dirty="0"/>
              <a:t>Change the directory to </a:t>
            </a:r>
            <a:r>
              <a:rPr lang="en-US" dirty="0">
                <a:latin typeface="Consolas" panose="020B0609020204030204" pitchFamily="49" charset="0"/>
              </a:rPr>
              <a:t>testrepo2</a:t>
            </a:r>
            <a:r>
              <a:rPr lang="en-US" dirty="0"/>
              <a:t> (</a:t>
            </a:r>
            <a:r>
              <a:rPr lang="en-US" dirty="0">
                <a:latin typeface="Consolas" panose="020B0609020204030204" pitchFamily="49" charset="0"/>
              </a:rPr>
              <a:t>cd testrepo2</a:t>
            </a:r>
            <a:r>
              <a:rPr lang="en-US" dirty="0"/>
              <a:t>)</a:t>
            </a:r>
          </a:p>
          <a:p>
            <a:r>
              <a:rPr lang="en-US" dirty="0">
                <a:solidFill>
                  <a:srgbClr val="FF0000"/>
                </a:solidFill>
                <a:latin typeface="Consolas" panose="020B0609020204030204" pitchFamily="49" charset="0"/>
              </a:rPr>
              <a:t>git log</a:t>
            </a:r>
            <a:r>
              <a:rPr lang="en-US" dirty="0"/>
              <a:t> will show that this copy of the repository does not yet have the newest edits we made in our other copy of the repository (in </a:t>
            </a:r>
            <a:r>
              <a:rPr lang="en-US" dirty="0" err="1">
                <a:latin typeface="Consolas" panose="020B0609020204030204" pitchFamily="49" charset="0"/>
              </a:rPr>
              <a:t>testrepo</a:t>
            </a:r>
            <a:r>
              <a:rPr lang="en-US" dirty="0"/>
              <a:t> directory)</a:t>
            </a:r>
          </a:p>
          <a:p>
            <a:r>
              <a:rPr lang="en-US" dirty="0"/>
              <a:t>Let’s make some changes:</a:t>
            </a:r>
          </a:p>
        </p:txBody>
      </p:sp>
      <p:sp>
        <p:nvSpPr>
          <p:cNvPr id="4" name="TextBox 3">
            <a:extLst>
              <a:ext uri="{FF2B5EF4-FFF2-40B4-BE49-F238E27FC236}">
                <a16:creationId xmlns:a16="http://schemas.microsoft.com/office/drawing/2014/main" id="{80553271-CA27-4B4D-82CE-5CF9E60F17AC}"/>
              </a:ext>
            </a:extLst>
          </p:cNvPr>
          <p:cNvSpPr txBox="1"/>
          <p:nvPr/>
        </p:nvSpPr>
        <p:spPr>
          <a:xfrm>
            <a:off x="3784503" y="4214331"/>
            <a:ext cx="4998261" cy="2031325"/>
          </a:xfrm>
          <a:prstGeom prst="rect">
            <a:avLst/>
          </a:prstGeom>
          <a:noFill/>
          <a:ln>
            <a:solidFill>
              <a:schemeClr val="tx1"/>
            </a:solidFill>
          </a:ln>
        </p:spPr>
        <p:txBody>
          <a:bodyPr wrap="square" rtlCol="0">
            <a:spAutoFit/>
          </a:bodyPr>
          <a:lstStyle/>
          <a:p>
            <a:pPr lvl="1"/>
            <a:r>
              <a:rPr lang="en-US" dirty="0"/>
              <a:t>public class HelloWorld </a:t>
            </a:r>
          </a:p>
          <a:p>
            <a:pPr lvl="1"/>
            <a:r>
              <a:rPr lang="en-US" dirty="0"/>
              <a:t>{</a:t>
            </a:r>
          </a:p>
          <a:p>
            <a:pPr lvl="1"/>
            <a:r>
              <a:rPr lang="en-US" dirty="0"/>
              <a:t>    static int </a:t>
            </a:r>
            <a:r>
              <a:rPr lang="en-US" dirty="0" err="1"/>
              <a:t>myNumber</a:t>
            </a:r>
            <a:r>
              <a:rPr lang="en-US" dirty="0"/>
              <a:t> = 123;</a:t>
            </a:r>
          </a:p>
          <a:p>
            <a:pPr lvl="1"/>
            <a:r>
              <a:rPr lang="en-US" dirty="0"/>
              <a:t>    public static void main(String[] </a:t>
            </a:r>
            <a:r>
              <a:rPr lang="en-US" dirty="0" err="1"/>
              <a:t>args</a:t>
            </a:r>
            <a:r>
              <a:rPr lang="en-US" dirty="0"/>
              <a:t>) {</a:t>
            </a:r>
          </a:p>
          <a:p>
            <a:pPr lvl="1"/>
            <a:r>
              <a:rPr lang="en-US" dirty="0"/>
              <a:t>        </a:t>
            </a:r>
            <a:r>
              <a:rPr lang="en-US" dirty="0" err="1"/>
              <a:t>System.out.println</a:t>
            </a:r>
            <a:r>
              <a:rPr lang="en-US" dirty="0"/>
              <a:t>("Hello world");</a:t>
            </a:r>
          </a:p>
          <a:p>
            <a:pPr lvl="1"/>
            <a:r>
              <a:rPr lang="en-US" dirty="0"/>
              <a:t>    }</a:t>
            </a:r>
          </a:p>
          <a:p>
            <a:pPr lvl="1"/>
            <a:r>
              <a:rPr lang="en-US" dirty="0"/>
              <a:t>}</a:t>
            </a:r>
          </a:p>
        </p:txBody>
      </p:sp>
      <p:sp>
        <p:nvSpPr>
          <p:cNvPr id="5" name="TextBox 4">
            <a:extLst>
              <a:ext uri="{FF2B5EF4-FFF2-40B4-BE49-F238E27FC236}">
                <a16:creationId xmlns:a16="http://schemas.microsoft.com/office/drawing/2014/main" id="{5810734F-F873-4F10-A4D4-ED339DEBFBB9}"/>
              </a:ext>
            </a:extLst>
          </p:cNvPr>
          <p:cNvSpPr txBox="1"/>
          <p:nvPr/>
        </p:nvSpPr>
        <p:spPr>
          <a:xfrm>
            <a:off x="3688251" y="6245656"/>
            <a:ext cx="3412386" cy="338554"/>
          </a:xfrm>
          <a:prstGeom prst="rect">
            <a:avLst/>
          </a:prstGeom>
          <a:noFill/>
        </p:spPr>
        <p:txBody>
          <a:bodyPr wrap="square" rtlCol="0">
            <a:spAutoFit/>
          </a:bodyPr>
          <a:lstStyle/>
          <a:p>
            <a:r>
              <a:rPr lang="en-US" sz="1600" dirty="0"/>
              <a:t>File: </a:t>
            </a:r>
            <a:r>
              <a:rPr lang="en-US" sz="1600" dirty="0">
                <a:latin typeface="Consolas" panose="020B0609020204030204" pitchFamily="49" charset="0"/>
              </a:rPr>
              <a:t>testrepo2/HelloWorld.java</a:t>
            </a:r>
          </a:p>
        </p:txBody>
      </p:sp>
    </p:spTree>
    <p:extLst>
      <p:ext uri="{BB962C8B-B14F-4D97-AF65-F5344CB8AC3E}">
        <p14:creationId xmlns:p14="http://schemas.microsoft.com/office/powerpoint/2010/main" val="21812072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Non-conflicting changes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825625"/>
            <a:ext cx="10890871" cy="4667250"/>
          </a:xfrm>
        </p:spPr>
        <p:txBody>
          <a:bodyPr>
            <a:normAutofit/>
          </a:bodyPr>
          <a:lstStyle/>
          <a:p>
            <a:r>
              <a:rPr lang="en-US" dirty="0"/>
              <a:t>Type </a:t>
            </a:r>
            <a:r>
              <a:rPr lang="en-US" dirty="0">
                <a:solidFill>
                  <a:srgbClr val="FF0000"/>
                </a:solidFill>
                <a:latin typeface="Consolas" panose="020B0609020204030204" pitchFamily="49" charset="0"/>
              </a:rPr>
              <a:t>git commit -a</a:t>
            </a:r>
            <a:r>
              <a:rPr lang="en-US" dirty="0"/>
              <a:t>; this is same as </a:t>
            </a:r>
            <a:r>
              <a:rPr lang="en-US" dirty="0">
                <a:solidFill>
                  <a:srgbClr val="FF0000"/>
                </a:solidFill>
                <a:latin typeface="Consolas" panose="020B0609020204030204" pitchFamily="49" charset="0"/>
              </a:rPr>
              <a:t>git add *</a:t>
            </a:r>
            <a:r>
              <a:rPr lang="en-US" dirty="0"/>
              <a:t> followed by </a:t>
            </a:r>
            <a:br>
              <a:rPr lang="en-US" dirty="0"/>
            </a:br>
            <a:r>
              <a:rPr lang="en-US" dirty="0">
                <a:solidFill>
                  <a:srgbClr val="FF0000"/>
                </a:solidFill>
                <a:latin typeface="Consolas" panose="020B0609020204030204" pitchFamily="49" charset="0"/>
              </a:rPr>
              <a:t>git commit </a:t>
            </a:r>
            <a:r>
              <a:rPr lang="en-US" dirty="0"/>
              <a:t>and is very often used to shorten the two-step process)</a:t>
            </a:r>
          </a:p>
          <a:p>
            <a:r>
              <a:rPr lang="en-US" dirty="0"/>
              <a:t>Push the changes to GitHub: </a:t>
            </a:r>
            <a:r>
              <a:rPr lang="en-US" dirty="0">
                <a:solidFill>
                  <a:srgbClr val="FF0000"/>
                </a:solidFill>
                <a:latin typeface="Consolas" panose="020B0609020204030204" pitchFamily="49" charset="0"/>
              </a:rPr>
              <a:t>git push</a:t>
            </a:r>
          </a:p>
          <a:p>
            <a:r>
              <a:rPr lang="en-US" dirty="0"/>
              <a:t>Now let’s go back to our earlier copy of the repository in the </a:t>
            </a:r>
            <a:r>
              <a:rPr lang="en-US" dirty="0" err="1">
                <a:latin typeface="Consolas" panose="020B0609020204030204" pitchFamily="49" charset="0"/>
              </a:rPr>
              <a:t>testrepo</a:t>
            </a:r>
            <a:r>
              <a:rPr lang="en-US" dirty="0">
                <a:latin typeface="Consolas" panose="020B0609020204030204" pitchFamily="49" charset="0"/>
              </a:rPr>
              <a:t>/</a:t>
            </a:r>
            <a:r>
              <a:rPr lang="en-US" dirty="0"/>
              <a:t> directory and try to push our changes: </a:t>
            </a:r>
            <a:r>
              <a:rPr lang="en-US" dirty="0">
                <a:solidFill>
                  <a:srgbClr val="FF0000"/>
                </a:solidFill>
                <a:latin typeface="Consolas" panose="020B0609020204030204" pitchFamily="49" charset="0"/>
              </a:rPr>
              <a:t>git push</a:t>
            </a:r>
          </a:p>
          <a:p>
            <a:r>
              <a:rPr lang="en-US" dirty="0"/>
              <a:t>It will not work: the problem is that the </a:t>
            </a:r>
            <a:r>
              <a:rPr lang="en-US" i="1" dirty="0"/>
              <a:t>remote</a:t>
            </a:r>
            <a:r>
              <a:rPr lang="en-US" dirty="0"/>
              <a:t> is ahead of the </a:t>
            </a:r>
            <a:r>
              <a:rPr lang="en-US" i="1" dirty="0"/>
              <a:t>local branch</a:t>
            </a:r>
            <a:r>
              <a:rPr lang="en-US" dirty="0"/>
              <a:t> due to the </a:t>
            </a:r>
            <a:r>
              <a:rPr lang="en-US" i="1" dirty="0"/>
              <a:t>commit</a:t>
            </a:r>
            <a:r>
              <a:rPr lang="en-US" dirty="0"/>
              <a:t> that was made (and </a:t>
            </a:r>
            <a:r>
              <a:rPr lang="en-US" i="1" dirty="0"/>
              <a:t>pushed</a:t>
            </a:r>
            <a:r>
              <a:rPr lang="en-US" dirty="0"/>
              <a:t>) in </a:t>
            </a:r>
            <a:r>
              <a:rPr lang="en-US" dirty="0">
                <a:latin typeface="Consolas" panose="020B0609020204030204" pitchFamily="49" charset="0"/>
              </a:rPr>
              <a:t>testrepo2/</a:t>
            </a:r>
            <a:r>
              <a:rPr lang="en-US" dirty="0"/>
              <a:t> </a:t>
            </a:r>
          </a:p>
          <a:p>
            <a:r>
              <a:rPr lang="en-US" dirty="0"/>
              <a:t>This is a very common situation: one user is working on changes while another user already deploys other changes; a </a:t>
            </a:r>
            <a:r>
              <a:rPr lang="en-US" i="1" dirty="0"/>
              <a:t>merge</a:t>
            </a:r>
            <a:r>
              <a:rPr lang="en-US" dirty="0"/>
              <a:t> must happen to fix this problem</a:t>
            </a:r>
          </a:p>
        </p:txBody>
      </p:sp>
    </p:spTree>
    <p:extLst>
      <p:ext uri="{BB962C8B-B14F-4D97-AF65-F5344CB8AC3E}">
        <p14:creationId xmlns:p14="http://schemas.microsoft.com/office/powerpoint/2010/main" val="35459913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Non-conflicting changes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825625"/>
            <a:ext cx="10890871" cy="4960186"/>
          </a:xfrm>
        </p:spPr>
        <p:txBody>
          <a:bodyPr>
            <a:normAutofit/>
          </a:bodyPr>
          <a:lstStyle/>
          <a:p>
            <a:r>
              <a:rPr lang="en-US" dirty="0"/>
              <a:t>Note that these are non-conflicting changes: the first user changed the print statement, while the second user changed a completely different part of the file (added a static variable)</a:t>
            </a:r>
          </a:p>
          <a:p>
            <a:r>
              <a:rPr lang="en-US" dirty="0"/>
              <a:t>If both users would have changed the print statement then that would have created a conflict</a:t>
            </a:r>
          </a:p>
          <a:p>
            <a:r>
              <a:rPr lang="en-US" dirty="0"/>
              <a:t>Non-conflicting changes like these are easy to resolve and Git will do it pretty much automatically</a:t>
            </a:r>
          </a:p>
          <a:p>
            <a:r>
              <a:rPr lang="en-US" dirty="0"/>
              <a:t>In </a:t>
            </a:r>
            <a:r>
              <a:rPr lang="en-US" dirty="0" err="1">
                <a:latin typeface="Consolas" panose="020B0609020204030204" pitchFamily="49" charset="0"/>
              </a:rPr>
              <a:t>testrepo</a:t>
            </a:r>
            <a:r>
              <a:rPr lang="en-US" dirty="0">
                <a:latin typeface="Consolas" panose="020B0609020204030204" pitchFamily="49" charset="0"/>
              </a:rPr>
              <a:t>/</a:t>
            </a:r>
            <a:r>
              <a:rPr lang="en-US" dirty="0"/>
              <a:t> all we need to do is </a:t>
            </a:r>
            <a:r>
              <a:rPr lang="en-US" i="1" dirty="0"/>
              <a:t>pull</a:t>
            </a:r>
            <a:r>
              <a:rPr lang="en-US" dirty="0"/>
              <a:t> the newest changes from the </a:t>
            </a:r>
            <a:r>
              <a:rPr lang="en-US" i="1" dirty="0"/>
              <a:t>remote</a:t>
            </a:r>
            <a:r>
              <a:rPr lang="en-US" dirty="0"/>
              <a:t>: </a:t>
            </a:r>
            <a:r>
              <a:rPr lang="en-US" dirty="0">
                <a:solidFill>
                  <a:srgbClr val="FF0000"/>
                </a:solidFill>
                <a:latin typeface="Consolas" panose="020B0609020204030204" pitchFamily="49" charset="0"/>
              </a:rPr>
              <a:t>git pull</a:t>
            </a:r>
          </a:p>
          <a:p>
            <a:r>
              <a:rPr lang="en-US" dirty="0"/>
              <a:t>This will automatically merge the </a:t>
            </a:r>
            <a:r>
              <a:rPr lang="en-US" i="1" dirty="0"/>
              <a:t>commits</a:t>
            </a:r>
            <a:r>
              <a:rPr lang="en-US" dirty="0"/>
              <a:t> made in </a:t>
            </a:r>
            <a:r>
              <a:rPr lang="en-US" dirty="0" err="1">
                <a:latin typeface="Consolas" panose="020B0609020204030204" pitchFamily="49" charset="0"/>
              </a:rPr>
              <a:t>testrepo</a:t>
            </a:r>
            <a:r>
              <a:rPr lang="en-US" dirty="0">
                <a:latin typeface="Consolas" panose="020B0609020204030204" pitchFamily="49" charset="0"/>
              </a:rPr>
              <a:t>/</a:t>
            </a:r>
            <a:r>
              <a:rPr lang="en-US" dirty="0"/>
              <a:t> with the new </a:t>
            </a:r>
            <a:r>
              <a:rPr lang="en-US" i="1" dirty="0"/>
              <a:t>commit</a:t>
            </a:r>
            <a:r>
              <a:rPr lang="en-US" dirty="0"/>
              <a:t> pulled from the </a:t>
            </a:r>
            <a:r>
              <a:rPr lang="en-US" i="1" dirty="0"/>
              <a:t>remote</a:t>
            </a:r>
            <a:endParaRPr lang="en-US" dirty="0"/>
          </a:p>
        </p:txBody>
      </p:sp>
    </p:spTree>
    <p:extLst>
      <p:ext uri="{BB962C8B-B14F-4D97-AF65-F5344CB8AC3E}">
        <p14:creationId xmlns:p14="http://schemas.microsoft.com/office/powerpoint/2010/main" val="24436704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Non-conflicting changes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825625"/>
            <a:ext cx="10890871" cy="4960186"/>
          </a:xfrm>
        </p:spPr>
        <p:txBody>
          <a:bodyPr>
            <a:normAutofit/>
          </a:bodyPr>
          <a:lstStyle/>
          <a:p>
            <a:r>
              <a:rPr lang="en-US" dirty="0"/>
              <a:t>The </a:t>
            </a:r>
            <a:r>
              <a:rPr lang="en-US" i="1" dirty="0"/>
              <a:t>merge</a:t>
            </a:r>
            <a:r>
              <a:rPr lang="en-US" dirty="0"/>
              <a:t> itself will appear as a </a:t>
            </a:r>
            <a:r>
              <a:rPr lang="en-US" i="1" dirty="0"/>
              <a:t>commit</a:t>
            </a:r>
            <a:r>
              <a:rPr lang="en-US" dirty="0"/>
              <a:t> and therefore will ask for a </a:t>
            </a:r>
            <a:r>
              <a:rPr lang="en-US" i="1" dirty="0"/>
              <a:t>commit</a:t>
            </a:r>
            <a:r>
              <a:rPr lang="en-US" dirty="0"/>
              <a:t> message (look at </a:t>
            </a:r>
            <a:r>
              <a:rPr lang="en-US" dirty="0">
                <a:solidFill>
                  <a:srgbClr val="FF0000"/>
                </a:solidFill>
                <a:latin typeface="Consolas" panose="020B0609020204030204" pitchFamily="49" charset="0"/>
              </a:rPr>
              <a:t>git log</a:t>
            </a:r>
            <a:r>
              <a:rPr lang="en-US" dirty="0"/>
              <a:t> now)</a:t>
            </a:r>
          </a:p>
          <a:p>
            <a:r>
              <a:rPr lang="en-US" dirty="0"/>
              <a:t>At this point it makes sense to </a:t>
            </a:r>
            <a:r>
              <a:rPr lang="en-US" i="1" dirty="0"/>
              <a:t>push</a:t>
            </a:r>
            <a:r>
              <a:rPr lang="en-US" dirty="0"/>
              <a:t> the </a:t>
            </a:r>
            <a:r>
              <a:rPr lang="en-US" i="1" dirty="0"/>
              <a:t>merge commit</a:t>
            </a:r>
            <a:r>
              <a:rPr lang="en-US" dirty="0"/>
              <a:t> back to the </a:t>
            </a:r>
            <a:r>
              <a:rPr lang="en-US" i="1" dirty="0"/>
              <a:t>remote</a:t>
            </a:r>
            <a:r>
              <a:rPr lang="en-US" dirty="0"/>
              <a:t> so that other users (</a:t>
            </a:r>
            <a:r>
              <a:rPr lang="en-US" dirty="0">
                <a:latin typeface="Consolas" panose="020B0609020204030204" pitchFamily="49" charset="0"/>
              </a:rPr>
              <a:t>testrepo2/</a:t>
            </a:r>
            <a:r>
              <a:rPr lang="en-US" dirty="0"/>
              <a:t>) can continue working on top of changes made by the first user (</a:t>
            </a:r>
            <a:r>
              <a:rPr lang="en-US" dirty="0" err="1">
                <a:latin typeface="Consolas" panose="020B0609020204030204" pitchFamily="49" charset="0"/>
              </a:rPr>
              <a:t>testrepo</a:t>
            </a:r>
            <a:r>
              <a:rPr lang="en-US" dirty="0">
                <a:latin typeface="Consolas" panose="020B0609020204030204" pitchFamily="49" charset="0"/>
              </a:rPr>
              <a:t>/</a:t>
            </a:r>
            <a:r>
              <a:rPr lang="en-US" dirty="0"/>
              <a:t>)</a:t>
            </a:r>
          </a:p>
          <a:p>
            <a:r>
              <a:rPr lang="en-US" dirty="0">
                <a:solidFill>
                  <a:srgbClr val="FF0000"/>
                </a:solidFill>
                <a:latin typeface="Consolas" panose="020B0609020204030204" pitchFamily="49" charset="0"/>
              </a:rPr>
              <a:t>git push</a:t>
            </a:r>
            <a:r>
              <a:rPr lang="en-US" dirty="0"/>
              <a:t> should now work (do it)</a:t>
            </a:r>
          </a:p>
          <a:p>
            <a:r>
              <a:rPr lang="en-US" dirty="0"/>
              <a:t>Now go back to </a:t>
            </a:r>
            <a:r>
              <a:rPr lang="en-US" dirty="0">
                <a:latin typeface="Consolas" panose="020B0609020204030204" pitchFamily="49" charset="0"/>
              </a:rPr>
              <a:t>testrepo2/</a:t>
            </a:r>
            <a:r>
              <a:rPr lang="en-US" dirty="0"/>
              <a:t> and pull the changes (</a:t>
            </a:r>
            <a:r>
              <a:rPr lang="en-US" dirty="0">
                <a:solidFill>
                  <a:srgbClr val="FF0000"/>
                </a:solidFill>
                <a:latin typeface="Consolas" panose="020B0609020204030204" pitchFamily="49" charset="0"/>
              </a:rPr>
              <a:t>git pull</a:t>
            </a:r>
            <a:r>
              <a:rPr lang="en-US" dirty="0"/>
              <a:t>); </a:t>
            </a:r>
            <a:r>
              <a:rPr lang="en-US" dirty="0">
                <a:solidFill>
                  <a:srgbClr val="FF0000"/>
                </a:solidFill>
                <a:latin typeface="Consolas" panose="020B0609020204030204" pitchFamily="49" charset="0"/>
              </a:rPr>
              <a:t>git log</a:t>
            </a:r>
            <a:r>
              <a:rPr lang="en-US" dirty="0"/>
              <a:t> shows that the two local copies of the </a:t>
            </a:r>
            <a:r>
              <a:rPr lang="en-US" i="1" dirty="0"/>
              <a:t>master</a:t>
            </a:r>
            <a:r>
              <a:rPr lang="en-US" dirty="0"/>
              <a:t> branch are now identical</a:t>
            </a:r>
          </a:p>
          <a:p>
            <a:r>
              <a:rPr lang="en-US" dirty="0"/>
              <a:t>Look at </a:t>
            </a:r>
            <a:r>
              <a:rPr lang="en-US" dirty="0">
                <a:latin typeface="Consolas" panose="020B0609020204030204" pitchFamily="49" charset="0"/>
              </a:rPr>
              <a:t>HelloWorld.java</a:t>
            </a:r>
            <a:r>
              <a:rPr lang="en-US" dirty="0"/>
              <a:t> to see that it indeed contains changes from both users</a:t>
            </a:r>
          </a:p>
        </p:txBody>
      </p:sp>
    </p:spTree>
    <p:extLst>
      <p:ext uri="{BB962C8B-B14F-4D97-AF65-F5344CB8AC3E}">
        <p14:creationId xmlns:p14="http://schemas.microsoft.com/office/powerpoint/2010/main" val="38914328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Non-conflicting changes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825625"/>
            <a:ext cx="10890871" cy="4960186"/>
          </a:xfrm>
        </p:spPr>
        <p:txBody>
          <a:bodyPr>
            <a:normAutofit/>
          </a:bodyPr>
          <a:lstStyle/>
          <a:p>
            <a:r>
              <a:rPr lang="en-US" dirty="0"/>
              <a:t>The </a:t>
            </a:r>
            <a:r>
              <a:rPr lang="en-US" i="1" dirty="0"/>
              <a:t>merge</a:t>
            </a:r>
            <a:r>
              <a:rPr lang="en-US" dirty="0"/>
              <a:t> itself will appear as a </a:t>
            </a:r>
            <a:r>
              <a:rPr lang="en-US" i="1" dirty="0"/>
              <a:t>commit</a:t>
            </a:r>
            <a:r>
              <a:rPr lang="en-US" dirty="0"/>
              <a:t> and therefore will ask for a </a:t>
            </a:r>
            <a:r>
              <a:rPr lang="en-US" i="1" dirty="0"/>
              <a:t>commit</a:t>
            </a:r>
            <a:r>
              <a:rPr lang="en-US" dirty="0"/>
              <a:t> message (look at </a:t>
            </a:r>
            <a:r>
              <a:rPr lang="en-US" dirty="0">
                <a:solidFill>
                  <a:srgbClr val="FF0000"/>
                </a:solidFill>
                <a:latin typeface="Consolas" panose="020B0609020204030204" pitchFamily="49" charset="0"/>
              </a:rPr>
              <a:t>git log</a:t>
            </a:r>
            <a:r>
              <a:rPr lang="en-US" dirty="0"/>
              <a:t> now)</a:t>
            </a:r>
          </a:p>
          <a:p>
            <a:r>
              <a:rPr lang="en-US" dirty="0"/>
              <a:t>At this point it makes sense to </a:t>
            </a:r>
            <a:r>
              <a:rPr lang="en-US" i="1" dirty="0"/>
              <a:t>push</a:t>
            </a:r>
            <a:r>
              <a:rPr lang="en-US" dirty="0"/>
              <a:t> the </a:t>
            </a:r>
            <a:r>
              <a:rPr lang="en-US" i="1" dirty="0"/>
              <a:t>merge commit</a:t>
            </a:r>
            <a:r>
              <a:rPr lang="en-US" dirty="0"/>
              <a:t> back to the </a:t>
            </a:r>
            <a:r>
              <a:rPr lang="en-US" i="1" dirty="0"/>
              <a:t>remote</a:t>
            </a:r>
            <a:r>
              <a:rPr lang="en-US" dirty="0"/>
              <a:t> so that other users (</a:t>
            </a:r>
            <a:r>
              <a:rPr lang="en-US" dirty="0">
                <a:latin typeface="Consolas" panose="020B0609020204030204" pitchFamily="49" charset="0"/>
              </a:rPr>
              <a:t>testrepo2/</a:t>
            </a:r>
            <a:r>
              <a:rPr lang="en-US" dirty="0"/>
              <a:t>) can continue working on top of changes made by the first user (</a:t>
            </a:r>
            <a:r>
              <a:rPr lang="en-US" dirty="0" err="1">
                <a:latin typeface="Consolas" panose="020B0609020204030204" pitchFamily="49" charset="0"/>
              </a:rPr>
              <a:t>testrepo</a:t>
            </a:r>
            <a:r>
              <a:rPr lang="en-US" dirty="0">
                <a:latin typeface="Consolas" panose="020B0609020204030204" pitchFamily="49" charset="0"/>
              </a:rPr>
              <a:t>/</a:t>
            </a:r>
            <a:r>
              <a:rPr lang="en-US" dirty="0"/>
              <a:t>)</a:t>
            </a:r>
          </a:p>
          <a:p>
            <a:r>
              <a:rPr lang="en-US" dirty="0">
                <a:solidFill>
                  <a:srgbClr val="FF0000"/>
                </a:solidFill>
                <a:latin typeface="Consolas" panose="020B0609020204030204" pitchFamily="49" charset="0"/>
              </a:rPr>
              <a:t>git push</a:t>
            </a:r>
            <a:r>
              <a:rPr lang="en-US" dirty="0"/>
              <a:t> should now work (do it)</a:t>
            </a:r>
          </a:p>
          <a:p>
            <a:r>
              <a:rPr lang="en-US" dirty="0"/>
              <a:t>Now go back to </a:t>
            </a:r>
            <a:r>
              <a:rPr lang="en-US" dirty="0">
                <a:latin typeface="Consolas" panose="020B0609020204030204" pitchFamily="49" charset="0"/>
              </a:rPr>
              <a:t>testrepo2/</a:t>
            </a:r>
            <a:r>
              <a:rPr lang="en-US" dirty="0"/>
              <a:t> and pull the changes (</a:t>
            </a:r>
            <a:r>
              <a:rPr lang="en-US" dirty="0">
                <a:solidFill>
                  <a:srgbClr val="FF0000"/>
                </a:solidFill>
                <a:latin typeface="Consolas" panose="020B0609020204030204" pitchFamily="49" charset="0"/>
              </a:rPr>
              <a:t>git pull</a:t>
            </a:r>
            <a:r>
              <a:rPr lang="en-US" dirty="0"/>
              <a:t>); </a:t>
            </a:r>
            <a:r>
              <a:rPr lang="en-US" dirty="0">
                <a:solidFill>
                  <a:srgbClr val="FF0000"/>
                </a:solidFill>
                <a:latin typeface="Consolas" panose="020B0609020204030204" pitchFamily="49" charset="0"/>
              </a:rPr>
              <a:t>git log</a:t>
            </a:r>
            <a:r>
              <a:rPr lang="en-US" dirty="0"/>
              <a:t> shows that the two local copies of the </a:t>
            </a:r>
            <a:r>
              <a:rPr lang="en-US" i="1" dirty="0"/>
              <a:t>master</a:t>
            </a:r>
            <a:r>
              <a:rPr lang="en-US" dirty="0"/>
              <a:t> branch are now identical</a:t>
            </a:r>
          </a:p>
          <a:p>
            <a:r>
              <a:rPr lang="en-US" dirty="0"/>
              <a:t>Look at </a:t>
            </a:r>
            <a:r>
              <a:rPr lang="en-US" dirty="0">
                <a:latin typeface="Consolas" panose="020B0609020204030204" pitchFamily="49" charset="0"/>
              </a:rPr>
              <a:t>HelloWorld.java</a:t>
            </a:r>
            <a:r>
              <a:rPr lang="en-US" dirty="0"/>
              <a:t> to see that it indeed contains changes from both users</a:t>
            </a:r>
          </a:p>
        </p:txBody>
      </p:sp>
    </p:spTree>
    <p:extLst>
      <p:ext uri="{BB962C8B-B14F-4D97-AF65-F5344CB8AC3E}">
        <p14:creationId xmlns:p14="http://schemas.microsoft.com/office/powerpoint/2010/main" val="32125161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Conflicting changes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825625"/>
            <a:ext cx="10890871" cy="4960186"/>
          </a:xfrm>
        </p:spPr>
        <p:txBody>
          <a:bodyPr>
            <a:normAutofit/>
          </a:bodyPr>
          <a:lstStyle/>
          <a:p>
            <a:r>
              <a:rPr lang="en-US" dirty="0"/>
              <a:t>Now make the following changes:</a:t>
            </a:r>
          </a:p>
          <a:p>
            <a:endParaRPr lang="en-US" dirty="0"/>
          </a:p>
          <a:p>
            <a:endParaRPr lang="en-US" dirty="0"/>
          </a:p>
          <a:p>
            <a:endParaRPr lang="en-US" dirty="0"/>
          </a:p>
          <a:p>
            <a:endParaRPr lang="en-US" dirty="0"/>
          </a:p>
          <a:p>
            <a:endParaRPr lang="en-US" dirty="0"/>
          </a:p>
          <a:p>
            <a:endParaRPr lang="en-US" dirty="0"/>
          </a:p>
          <a:p>
            <a:r>
              <a:rPr lang="en-US" dirty="0"/>
              <a:t>In </a:t>
            </a:r>
            <a:r>
              <a:rPr lang="en-US" dirty="0" err="1">
                <a:latin typeface="Consolas" panose="020B0609020204030204" pitchFamily="49" charset="0"/>
              </a:rPr>
              <a:t>testrepo</a:t>
            </a:r>
            <a:r>
              <a:rPr lang="en-US" dirty="0">
                <a:latin typeface="Consolas" panose="020B0609020204030204" pitchFamily="49" charset="0"/>
              </a:rPr>
              <a:t>/</a:t>
            </a:r>
            <a:r>
              <a:rPr lang="en-US" dirty="0"/>
              <a:t> do: </a:t>
            </a:r>
            <a:r>
              <a:rPr lang="en-US" dirty="0">
                <a:solidFill>
                  <a:srgbClr val="FF0000"/>
                </a:solidFill>
                <a:latin typeface="Consolas" panose="020B0609020204030204" pitchFamily="49" charset="0"/>
              </a:rPr>
              <a:t>git commit -a</a:t>
            </a:r>
            <a:r>
              <a:rPr lang="en-US" dirty="0"/>
              <a:t> followed by </a:t>
            </a:r>
            <a:r>
              <a:rPr lang="en-US" dirty="0">
                <a:solidFill>
                  <a:srgbClr val="FF0000"/>
                </a:solidFill>
                <a:latin typeface="Consolas" panose="020B0609020204030204" pitchFamily="49" charset="0"/>
              </a:rPr>
              <a:t>git push</a:t>
            </a:r>
          </a:p>
          <a:p>
            <a:r>
              <a:rPr lang="en-US" dirty="0"/>
              <a:t>In </a:t>
            </a:r>
            <a:r>
              <a:rPr lang="en-US" dirty="0">
                <a:latin typeface="Consolas" panose="020B0609020204030204" pitchFamily="49" charset="0"/>
              </a:rPr>
              <a:t>testrepo2/</a:t>
            </a:r>
            <a:r>
              <a:rPr lang="en-US" dirty="0"/>
              <a:t> do: </a:t>
            </a:r>
            <a:r>
              <a:rPr lang="en-US" dirty="0">
                <a:solidFill>
                  <a:srgbClr val="FF0000"/>
                </a:solidFill>
                <a:latin typeface="Consolas" panose="020B0609020204030204" pitchFamily="49" charset="0"/>
              </a:rPr>
              <a:t>git commit -a</a:t>
            </a:r>
          </a:p>
        </p:txBody>
      </p:sp>
      <p:sp>
        <p:nvSpPr>
          <p:cNvPr id="10" name="TextBox 9">
            <a:extLst>
              <a:ext uri="{FF2B5EF4-FFF2-40B4-BE49-F238E27FC236}">
                <a16:creationId xmlns:a16="http://schemas.microsoft.com/office/drawing/2014/main" id="{A4ACA1D0-919E-4CB9-8E2D-851EA7FA4245}"/>
              </a:ext>
            </a:extLst>
          </p:cNvPr>
          <p:cNvSpPr txBox="1"/>
          <p:nvPr/>
        </p:nvSpPr>
        <p:spPr>
          <a:xfrm>
            <a:off x="934451" y="2646789"/>
            <a:ext cx="4998261" cy="2031325"/>
          </a:xfrm>
          <a:prstGeom prst="rect">
            <a:avLst/>
          </a:prstGeom>
          <a:noFill/>
          <a:ln>
            <a:solidFill>
              <a:schemeClr val="tx1"/>
            </a:solidFill>
          </a:ln>
        </p:spPr>
        <p:txBody>
          <a:bodyPr wrap="square" rtlCol="0">
            <a:spAutoFit/>
          </a:bodyPr>
          <a:lstStyle/>
          <a:p>
            <a:pPr lvl="1"/>
            <a:r>
              <a:rPr lang="en-US" dirty="0"/>
              <a:t>public class HelloWorld </a:t>
            </a:r>
          </a:p>
          <a:p>
            <a:pPr lvl="1"/>
            <a:r>
              <a:rPr lang="en-US" dirty="0"/>
              <a:t>{</a:t>
            </a:r>
          </a:p>
          <a:p>
            <a:pPr lvl="1"/>
            <a:r>
              <a:rPr lang="en-US" dirty="0"/>
              <a:t>    static int </a:t>
            </a:r>
            <a:r>
              <a:rPr lang="en-US" dirty="0" err="1"/>
              <a:t>myNumber</a:t>
            </a:r>
            <a:r>
              <a:rPr lang="en-US" dirty="0"/>
              <a:t> = 123;</a:t>
            </a:r>
          </a:p>
          <a:p>
            <a:pPr lvl="1"/>
            <a:r>
              <a:rPr lang="en-US" dirty="0"/>
              <a:t>    public static void main(String[] </a:t>
            </a:r>
            <a:r>
              <a:rPr lang="en-US" dirty="0" err="1"/>
              <a:t>args</a:t>
            </a:r>
            <a:r>
              <a:rPr lang="en-US" dirty="0"/>
              <a:t>) {</a:t>
            </a:r>
          </a:p>
          <a:p>
            <a:pPr lvl="1"/>
            <a:r>
              <a:rPr lang="en-US" dirty="0"/>
              <a:t>        </a:t>
            </a:r>
            <a:r>
              <a:rPr lang="en-US" dirty="0" err="1"/>
              <a:t>System.out.println</a:t>
            </a:r>
            <a:r>
              <a:rPr lang="en-US" dirty="0"/>
              <a:t>("Hello User 1");</a:t>
            </a:r>
          </a:p>
          <a:p>
            <a:pPr lvl="1"/>
            <a:r>
              <a:rPr lang="en-US" dirty="0"/>
              <a:t>    }</a:t>
            </a:r>
          </a:p>
          <a:p>
            <a:pPr lvl="1"/>
            <a:r>
              <a:rPr lang="en-US" dirty="0"/>
              <a:t>}</a:t>
            </a:r>
          </a:p>
        </p:txBody>
      </p:sp>
      <p:sp>
        <p:nvSpPr>
          <p:cNvPr id="11" name="TextBox 10">
            <a:extLst>
              <a:ext uri="{FF2B5EF4-FFF2-40B4-BE49-F238E27FC236}">
                <a16:creationId xmlns:a16="http://schemas.microsoft.com/office/drawing/2014/main" id="{4E04FAFA-A532-43A3-830A-16F89C339262}"/>
              </a:ext>
            </a:extLst>
          </p:cNvPr>
          <p:cNvSpPr txBox="1"/>
          <p:nvPr/>
        </p:nvSpPr>
        <p:spPr>
          <a:xfrm>
            <a:off x="838199" y="4678114"/>
            <a:ext cx="3412386" cy="338554"/>
          </a:xfrm>
          <a:prstGeom prst="rect">
            <a:avLst/>
          </a:prstGeom>
          <a:noFill/>
        </p:spPr>
        <p:txBody>
          <a:bodyPr wrap="square" rtlCol="0">
            <a:spAutoFit/>
          </a:bodyPr>
          <a:lstStyle/>
          <a:p>
            <a:r>
              <a:rPr lang="en-US" sz="1600" dirty="0"/>
              <a:t>File: </a:t>
            </a:r>
            <a:r>
              <a:rPr lang="en-US" sz="1600" dirty="0" err="1">
                <a:latin typeface="Consolas" panose="020B0609020204030204" pitchFamily="49" charset="0"/>
              </a:rPr>
              <a:t>testrepo</a:t>
            </a:r>
            <a:r>
              <a:rPr lang="en-US" sz="1600" dirty="0">
                <a:latin typeface="Consolas" panose="020B0609020204030204" pitchFamily="49" charset="0"/>
              </a:rPr>
              <a:t>/HelloWorld.java</a:t>
            </a:r>
          </a:p>
        </p:txBody>
      </p:sp>
      <p:sp>
        <p:nvSpPr>
          <p:cNvPr id="12" name="TextBox 11">
            <a:extLst>
              <a:ext uri="{FF2B5EF4-FFF2-40B4-BE49-F238E27FC236}">
                <a16:creationId xmlns:a16="http://schemas.microsoft.com/office/drawing/2014/main" id="{4C5E0A46-DB41-4B3F-A843-4B524F991E20}"/>
              </a:ext>
            </a:extLst>
          </p:cNvPr>
          <p:cNvSpPr txBox="1"/>
          <p:nvPr/>
        </p:nvSpPr>
        <p:spPr>
          <a:xfrm>
            <a:off x="6379886" y="2646789"/>
            <a:ext cx="4998261" cy="2031325"/>
          </a:xfrm>
          <a:prstGeom prst="rect">
            <a:avLst/>
          </a:prstGeom>
          <a:noFill/>
          <a:ln>
            <a:solidFill>
              <a:schemeClr val="tx1"/>
            </a:solidFill>
          </a:ln>
        </p:spPr>
        <p:txBody>
          <a:bodyPr wrap="square" rtlCol="0">
            <a:spAutoFit/>
          </a:bodyPr>
          <a:lstStyle/>
          <a:p>
            <a:pPr lvl="1"/>
            <a:r>
              <a:rPr lang="en-US" dirty="0"/>
              <a:t>public class HelloWorld </a:t>
            </a:r>
          </a:p>
          <a:p>
            <a:pPr lvl="1"/>
            <a:r>
              <a:rPr lang="en-US" dirty="0"/>
              <a:t>{</a:t>
            </a:r>
          </a:p>
          <a:p>
            <a:pPr lvl="1"/>
            <a:r>
              <a:rPr lang="en-US" dirty="0"/>
              <a:t>    static int </a:t>
            </a:r>
            <a:r>
              <a:rPr lang="en-US" dirty="0" err="1"/>
              <a:t>myNumber</a:t>
            </a:r>
            <a:r>
              <a:rPr lang="en-US" dirty="0"/>
              <a:t> = 123;</a:t>
            </a:r>
          </a:p>
          <a:p>
            <a:pPr lvl="1"/>
            <a:r>
              <a:rPr lang="en-US" dirty="0"/>
              <a:t>    public static void main(String[] </a:t>
            </a:r>
            <a:r>
              <a:rPr lang="en-US" dirty="0" err="1"/>
              <a:t>args</a:t>
            </a:r>
            <a:r>
              <a:rPr lang="en-US" dirty="0"/>
              <a:t>) {</a:t>
            </a:r>
          </a:p>
          <a:p>
            <a:pPr lvl="1"/>
            <a:r>
              <a:rPr lang="en-US" dirty="0"/>
              <a:t>        </a:t>
            </a:r>
            <a:r>
              <a:rPr lang="en-US" dirty="0" err="1"/>
              <a:t>System.out.println</a:t>
            </a:r>
            <a:r>
              <a:rPr lang="en-US" dirty="0"/>
              <a:t>("Hello User 2");</a:t>
            </a:r>
          </a:p>
          <a:p>
            <a:pPr lvl="1"/>
            <a:r>
              <a:rPr lang="en-US" dirty="0"/>
              <a:t>    }</a:t>
            </a:r>
          </a:p>
          <a:p>
            <a:pPr lvl="1"/>
            <a:r>
              <a:rPr lang="en-US" dirty="0"/>
              <a:t>}</a:t>
            </a:r>
          </a:p>
        </p:txBody>
      </p:sp>
      <p:sp>
        <p:nvSpPr>
          <p:cNvPr id="13" name="TextBox 12">
            <a:extLst>
              <a:ext uri="{FF2B5EF4-FFF2-40B4-BE49-F238E27FC236}">
                <a16:creationId xmlns:a16="http://schemas.microsoft.com/office/drawing/2014/main" id="{F941C4E1-9BB7-47C7-A14B-496460AA711B}"/>
              </a:ext>
            </a:extLst>
          </p:cNvPr>
          <p:cNvSpPr txBox="1"/>
          <p:nvPr/>
        </p:nvSpPr>
        <p:spPr>
          <a:xfrm>
            <a:off x="6283634" y="4678114"/>
            <a:ext cx="3412386" cy="338554"/>
          </a:xfrm>
          <a:prstGeom prst="rect">
            <a:avLst/>
          </a:prstGeom>
          <a:noFill/>
        </p:spPr>
        <p:txBody>
          <a:bodyPr wrap="square" rtlCol="0">
            <a:spAutoFit/>
          </a:bodyPr>
          <a:lstStyle/>
          <a:p>
            <a:r>
              <a:rPr lang="en-US" sz="1600" dirty="0"/>
              <a:t>File: </a:t>
            </a:r>
            <a:r>
              <a:rPr lang="en-US" sz="1600" dirty="0">
                <a:latin typeface="Consolas" panose="020B0609020204030204" pitchFamily="49" charset="0"/>
              </a:rPr>
              <a:t>testrepo2/HelloWorld.java</a:t>
            </a:r>
          </a:p>
        </p:txBody>
      </p:sp>
    </p:spTree>
    <p:extLst>
      <p:ext uri="{BB962C8B-B14F-4D97-AF65-F5344CB8AC3E}">
        <p14:creationId xmlns:p14="http://schemas.microsoft.com/office/powerpoint/2010/main" val="28247045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Conflicting changes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560668"/>
            <a:ext cx="11083377" cy="5225143"/>
          </a:xfrm>
        </p:spPr>
        <p:txBody>
          <a:bodyPr>
            <a:normAutofit lnSpcReduction="10000"/>
          </a:bodyPr>
          <a:lstStyle/>
          <a:p>
            <a:r>
              <a:rPr lang="en-US" dirty="0"/>
              <a:t>Trying to </a:t>
            </a:r>
            <a:r>
              <a:rPr lang="en-US" i="1" dirty="0"/>
              <a:t>push</a:t>
            </a:r>
            <a:r>
              <a:rPr lang="en-US" dirty="0"/>
              <a:t> the changes from </a:t>
            </a:r>
            <a:r>
              <a:rPr lang="en-US" dirty="0">
                <a:latin typeface="Consolas" panose="020B0609020204030204" pitchFamily="49" charset="0"/>
              </a:rPr>
              <a:t>testrepo2/</a:t>
            </a:r>
            <a:r>
              <a:rPr lang="en-US" dirty="0"/>
              <a:t> won’t work now for the same reason as before: the </a:t>
            </a:r>
            <a:r>
              <a:rPr lang="en-US" i="1" dirty="0"/>
              <a:t>remote</a:t>
            </a:r>
            <a:r>
              <a:rPr lang="en-US" dirty="0"/>
              <a:t> is ahead of the </a:t>
            </a:r>
            <a:r>
              <a:rPr lang="en-US" i="1" dirty="0"/>
              <a:t>local branch</a:t>
            </a:r>
            <a:r>
              <a:rPr lang="en-US" dirty="0"/>
              <a:t> in </a:t>
            </a:r>
            <a:r>
              <a:rPr lang="en-US" dirty="0">
                <a:latin typeface="Consolas" panose="020B0609020204030204" pitchFamily="49" charset="0"/>
              </a:rPr>
              <a:t>testrepo2/</a:t>
            </a:r>
          </a:p>
          <a:p>
            <a:r>
              <a:rPr lang="en-US" dirty="0"/>
              <a:t>Again, the solution is to </a:t>
            </a:r>
            <a:r>
              <a:rPr lang="en-US" i="1" dirty="0"/>
              <a:t>pull</a:t>
            </a:r>
            <a:r>
              <a:rPr lang="en-US" dirty="0"/>
              <a:t> the new changed and </a:t>
            </a:r>
            <a:r>
              <a:rPr lang="en-US" i="1" dirty="0"/>
              <a:t>merge</a:t>
            </a:r>
            <a:r>
              <a:rPr lang="en-US" dirty="0"/>
              <a:t> with the </a:t>
            </a:r>
            <a:r>
              <a:rPr lang="en-US" i="1" dirty="0"/>
              <a:t>local branch</a:t>
            </a:r>
            <a:r>
              <a:rPr lang="en-US" dirty="0"/>
              <a:t> in </a:t>
            </a:r>
            <a:r>
              <a:rPr lang="en-US" dirty="0">
                <a:latin typeface="Consolas" panose="020B0609020204030204" pitchFamily="49" charset="0"/>
              </a:rPr>
              <a:t>testrepo2/</a:t>
            </a:r>
          </a:p>
          <a:p>
            <a:r>
              <a:rPr lang="en-US" dirty="0"/>
              <a:t>However, now there is a problem: how should </a:t>
            </a:r>
            <a:r>
              <a:rPr lang="en-US" i="1" dirty="0"/>
              <a:t>merge</a:t>
            </a:r>
            <a:r>
              <a:rPr lang="en-US" dirty="0"/>
              <a:t> work since the changes are conflicting?</a:t>
            </a:r>
          </a:p>
          <a:p>
            <a:r>
              <a:rPr lang="en-US" dirty="0"/>
              <a:t>Do </a:t>
            </a:r>
            <a:r>
              <a:rPr lang="en-US" dirty="0">
                <a:solidFill>
                  <a:srgbClr val="FF0000"/>
                </a:solidFill>
                <a:latin typeface="Consolas" panose="020B0609020204030204" pitchFamily="49" charset="0"/>
              </a:rPr>
              <a:t>git pull</a:t>
            </a:r>
            <a:r>
              <a:rPr lang="en-US" dirty="0"/>
              <a:t> and observe the warning about merge conflicts in </a:t>
            </a:r>
            <a:r>
              <a:rPr lang="en-US" dirty="0">
                <a:latin typeface="Consolas" panose="020B0609020204030204" pitchFamily="49" charset="0"/>
              </a:rPr>
              <a:t>HelloWorld.java</a:t>
            </a:r>
          </a:p>
          <a:p>
            <a:r>
              <a:rPr lang="en-US" dirty="0">
                <a:solidFill>
                  <a:srgbClr val="FF0000"/>
                </a:solidFill>
                <a:latin typeface="Consolas" panose="020B0609020204030204" pitchFamily="49" charset="0"/>
              </a:rPr>
              <a:t>git status</a:t>
            </a:r>
            <a:r>
              <a:rPr lang="en-US" dirty="0"/>
              <a:t> shows what is going on</a:t>
            </a:r>
          </a:p>
          <a:p>
            <a:pPr lvl="1"/>
            <a:r>
              <a:rPr lang="en-US" dirty="0"/>
              <a:t>the </a:t>
            </a:r>
            <a:r>
              <a:rPr lang="en-US" i="1" dirty="0"/>
              <a:t>merge</a:t>
            </a:r>
            <a:r>
              <a:rPr lang="en-US" dirty="0"/>
              <a:t> process could not be finished</a:t>
            </a:r>
          </a:p>
          <a:p>
            <a:pPr lvl="1"/>
            <a:r>
              <a:rPr lang="en-US" dirty="0"/>
              <a:t>there is one file that is </a:t>
            </a:r>
            <a:r>
              <a:rPr lang="en-US" i="1" dirty="0"/>
              <a:t>unmerged</a:t>
            </a:r>
            <a:r>
              <a:rPr lang="en-US" dirty="0"/>
              <a:t> (both modified </a:t>
            </a:r>
            <a:r>
              <a:rPr lang="en-US" dirty="0">
                <a:latin typeface="Consolas" panose="020B0609020204030204" pitchFamily="49" charset="0"/>
              </a:rPr>
              <a:t>HelloWorld.java</a:t>
            </a:r>
            <a:r>
              <a:rPr lang="en-US" dirty="0"/>
              <a:t>); </a:t>
            </a:r>
            <a:r>
              <a:rPr lang="en-US" dirty="0">
                <a:solidFill>
                  <a:srgbClr val="FF0000"/>
                </a:solidFill>
                <a:latin typeface="Consolas" panose="020B0609020204030204" pitchFamily="49" charset="0"/>
              </a:rPr>
              <a:t>git merge --abort</a:t>
            </a:r>
            <a:r>
              <a:rPr lang="en-US" dirty="0"/>
              <a:t> would revert the </a:t>
            </a:r>
            <a:r>
              <a:rPr lang="en-US" i="1" dirty="0"/>
              <a:t>merge</a:t>
            </a:r>
            <a:r>
              <a:rPr lang="en-US" dirty="0"/>
              <a:t> attempt</a:t>
            </a:r>
          </a:p>
        </p:txBody>
      </p:sp>
    </p:spTree>
    <p:extLst>
      <p:ext uri="{BB962C8B-B14F-4D97-AF65-F5344CB8AC3E}">
        <p14:creationId xmlns:p14="http://schemas.microsoft.com/office/powerpoint/2010/main" val="20212779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Conflicting changes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739423"/>
            <a:ext cx="11083377" cy="4881383"/>
          </a:xfrm>
        </p:spPr>
        <p:txBody>
          <a:bodyPr>
            <a:normAutofit/>
          </a:bodyPr>
          <a:lstStyle/>
          <a:p>
            <a:r>
              <a:rPr lang="en-US" dirty="0"/>
              <a:t>The conflict needs to be resolved by hand</a:t>
            </a:r>
          </a:p>
          <a:p>
            <a:pPr lvl="1"/>
            <a:r>
              <a:rPr lang="en-US" dirty="0"/>
              <a:t>This can be done entirely manually and is not too hard</a:t>
            </a:r>
          </a:p>
          <a:p>
            <a:pPr lvl="1"/>
            <a:r>
              <a:rPr lang="en-US" dirty="0"/>
              <a:t>There are multiple graphical tools to help with merging</a:t>
            </a:r>
          </a:p>
          <a:p>
            <a:pPr lvl="1"/>
            <a:r>
              <a:rPr lang="en-US" dirty="0"/>
              <a:t>There are also some text-based tools such as </a:t>
            </a:r>
            <a:r>
              <a:rPr lang="en-US" dirty="0" err="1">
                <a:latin typeface="Consolas" panose="020B0609020204030204" pitchFamily="49" charset="0"/>
              </a:rPr>
              <a:t>vimdiff</a:t>
            </a:r>
            <a:endParaRPr lang="en-US" dirty="0">
              <a:latin typeface="Consolas" panose="020B0609020204030204" pitchFamily="49" charset="0"/>
            </a:endParaRPr>
          </a:p>
          <a:p>
            <a:r>
              <a:rPr lang="en-US" dirty="0"/>
              <a:t>We will do this by hand so open up </a:t>
            </a:r>
            <a:r>
              <a:rPr lang="en-US" dirty="0">
                <a:latin typeface="Consolas" panose="020B0609020204030204" pitchFamily="49" charset="0"/>
              </a:rPr>
              <a:t>HelloWorld.java</a:t>
            </a:r>
            <a:r>
              <a:rPr lang="en-US" dirty="0"/>
              <a:t> in any text editor</a:t>
            </a:r>
          </a:p>
          <a:p>
            <a:endParaRPr lang="en-US" dirty="0"/>
          </a:p>
        </p:txBody>
      </p:sp>
    </p:spTree>
    <p:extLst>
      <p:ext uri="{BB962C8B-B14F-4D97-AF65-F5344CB8AC3E}">
        <p14:creationId xmlns:p14="http://schemas.microsoft.com/office/powerpoint/2010/main" val="33034406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Merging</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739423"/>
            <a:ext cx="11083377" cy="4881383"/>
          </a:xfrm>
        </p:spPr>
        <p:txBody>
          <a:bodyPr>
            <a:normAutofit/>
          </a:bodyPr>
          <a:lstStyle/>
          <a:p>
            <a:r>
              <a:rPr lang="en-US" dirty="0"/>
              <a:t>You should see something like:</a:t>
            </a:r>
          </a:p>
          <a:p>
            <a:endParaRPr lang="en-US" dirty="0"/>
          </a:p>
          <a:p>
            <a:endParaRPr lang="en-US" dirty="0"/>
          </a:p>
        </p:txBody>
      </p:sp>
      <p:sp>
        <p:nvSpPr>
          <p:cNvPr id="5" name="TextBox 4">
            <a:extLst>
              <a:ext uri="{FF2B5EF4-FFF2-40B4-BE49-F238E27FC236}">
                <a16:creationId xmlns:a16="http://schemas.microsoft.com/office/drawing/2014/main" id="{5E0116D6-BA9D-4FF2-8992-F62D69DEC119}"/>
              </a:ext>
            </a:extLst>
          </p:cNvPr>
          <p:cNvSpPr txBox="1"/>
          <p:nvPr/>
        </p:nvSpPr>
        <p:spPr>
          <a:xfrm>
            <a:off x="3093547" y="5828549"/>
            <a:ext cx="3412386" cy="338554"/>
          </a:xfrm>
          <a:prstGeom prst="rect">
            <a:avLst/>
          </a:prstGeom>
          <a:noFill/>
        </p:spPr>
        <p:txBody>
          <a:bodyPr wrap="square" rtlCol="0">
            <a:spAutoFit/>
          </a:bodyPr>
          <a:lstStyle/>
          <a:p>
            <a:r>
              <a:rPr lang="en-US" sz="1600" dirty="0"/>
              <a:t>File: </a:t>
            </a:r>
            <a:r>
              <a:rPr lang="en-US" sz="1600" dirty="0">
                <a:latin typeface="Consolas" panose="020B0609020204030204" pitchFamily="49" charset="0"/>
              </a:rPr>
              <a:t>testrepo2/HelloWorld.java</a:t>
            </a:r>
          </a:p>
        </p:txBody>
      </p:sp>
      <p:sp>
        <p:nvSpPr>
          <p:cNvPr id="6" name="TextBox 5">
            <a:extLst>
              <a:ext uri="{FF2B5EF4-FFF2-40B4-BE49-F238E27FC236}">
                <a16:creationId xmlns:a16="http://schemas.microsoft.com/office/drawing/2014/main" id="{A1C2DF38-F87F-4330-93F8-F99B75E224E5}"/>
              </a:ext>
            </a:extLst>
          </p:cNvPr>
          <p:cNvSpPr txBox="1"/>
          <p:nvPr/>
        </p:nvSpPr>
        <p:spPr>
          <a:xfrm>
            <a:off x="3200685" y="2640493"/>
            <a:ext cx="6358403" cy="3139321"/>
          </a:xfrm>
          <a:prstGeom prst="rect">
            <a:avLst/>
          </a:prstGeom>
          <a:noFill/>
          <a:ln>
            <a:solidFill>
              <a:schemeClr val="tx1"/>
            </a:solidFill>
          </a:ln>
        </p:spPr>
        <p:txBody>
          <a:bodyPr wrap="square" rtlCol="0">
            <a:spAutoFit/>
          </a:bodyPr>
          <a:lstStyle/>
          <a:p>
            <a:pPr lvl="1"/>
            <a:r>
              <a:rPr lang="en-US" dirty="0"/>
              <a:t>public class HelloWorld </a:t>
            </a:r>
          </a:p>
          <a:p>
            <a:pPr lvl="1"/>
            <a:r>
              <a:rPr lang="en-US" dirty="0"/>
              <a:t>{</a:t>
            </a:r>
          </a:p>
          <a:p>
            <a:pPr lvl="1"/>
            <a:r>
              <a:rPr lang="en-US" dirty="0"/>
              <a:t>    static int </a:t>
            </a:r>
            <a:r>
              <a:rPr lang="en-US" dirty="0" err="1"/>
              <a:t>myNumber</a:t>
            </a:r>
            <a:r>
              <a:rPr lang="en-US" dirty="0"/>
              <a:t> = 123;</a:t>
            </a:r>
          </a:p>
          <a:p>
            <a:pPr lvl="1"/>
            <a:r>
              <a:rPr lang="en-US" dirty="0"/>
              <a:t>    public static void main(String[] </a:t>
            </a:r>
            <a:r>
              <a:rPr lang="en-US" dirty="0" err="1"/>
              <a:t>args</a:t>
            </a:r>
            <a:r>
              <a:rPr lang="en-US" dirty="0"/>
              <a:t>) {</a:t>
            </a:r>
          </a:p>
          <a:p>
            <a:pPr lvl="1"/>
            <a:r>
              <a:rPr lang="en-US" dirty="0"/>
              <a:t>&lt;&lt;&lt;&lt;&lt;&lt;&lt; HEAD</a:t>
            </a:r>
          </a:p>
          <a:p>
            <a:pPr lvl="1"/>
            <a:r>
              <a:rPr lang="en-US" dirty="0"/>
              <a:t>        </a:t>
            </a:r>
            <a:r>
              <a:rPr lang="en-US" dirty="0" err="1"/>
              <a:t>System.out.println</a:t>
            </a:r>
            <a:r>
              <a:rPr lang="en-US" dirty="0"/>
              <a:t>("Hello User 2");</a:t>
            </a:r>
          </a:p>
          <a:p>
            <a:pPr lvl="1"/>
            <a:r>
              <a:rPr lang="en-US" dirty="0"/>
              <a:t>=======</a:t>
            </a:r>
          </a:p>
          <a:p>
            <a:pPr lvl="1"/>
            <a:r>
              <a:rPr lang="en-US" dirty="0"/>
              <a:t>        </a:t>
            </a:r>
            <a:r>
              <a:rPr lang="en-US" dirty="0" err="1"/>
              <a:t>System.out.println</a:t>
            </a:r>
            <a:r>
              <a:rPr lang="en-US" dirty="0"/>
              <a:t>("Hello User 2");</a:t>
            </a:r>
          </a:p>
          <a:p>
            <a:pPr lvl="1"/>
            <a:r>
              <a:rPr lang="en-US" dirty="0"/>
              <a:t>&gt;&gt;&gt;&gt;&gt;&gt;&gt; d58edf6afc23bfbdda1dfa6fa67a7cb438bbd160</a:t>
            </a:r>
          </a:p>
          <a:p>
            <a:pPr lvl="1"/>
            <a:r>
              <a:rPr lang="en-US" dirty="0"/>
              <a:t>    }</a:t>
            </a:r>
          </a:p>
          <a:p>
            <a:pPr lvl="1"/>
            <a:r>
              <a:rPr lang="en-US" dirty="0"/>
              <a:t>}</a:t>
            </a:r>
          </a:p>
        </p:txBody>
      </p:sp>
      <p:sp>
        <p:nvSpPr>
          <p:cNvPr id="7" name="TextBox 6">
            <a:extLst>
              <a:ext uri="{FF2B5EF4-FFF2-40B4-BE49-F238E27FC236}">
                <a16:creationId xmlns:a16="http://schemas.microsoft.com/office/drawing/2014/main" id="{743BEF3D-8D31-42D0-AD1A-C8B5C6E9DF88}"/>
              </a:ext>
            </a:extLst>
          </p:cNvPr>
          <p:cNvSpPr txBox="1"/>
          <p:nvPr/>
        </p:nvSpPr>
        <p:spPr>
          <a:xfrm>
            <a:off x="270424" y="2504706"/>
            <a:ext cx="2768409" cy="307777"/>
          </a:xfrm>
          <a:prstGeom prst="rect">
            <a:avLst/>
          </a:prstGeom>
          <a:noFill/>
          <a:ln w="12700">
            <a:solidFill>
              <a:srgbClr val="0070C0"/>
            </a:solidFill>
          </a:ln>
        </p:spPr>
        <p:txBody>
          <a:bodyPr wrap="square" rtlCol="0">
            <a:spAutoFit/>
          </a:bodyPr>
          <a:lstStyle/>
          <a:p>
            <a:pPr algn="ctr"/>
            <a:r>
              <a:rPr lang="en-US" sz="1400" dirty="0"/>
              <a:t>Indicates start of conflicting section</a:t>
            </a:r>
          </a:p>
        </p:txBody>
      </p:sp>
      <p:cxnSp>
        <p:nvCxnSpPr>
          <p:cNvPr id="9" name="Connector: Elbow 8">
            <a:extLst>
              <a:ext uri="{FF2B5EF4-FFF2-40B4-BE49-F238E27FC236}">
                <a16:creationId xmlns:a16="http://schemas.microsoft.com/office/drawing/2014/main" id="{39280641-A25D-430B-A95D-A905C41D7030}"/>
              </a:ext>
            </a:extLst>
          </p:cNvPr>
          <p:cNvCxnSpPr>
            <a:cxnSpLocks/>
            <a:stCxn id="7" idx="2"/>
          </p:cNvCxnSpPr>
          <p:nvPr/>
        </p:nvCxnSpPr>
        <p:spPr>
          <a:xfrm rot="16200000" flipH="1">
            <a:off x="1972300" y="2494812"/>
            <a:ext cx="1140748" cy="1776090"/>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69C0DE5-92A8-45AE-AF85-49B8E90A2162}"/>
              </a:ext>
            </a:extLst>
          </p:cNvPr>
          <p:cNvSpPr txBox="1"/>
          <p:nvPr/>
        </p:nvSpPr>
        <p:spPr>
          <a:xfrm>
            <a:off x="268133" y="4115637"/>
            <a:ext cx="2768409" cy="523220"/>
          </a:xfrm>
          <a:prstGeom prst="rect">
            <a:avLst/>
          </a:prstGeom>
          <a:noFill/>
          <a:ln w="12700">
            <a:solidFill>
              <a:srgbClr val="0070C0"/>
            </a:solidFill>
          </a:ln>
        </p:spPr>
        <p:txBody>
          <a:bodyPr wrap="square" rtlCol="0">
            <a:spAutoFit/>
          </a:bodyPr>
          <a:lstStyle/>
          <a:p>
            <a:pPr algn="ctr"/>
            <a:r>
              <a:rPr lang="en-US" sz="1400" dirty="0"/>
              <a:t>This is what current HEAD (local copy) looks like</a:t>
            </a:r>
          </a:p>
        </p:txBody>
      </p:sp>
      <p:cxnSp>
        <p:nvCxnSpPr>
          <p:cNvPr id="12" name="Connector: Elbow 11">
            <a:extLst>
              <a:ext uri="{FF2B5EF4-FFF2-40B4-BE49-F238E27FC236}">
                <a16:creationId xmlns:a16="http://schemas.microsoft.com/office/drawing/2014/main" id="{5FCD95AD-F7A0-4325-9EEF-2B26E6F887F6}"/>
              </a:ext>
            </a:extLst>
          </p:cNvPr>
          <p:cNvCxnSpPr>
            <a:cxnSpLocks/>
            <a:stCxn id="11" idx="3"/>
          </p:cNvCxnSpPr>
          <p:nvPr/>
        </p:nvCxnSpPr>
        <p:spPr>
          <a:xfrm flipV="1">
            <a:off x="3036542" y="4207615"/>
            <a:ext cx="394178" cy="169632"/>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F1AF5C1-6EC0-4FFD-AE05-0A634169BD7C}"/>
              </a:ext>
            </a:extLst>
          </p:cNvPr>
          <p:cNvSpPr txBox="1"/>
          <p:nvPr/>
        </p:nvSpPr>
        <p:spPr>
          <a:xfrm>
            <a:off x="286036" y="4805774"/>
            <a:ext cx="2768409" cy="523220"/>
          </a:xfrm>
          <a:prstGeom prst="rect">
            <a:avLst/>
          </a:prstGeom>
          <a:noFill/>
          <a:ln w="12700">
            <a:solidFill>
              <a:srgbClr val="0070C0"/>
            </a:solidFill>
          </a:ln>
        </p:spPr>
        <p:txBody>
          <a:bodyPr wrap="square" rtlCol="0">
            <a:spAutoFit/>
          </a:bodyPr>
          <a:lstStyle/>
          <a:p>
            <a:pPr algn="ctr"/>
            <a:r>
              <a:rPr lang="en-US" sz="1400" dirty="0"/>
              <a:t>This is what remote branch looks like</a:t>
            </a:r>
          </a:p>
        </p:txBody>
      </p:sp>
      <p:cxnSp>
        <p:nvCxnSpPr>
          <p:cNvPr id="20" name="Connector: Elbow 19">
            <a:extLst>
              <a:ext uri="{FF2B5EF4-FFF2-40B4-BE49-F238E27FC236}">
                <a16:creationId xmlns:a16="http://schemas.microsoft.com/office/drawing/2014/main" id="{3FA0188E-4DF7-4B6F-9224-2866D37C3C17}"/>
              </a:ext>
            </a:extLst>
          </p:cNvPr>
          <p:cNvCxnSpPr>
            <a:cxnSpLocks/>
            <a:stCxn id="19" idx="3"/>
          </p:cNvCxnSpPr>
          <p:nvPr/>
        </p:nvCxnSpPr>
        <p:spPr>
          <a:xfrm flipV="1">
            <a:off x="3054445" y="4730837"/>
            <a:ext cx="376275" cy="336547"/>
          </a:xfrm>
          <a:prstGeom prst="bentConnector3">
            <a:avLst>
              <a:gd name="adj1" fmla="val 50000"/>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850FFBF7-CCC7-429F-993A-609E2A0EBD26}"/>
              </a:ext>
            </a:extLst>
          </p:cNvPr>
          <p:cNvSpPr txBox="1"/>
          <p:nvPr/>
        </p:nvSpPr>
        <p:spPr>
          <a:xfrm>
            <a:off x="8346478" y="6102880"/>
            <a:ext cx="3575097" cy="523220"/>
          </a:xfrm>
          <a:prstGeom prst="rect">
            <a:avLst/>
          </a:prstGeom>
          <a:noFill/>
          <a:ln w="12700">
            <a:solidFill>
              <a:srgbClr val="0070C0"/>
            </a:solidFill>
          </a:ln>
        </p:spPr>
        <p:txBody>
          <a:bodyPr wrap="square" rtlCol="0">
            <a:spAutoFit/>
          </a:bodyPr>
          <a:lstStyle/>
          <a:p>
            <a:pPr algn="ctr"/>
            <a:r>
              <a:rPr lang="en-US" sz="1400" dirty="0"/>
              <a:t>Name of the conflicting commit/branch; end of conflicting section</a:t>
            </a:r>
          </a:p>
        </p:txBody>
      </p:sp>
      <p:cxnSp>
        <p:nvCxnSpPr>
          <p:cNvPr id="35" name="Connector: Elbow 34">
            <a:extLst>
              <a:ext uri="{FF2B5EF4-FFF2-40B4-BE49-F238E27FC236}">
                <a16:creationId xmlns:a16="http://schemas.microsoft.com/office/drawing/2014/main" id="{BCB0E1F4-9745-44DC-9E55-E174CFF178F3}"/>
              </a:ext>
            </a:extLst>
          </p:cNvPr>
          <p:cNvCxnSpPr>
            <a:cxnSpLocks/>
            <a:stCxn id="22" idx="0"/>
          </p:cNvCxnSpPr>
          <p:nvPr/>
        </p:nvCxnSpPr>
        <p:spPr>
          <a:xfrm rot="16200000" flipV="1">
            <a:off x="9203585" y="5172438"/>
            <a:ext cx="1097742" cy="763142"/>
          </a:xfrm>
          <a:prstGeom prst="bentConnector3">
            <a:avLst>
              <a:gd name="adj1" fmla="val 100104"/>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95862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Merging</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739423"/>
            <a:ext cx="11083377" cy="5025762"/>
          </a:xfrm>
        </p:spPr>
        <p:txBody>
          <a:bodyPr>
            <a:normAutofit/>
          </a:bodyPr>
          <a:lstStyle/>
          <a:p>
            <a:r>
              <a:rPr lang="en-US" dirty="0"/>
              <a:t>To merge manually, you need to get rid of all of the sections marked as conflicts</a:t>
            </a:r>
          </a:p>
          <a:p>
            <a:r>
              <a:rPr lang="en-US" dirty="0"/>
              <a:t>Change the file to:</a:t>
            </a:r>
          </a:p>
          <a:p>
            <a:endParaRPr lang="en-US" dirty="0"/>
          </a:p>
          <a:p>
            <a:endParaRPr lang="en-US" dirty="0"/>
          </a:p>
          <a:p>
            <a:endParaRPr lang="en-US" dirty="0"/>
          </a:p>
          <a:p>
            <a:endParaRPr lang="en-US" dirty="0"/>
          </a:p>
          <a:p>
            <a:endParaRPr lang="en-US" dirty="0"/>
          </a:p>
          <a:p>
            <a:pPr marL="0" indent="0">
              <a:buNone/>
            </a:pPr>
            <a:endParaRPr lang="en-US" dirty="0"/>
          </a:p>
        </p:txBody>
      </p:sp>
      <p:sp>
        <p:nvSpPr>
          <p:cNvPr id="5" name="TextBox 4">
            <a:extLst>
              <a:ext uri="{FF2B5EF4-FFF2-40B4-BE49-F238E27FC236}">
                <a16:creationId xmlns:a16="http://schemas.microsoft.com/office/drawing/2014/main" id="{5E0116D6-BA9D-4FF2-8992-F62D69DEC119}"/>
              </a:ext>
            </a:extLst>
          </p:cNvPr>
          <p:cNvSpPr txBox="1"/>
          <p:nvPr/>
        </p:nvSpPr>
        <p:spPr>
          <a:xfrm>
            <a:off x="2967501" y="5460325"/>
            <a:ext cx="3412386" cy="338554"/>
          </a:xfrm>
          <a:prstGeom prst="rect">
            <a:avLst/>
          </a:prstGeom>
          <a:noFill/>
        </p:spPr>
        <p:txBody>
          <a:bodyPr wrap="square" rtlCol="0">
            <a:spAutoFit/>
          </a:bodyPr>
          <a:lstStyle/>
          <a:p>
            <a:r>
              <a:rPr lang="en-US" sz="1600" dirty="0"/>
              <a:t>File: </a:t>
            </a:r>
            <a:r>
              <a:rPr lang="en-US" sz="1600" dirty="0">
                <a:latin typeface="Consolas" panose="020B0609020204030204" pitchFamily="49" charset="0"/>
              </a:rPr>
              <a:t>testrepo2/HelloWorld.java</a:t>
            </a:r>
          </a:p>
        </p:txBody>
      </p:sp>
      <p:sp>
        <p:nvSpPr>
          <p:cNvPr id="6" name="TextBox 5">
            <a:extLst>
              <a:ext uri="{FF2B5EF4-FFF2-40B4-BE49-F238E27FC236}">
                <a16:creationId xmlns:a16="http://schemas.microsoft.com/office/drawing/2014/main" id="{A1C2DF38-F87F-4330-93F8-F99B75E224E5}"/>
              </a:ext>
            </a:extLst>
          </p:cNvPr>
          <p:cNvSpPr txBox="1"/>
          <p:nvPr/>
        </p:nvSpPr>
        <p:spPr>
          <a:xfrm>
            <a:off x="3093547" y="3429000"/>
            <a:ext cx="5345174" cy="2031325"/>
          </a:xfrm>
          <a:prstGeom prst="rect">
            <a:avLst/>
          </a:prstGeom>
          <a:noFill/>
          <a:ln>
            <a:solidFill>
              <a:schemeClr val="tx1"/>
            </a:solidFill>
          </a:ln>
        </p:spPr>
        <p:txBody>
          <a:bodyPr wrap="square" rtlCol="0">
            <a:spAutoFit/>
          </a:bodyPr>
          <a:lstStyle/>
          <a:p>
            <a:pPr lvl="1"/>
            <a:r>
              <a:rPr lang="en-US" dirty="0"/>
              <a:t>public class HelloWorld </a:t>
            </a:r>
          </a:p>
          <a:p>
            <a:pPr lvl="1"/>
            <a:r>
              <a:rPr lang="en-US" dirty="0"/>
              <a:t>{</a:t>
            </a:r>
          </a:p>
          <a:p>
            <a:pPr lvl="1"/>
            <a:r>
              <a:rPr lang="en-US" dirty="0"/>
              <a:t>    static int </a:t>
            </a:r>
            <a:r>
              <a:rPr lang="en-US" dirty="0" err="1"/>
              <a:t>myNumber</a:t>
            </a:r>
            <a:r>
              <a:rPr lang="en-US" dirty="0"/>
              <a:t> = 123;</a:t>
            </a:r>
          </a:p>
          <a:p>
            <a:pPr lvl="1"/>
            <a:r>
              <a:rPr lang="en-US" dirty="0"/>
              <a:t>    public static void main(String[] </a:t>
            </a:r>
            <a:r>
              <a:rPr lang="en-US" dirty="0" err="1"/>
              <a:t>args</a:t>
            </a:r>
            <a:r>
              <a:rPr lang="en-US" dirty="0"/>
              <a:t>) {</a:t>
            </a:r>
          </a:p>
          <a:p>
            <a:pPr lvl="1"/>
            <a:r>
              <a:rPr lang="en-US" dirty="0"/>
              <a:t>        </a:t>
            </a:r>
            <a:r>
              <a:rPr lang="en-US" dirty="0" err="1"/>
              <a:t>System.out.println</a:t>
            </a:r>
            <a:r>
              <a:rPr lang="en-US" dirty="0"/>
              <a:t>("Hello everyone");</a:t>
            </a:r>
          </a:p>
          <a:p>
            <a:pPr lvl="1"/>
            <a:r>
              <a:rPr lang="en-US" dirty="0"/>
              <a:t>    }</a:t>
            </a:r>
          </a:p>
          <a:p>
            <a:pPr lvl="1"/>
            <a:r>
              <a:rPr lang="en-US" dirty="0"/>
              <a:t>}</a:t>
            </a:r>
          </a:p>
        </p:txBody>
      </p:sp>
    </p:spTree>
    <p:extLst>
      <p:ext uri="{BB962C8B-B14F-4D97-AF65-F5344CB8AC3E}">
        <p14:creationId xmlns:p14="http://schemas.microsoft.com/office/powerpoint/2010/main" val="37731188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Completing the merge</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739423"/>
            <a:ext cx="11083377" cy="5025762"/>
          </a:xfrm>
        </p:spPr>
        <p:txBody>
          <a:bodyPr>
            <a:normAutofit/>
          </a:bodyPr>
          <a:lstStyle/>
          <a:p>
            <a:r>
              <a:rPr lang="en-US" dirty="0"/>
              <a:t>To complete the </a:t>
            </a:r>
            <a:r>
              <a:rPr lang="en-US" i="1" dirty="0"/>
              <a:t>merge</a:t>
            </a:r>
            <a:r>
              <a:rPr lang="en-US" dirty="0"/>
              <a:t>, type </a:t>
            </a:r>
            <a:r>
              <a:rPr lang="en-US" dirty="0">
                <a:solidFill>
                  <a:srgbClr val="FF0000"/>
                </a:solidFill>
                <a:latin typeface="Consolas" panose="020B0609020204030204" pitchFamily="49" charset="0"/>
              </a:rPr>
              <a:t>git commit –a</a:t>
            </a:r>
            <a:r>
              <a:rPr lang="en-US" dirty="0"/>
              <a:t> </a:t>
            </a:r>
          </a:p>
          <a:p>
            <a:r>
              <a:rPr lang="en-US" dirty="0"/>
              <a:t>The changes should also be </a:t>
            </a:r>
            <a:r>
              <a:rPr lang="en-US" i="1" dirty="0"/>
              <a:t>pushed</a:t>
            </a:r>
            <a:r>
              <a:rPr lang="en-US" dirty="0"/>
              <a:t> to the </a:t>
            </a:r>
            <a:r>
              <a:rPr lang="en-US" i="1" dirty="0"/>
              <a:t>remote</a:t>
            </a:r>
            <a:r>
              <a:rPr lang="en-US" dirty="0"/>
              <a:t> so do </a:t>
            </a:r>
            <a:r>
              <a:rPr lang="en-US" dirty="0">
                <a:solidFill>
                  <a:srgbClr val="FF0000"/>
                </a:solidFill>
                <a:latin typeface="Consolas" panose="020B0609020204030204" pitchFamily="49" charset="0"/>
              </a:rPr>
              <a:t>git push</a:t>
            </a:r>
          </a:p>
          <a:p>
            <a:r>
              <a:rPr lang="en-US" dirty="0"/>
              <a:t>Change to </a:t>
            </a:r>
            <a:r>
              <a:rPr lang="en-US" dirty="0" err="1">
                <a:latin typeface="Consolas" panose="020B0609020204030204" pitchFamily="49" charset="0"/>
              </a:rPr>
              <a:t>testrepo</a:t>
            </a:r>
            <a:r>
              <a:rPr lang="en-US" dirty="0">
                <a:latin typeface="Consolas" panose="020B0609020204030204" pitchFamily="49" charset="0"/>
              </a:rPr>
              <a:t>/</a:t>
            </a:r>
            <a:r>
              <a:rPr lang="en-US" dirty="0"/>
              <a:t> and </a:t>
            </a:r>
            <a:r>
              <a:rPr lang="en-US" i="1" dirty="0"/>
              <a:t>pull</a:t>
            </a:r>
            <a:r>
              <a:rPr lang="en-US" dirty="0"/>
              <a:t> the changes; there should be no conflicts</a:t>
            </a:r>
          </a:p>
          <a:p>
            <a:r>
              <a:rPr lang="en-US" dirty="0"/>
              <a:t>In </a:t>
            </a:r>
            <a:r>
              <a:rPr lang="en-US" dirty="0" err="1">
                <a:latin typeface="Consolas" panose="020B0609020204030204" pitchFamily="49" charset="0"/>
              </a:rPr>
              <a:t>testrepo</a:t>
            </a:r>
            <a:r>
              <a:rPr lang="en-US" dirty="0">
                <a:latin typeface="Consolas" panose="020B0609020204030204" pitchFamily="49" charset="0"/>
              </a:rPr>
              <a:t>/</a:t>
            </a:r>
            <a:r>
              <a:rPr lang="en-US" dirty="0"/>
              <a:t> do </a:t>
            </a:r>
            <a:r>
              <a:rPr lang="en-US" dirty="0">
                <a:solidFill>
                  <a:srgbClr val="FF0000"/>
                </a:solidFill>
                <a:latin typeface="Consolas" panose="020B0609020204030204" pitchFamily="49" charset="0"/>
              </a:rPr>
              <a:t>git log</a:t>
            </a:r>
            <a:r>
              <a:rPr lang="en-US" dirty="0"/>
              <a:t> to see the </a:t>
            </a:r>
            <a:r>
              <a:rPr lang="en-US" i="1" dirty="0"/>
              <a:t>merge commit</a:t>
            </a:r>
          </a:p>
          <a:p>
            <a:endParaRPr lang="en-US" dirty="0"/>
          </a:p>
        </p:txBody>
      </p:sp>
    </p:spTree>
    <p:extLst>
      <p:ext uri="{BB962C8B-B14F-4D97-AF65-F5344CB8AC3E}">
        <p14:creationId xmlns:p14="http://schemas.microsoft.com/office/powerpoint/2010/main" val="33023303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a:xfrm>
            <a:off x="655320" y="365125"/>
            <a:ext cx="5120114" cy="1692794"/>
          </a:xfrm>
        </p:spPr>
        <p:txBody>
          <a:bodyPr>
            <a:normAutofit/>
          </a:bodyPr>
          <a:lstStyle/>
          <a:p>
            <a:r>
              <a:rPr lang="en-US" dirty="0"/>
              <a:t>Branches</a:t>
            </a:r>
          </a:p>
        </p:txBody>
      </p:sp>
      <p:cxnSp>
        <p:nvCxnSpPr>
          <p:cNvPr id="10" name="Straight Arrow Connector 9">
            <a:extLst>
              <a:ext uri="{FF2B5EF4-FFF2-40B4-BE49-F238E27FC236}">
                <a16:creationId xmlns:a16="http://schemas.microsoft.com/office/drawing/2014/main" id="{E4A809D5-3600-46D4-A466-67F2349A54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655321" y="2575033"/>
            <a:ext cx="5649225" cy="3917837"/>
          </a:xfrm>
        </p:spPr>
        <p:txBody>
          <a:bodyPr>
            <a:normAutofit/>
          </a:bodyPr>
          <a:lstStyle/>
          <a:p>
            <a:r>
              <a:rPr lang="en-US" sz="1800" dirty="0"/>
              <a:t>In practice, developing software involves:</a:t>
            </a:r>
          </a:p>
          <a:p>
            <a:pPr lvl="1"/>
            <a:r>
              <a:rPr lang="en-US" sz="1800" dirty="0"/>
              <a:t>Each developer </a:t>
            </a:r>
            <a:r>
              <a:rPr lang="en-US" sz="1800" i="1" dirty="0"/>
              <a:t>cloning</a:t>
            </a:r>
            <a:r>
              <a:rPr lang="en-US" sz="1800" dirty="0"/>
              <a:t> the code-base</a:t>
            </a:r>
          </a:p>
          <a:p>
            <a:pPr lvl="1"/>
            <a:r>
              <a:rPr lang="en-US" sz="1800" dirty="0"/>
              <a:t>Creating one or more </a:t>
            </a:r>
            <a:r>
              <a:rPr lang="en-US" sz="1800" i="1" dirty="0"/>
              <a:t>local branches</a:t>
            </a:r>
            <a:r>
              <a:rPr lang="en-US" sz="1800" dirty="0"/>
              <a:t> where features can be developed and tested</a:t>
            </a:r>
          </a:p>
          <a:p>
            <a:pPr lvl="1"/>
            <a:r>
              <a:rPr lang="en-US" sz="1800" i="1" dirty="0"/>
              <a:t>Pushing</a:t>
            </a:r>
            <a:r>
              <a:rPr lang="en-US" sz="1800" dirty="0"/>
              <a:t> the newly created branches to </a:t>
            </a:r>
            <a:r>
              <a:rPr lang="en-US" sz="1800" i="1" dirty="0"/>
              <a:t>remote</a:t>
            </a:r>
            <a:r>
              <a:rPr lang="en-US" sz="1800" dirty="0"/>
              <a:t> (GitHub) at latest at the end of work day</a:t>
            </a:r>
          </a:p>
          <a:p>
            <a:pPr lvl="1"/>
            <a:r>
              <a:rPr lang="en-US" sz="1800" dirty="0"/>
              <a:t>Regularly </a:t>
            </a:r>
            <a:r>
              <a:rPr lang="en-US" sz="1800" i="1" dirty="0"/>
              <a:t>merging commits</a:t>
            </a:r>
            <a:r>
              <a:rPr lang="en-US" sz="1800" dirty="0"/>
              <a:t> from other developers from other branches while own branch is being developed</a:t>
            </a:r>
          </a:p>
          <a:p>
            <a:pPr lvl="1"/>
            <a:r>
              <a:rPr lang="en-US" sz="1800" dirty="0"/>
              <a:t>When ready, </a:t>
            </a:r>
            <a:r>
              <a:rPr lang="en-US" sz="1800" i="1" dirty="0"/>
              <a:t>merging</a:t>
            </a:r>
            <a:r>
              <a:rPr lang="en-US" sz="1800" dirty="0"/>
              <a:t> the branch with </a:t>
            </a:r>
            <a:r>
              <a:rPr lang="en-US" sz="1800" i="1" dirty="0"/>
              <a:t>master</a:t>
            </a:r>
            <a:r>
              <a:rPr lang="en-US" sz="1800" dirty="0"/>
              <a:t> or with some other main development branch</a:t>
            </a:r>
          </a:p>
        </p:txBody>
      </p:sp>
      <p:pic>
        <p:nvPicPr>
          <p:cNvPr id="5" name="Picture 4" descr="A close up of a piece of paper&#10;&#10;Description automatically generated">
            <a:extLst>
              <a:ext uri="{FF2B5EF4-FFF2-40B4-BE49-F238E27FC236}">
                <a16:creationId xmlns:a16="http://schemas.microsoft.com/office/drawing/2014/main" id="{77AF73F8-458C-43FE-8B91-5BC8E096DB6E}"/>
              </a:ext>
            </a:extLst>
          </p:cNvPr>
          <p:cNvPicPr>
            <a:picLocks noChangeAspect="1"/>
          </p:cNvPicPr>
          <p:nvPr/>
        </p:nvPicPr>
        <p:blipFill rotWithShape="1">
          <a:blip r:embed="rId2">
            <a:extLst>
              <a:ext uri="{28A0092B-C50C-407E-A947-70E740481C1C}">
                <a14:useLocalDpi xmlns:a14="http://schemas.microsoft.com/office/drawing/2010/main" val="0"/>
              </a:ext>
            </a:extLst>
          </a:blip>
          <a:srcRect l="21992" r="8966"/>
          <a:stretch/>
        </p:blipFill>
        <p:spPr>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Tree>
    <p:extLst>
      <p:ext uri="{BB962C8B-B14F-4D97-AF65-F5344CB8AC3E}">
        <p14:creationId xmlns:p14="http://schemas.microsoft.com/office/powerpoint/2010/main" val="624377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Branches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739423"/>
            <a:ext cx="11083377" cy="5025762"/>
          </a:xfrm>
        </p:spPr>
        <p:txBody>
          <a:bodyPr>
            <a:normAutofit/>
          </a:bodyPr>
          <a:lstStyle/>
          <a:p>
            <a:r>
              <a:rPr lang="en-US" dirty="0"/>
              <a:t>Go to the </a:t>
            </a:r>
            <a:r>
              <a:rPr lang="en-US" dirty="0" err="1">
                <a:latin typeface="Consolas" panose="020B0609020204030204" pitchFamily="49" charset="0"/>
              </a:rPr>
              <a:t>testrepo</a:t>
            </a:r>
            <a:r>
              <a:rPr lang="en-US" dirty="0">
                <a:latin typeface="Consolas" panose="020B0609020204030204" pitchFamily="49" charset="0"/>
              </a:rPr>
              <a:t>/</a:t>
            </a:r>
            <a:r>
              <a:rPr lang="en-US" dirty="0"/>
              <a:t> directory</a:t>
            </a:r>
          </a:p>
          <a:p>
            <a:r>
              <a:rPr lang="en-US" dirty="0"/>
              <a:t>Make sure you are on (</a:t>
            </a:r>
            <a:r>
              <a:rPr lang="en-US" dirty="0">
                <a:solidFill>
                  <a:srgbClr val="FF0000"/>
                </a:solidFill>
                <a:latin typeface="Consolas" panose="020B0609020204030204" pitchFamily="49" charset="0"/>
              </a:rPr>
              <a:t>HEAD</a:t>
            </a:r>
            <a:r>
              <a:rPr lang="en-US" dirty="0"/>
              <a:t> points to) </a:t>
            </a:r>
            <a:r>
              <a:rPr lang="en-US" i="1" dirty="0"/>
              <a:t>master</a:t>
            </a:r>
            <a:r>
              <a:rPr lang="en-US" dirty="0"/>
              <a:t> branch: </a:t>
            </a:r>
            <a:r>
              <a:rPr lang="en-US" dirty="0">
                <a:solidFill>
                  <a:srgbClr val="FF0000"/>
                </a:solidFill>
                <a:latin typeface="Consolas" panose="020B0609020204030204" pitchFamily="49" charset="0"/>
              </a:rPr>
              <a:t>git status</a:t>
            </a:r>
          </a:p>
          <a:p>
            <a:r>
              <a:rPr lang="en-US" dirty="0"/>
              <a:t>Create a new branch called </a:t>
            </a:r>
            <a:r>
              <a:rPr lang="en-US" i="1" dirty="0" err="1"/>
              <a:t>myfeature</a:t>
            </a:r>
            <a:r>
              <a:rPr lang="en-US" dirty="0"/>
              <a:t>: </a:t>
            </a:r>
            <a:r>
              <a:rPr lang="en-US" dirty="0">
                <a:solidFill>
                  <a:srgbClr val="FF0000"/>
                </a:solidFill>
                <a:latin typeface="Consolas" panose="020B0609020204030204" pitchFamily="49" charset="0"/>
              </a:rPr>
              <a:t>git branch </a:t>
            </a:r>
            <a:r>
              <a:rPr lang="en-US" dirty="0" err="1">
                <a:solidFill>
                  <a:srgbClr val="FF0000"/>
                </a:solidFill>
                <a:latin typeface="Consolas" panose="020B0609020204030204" pitchFamily="49" charset="0"/>
              </a:rPr>
              <a:t>myfeature</a:t>
            </a:r>
            <a:endParaRPr lang="en-US" dirty="0">
              <a:solidFill>
                <a:srgbClr val="FF0000"/>
              </a:solidFill>
              <a:latin typeface="Consolas" panose="020B0609020204030204" pitchFamily="49" charset="0"/>
            </a:endParaRPr>
          </a:p>
          <a:p>
            <a:r>
              <a:rPr lang="en-US" dirty="0"/>
              <a:t>Try:</a:t>
            </a:r>
          </a:p>
          <a:p>
            <a:pPr lvl="1"/>
            <a:r>
              <a:rPr lang="en-US" dirty="0">
                <a:solidFill>
                  <a:srgbClr val="FF0000"/>
                </a:solidFill>
                <a:latin typeface="Consolas" panose="020B0609020204030204" pitchFamily="49" charset="0"/>
              </a:rPr>
              <a:t>git branch</a:t>
            </a:r>
            <a:r>
              <a:rPr lang="en-US" dirty="0"/>
              <a:t> to see local branches</a:t>
            </a:r>
          </a:p>
          <a:p>
            <a:pPr lvl="1"/>
            <a:r>
              <a:rPr lang="en-US" dirty="0">
                <a:solidFill>
                  <a:srgbClr val="FF0000"/>
                </a:solidFill>
                <a:latin typeface="Consolas" panose="020B0609020204030204" pitchFamily="49" charset="0"/>
              </a:rPr>
              <a:t>git branch -r </a:t>
            </a:r>
            <a:r>
              <a:rPr lang="en-US" dirty="0"/>
              <a:t>to see remote branches (</a:t>
            </a:r>
            <a:r>
              <a:rPr lang="en-US" i="1" dirty="0" err="1"/>
              <a:t>myfeature</a:t>
            </a:r>
            <a:r>
              <a:rPr lang="en-US" dirty="0"/>
              <a:t> is only local for now)</a:t>
            </a:r>
          </a:p>
          <a:p>
            <a:r>
              <a:rPr lang="en-US" dirty="0"/>
              <a:t>You are still on branch </a:t>
            </a:r>
            <a:r>
              <a:rPr lang="en-US" i="1" dirty="0"/>
              <a:t>master</a:t>
            </a:r>
            <a:r>
              <a:rPr lang="en-US" dirty="0"/>
              <a:t> and not on branch </a:t>
            </a:r>
            <a:r>
              <a:rPr lang="en-US" i="1" dirty="0" err="1"/>
              <a:t>myfeature</a:t>
            </a:r>
            <a:r>
              <a:rPr lang="en-US" dirty="0"/>
              <a:t>; in other words, the </a:t>
            </a:r>
            <a:r>
              <a:rPr lang="en-US" i="1" dirty="0"/>
              <a:t>symbolic reference</a:t>
            </a:r>
            <a:r>
              <a:rPr lang="en-US" dirty="0"/>
              <a:t> </a:t>
            </a:r>
            <a:r>
              <a:rPr lang="en-US" dirty="0">
                <a:solidFill>
                  <a:srgbClr val="FF0000"/>
                </a:solidFill>
                <a:latin typeface="Consolas" panose="020B0609020204030204" pitchFamily="49" charset="0"/>
              </a:rPr>
              <a:t>HEAD</a:t>
            </a:r>
            <a:r>
              <a:rPr lang="en-US" dirty="0"/>
              <a:t> (currently active commit) still points to </a:t>
            </a:r>
            <a:r>
              <a:rPr lang="en-US" i="1" dirty="0"/>
              <a:t>master</a:t>
            </a:r>
          </a:p>
          <a:p>
            <a:r>
              <a:rPr lang="en-US" dirty="0">
                <a:solidFill>
                  <a:srgbClr val="FF0000"/>
                </a:solidFill>
                <a:latin typeface="Consolas" panose="020B0609020204030204" pitchFamily="49" charset="0"/>
              </a:rPr>
              <a:t>git checkout</a:t>
            </a:r>
            <a:r>
              <a:rPr lang="en-US" dirty="0"/>
              <a:t> changes </a:t>
            </a:r>
            <a:r>
              <a:rPr lang="en-US" dirty="0">
                <a:solidFill>
                  <a:srgbClr val="FF0000"/>
                </a:solidFill>
                <a:latin typeface="Consolas" panose="020B0609020204030204" pitchFamily="49" charset="0"/>
              </a:rPr>
              <a:t>HEAD</a:t>
            </a:r>
            <a:r>
              <a:rPr lang="en-US" dirty="0"/>
              <a:t>; type </a:t>
            </a:r>
            <a:r>
              <a:rPr lang="en-US" dirty="0">
                <a:solidFill>
                  <a:srgbClr val="FF0000"/>
                </a:solidFill>
                <a:latin typeface="Consolas" panose="020B0609020204030204" pitchFamily="49" charset="0"/>
              </a:rPr>
              <a:t>git checkout </a:t>
            </a:r>
            <a:r>
              <a:rPr lang="en-US" dirty="0" err="1">
                <a:solidFill>
                  <a:srgbClr val="FF0000"/>
                </a:solidFill>
                <a:latin typeface="Consolas" panose="020B0609020204030204" pitchFamily="49" charset="0"/>
              </a:rPr>
              <a:t>myfeature</a:t>
            </a:r>
            <a:r>
              <a:rPr lang="en-US" dirty="0"/>
              <a:t> to change to the branch </a:t>
            </a:r>
            <a:r>
              <a:rPr lang="en-US" i="1" dirty="0" err="1"/>
              <a:t>myfeature</a:t>
            </a:r>
            <a:endParaRPr lang="en-US" i="1" dirty="0"/>
          </a:p>
        </p:txBody>
      </p:sp>
    </p:spTree>
    <p:extLst>
      <p:ext uri="{BB962C8B-B14F-4D97-AF65-F5344CB8AC3E}">
        <p14:creationId xmlns:p14="http://schemas.microsoft.com/office/powerpoint/2010/main" val="13278186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Branches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739423"/>
            <a:ext cx="11083377" cy="5025762"/>
          </a:xfrm>
        </p:spPr>
        <p:txBody>
          <a:bodyPr>
            <a:normAutofit/>
          </a:bodyPr>
          <a:lstStyle/>
          <a:p>
            <a:r>
              <a:rPr lang="en-US" dirty="0">
                <a:solidFill>
                  <a:srgbClr val="FF0000"/>
                </a:solidFill>
                <a:latin typeface="Consolas" panose="020B0609020204030204" pitchFamily="49" charset="0"/>
              </a:rPr>
              <a:t>git status</a:t>
            </a:r>
            <a:r>
              <a:rPr lang="en-US" dirty="0"/>
              <a:t> will now show that </a:t>
            </a:r>
            <a:r>
              <a:rPr lang="en-US" dirty="0">
                <a:solidFill>
                  <a:srgbClr val="FF0000"/>
                </a:solidFill>
                <a:latin typeface="Consolas" panose="020B0609020204030204" pitchFamily="49" charset="0"/>
              </a:rPr>
              <a:t>HEAD</a:t>
            </a:r>
            <a:r>
              <a:rPr lang="en-US" dirty="0"/>
              <a:t> points to </a:t>
            </a:r>
            <a:r>
              <a:rPr lang="en-US" i="1" dirty="0" err="1"/>
              <a:t>myfeature</a:t>
            </a:r>
            <a:endParaRPr lang="en-US" i="1" dirty="0"/>
          </a:p>
          <a:p>
            <a:r>
              <a:rPr lang="en-US" dirty="0"/>
              <a:t>Now change </a:t>
            </a:r>
            <a:r>
              <a:rPr lang="en-US" dirty="0">
                <a:latin typeface="Consolas" panose="020B0609020204030204" pitchFamily="49" charset="0"/>
              </a:rPr>
              <a:t>HelloWorld.java</a:t>
            </a:r>
            <a:r>
              <a:rPr lang="en-US" dirty="0"/>
              <a:t> as follows:</a:t>
            </a:r>
          </a:p>
        </p:txBody>
      </p:sp>
      <p:sp>
        <p:nvSpPr>
          <p:cNvPr id="4" name="TextBox 3">
            <a:extLst>
              <a:ext uri="{FF2B5EF4-FFF2-40B4-BE49-F238E27FC236}">
                <a16:creationId xmlns:a16="http://schemas.microsoft.com/office/drawing/2014/main" id="{97FF7BAC-1173-45D1-A127-952734C01B94}"/>
              </a:ext>
            </a:extLst>
          </p:cNvPr>
          <p:cNvSpPr txBox="1"/>
          <p:nvPr/>
        </p:nvSpPr>
        <p:spPr>
          <a:xfrm>
            <a:off x="2823122" y="5940687"/>
            <a:ext cx="5571483" cy="338554"/>
          </a:xfrm>
          <a:prstGeom prst="rect">
            <a:avLst/>
          </a:prstGeom>
          <a:noFill/>
        </p:spPr>
        <p:txBody>
          <a:bodyPr wrap="square" rtlCol="0">
            <a:spAutoFit/>
          </a:bodyPr>
          <a:lstStyle/>
          <a:p>
            <a:r>
              <a:rPr lang="en-US" sz="1600" dirty="0"/>
              <a:t>File: </a:t>
            </a:r>
            <a:r>
              <a:rPr lang="en-US" sz="1600" dirty="0" err="1">
                <a:latin typeface="Consolas" panose="020B0609020204030204" pitchFamily="49" charset="0"/>
              </a:rPr>
              <a:t>testrepo</a:t>
            </a:r>
            <a:r>
              <a:rPr lang="en-US" sz="1600" dirty="0">
                <a:latin typeface="Consolas" panose="020B0609020204030204" pitchFamily="49" charset="0"/>
              </a:rPr>
              <a:t>/HelloWorld.java / branch </a:t>
            </a:r>
            <a:r>
              <a:rPr lang="en-US" sz="1600" i="1" dirty="0" err="1">
                <a:latin typeface="Consolas" panose="020B0609020204030204" pitchFamily="49" charset="0"/>
              </a:rPr>
              <a:t>myfeature</a:t>
            </a:r>
            <a:r>
              <a:rPr lang="en-US" sz="1600" dirty="0">
                <a:latin typeface="Consolas" panose="020B0609020204030204" pitchFamily="49" charset="0"/>
              </a:rPr>
              <a:t> </a:t>
            </a:r>
          </a:p>
        </p:txBody>
      </p:sp>
      <p:sp>
        <p:nvSpPr>
          <p:cNvPr id="5" name="TextBox 4">
            <a:extLst>
              <a:ext uri="{FF2B5EF4-FFF2-40B4-BE49-F238E27FC236}">
                <a16:creationId xmlns:a16="http://schemas.microsoft.com/office/drawing/2014/main" id="{0F586F4B-3ECA-4DAD-902F-6C184F24AE1D}"/>
              </a:ext>
            </a:extLst>
          </p:cNvPr>
          <p:cNvSpPr txBox="1"/>
          <p:nvPr/>
        </p:nvSpPr>
        <p:spPr>
          <a:xfrm>
            <a:off x="2926538" y="3078365"/>
            <a:ext cx="6338923" cy="2862322"/>
          </a:xfrm>
          <a:prstGeom prst="rect">
            <a:avLst/>
          </a:prstGeom>
          <a:noFill/>
          <a:ln>
            <a:solidFill>
              <a:schemeClr val="tx1"/>
            </a:solidFill>
          </a:ln>
        </p:spPr>
        <p:txBody>
          <a:bodyPr wrap="square" rtlCol="0">
            <a:spAutoFit/>
          </a:bodyPr>
          <a:lstStyle/>
          <a:p>
            <a:pPr lvl="1"/>
            <a:r>
              <a:rPr lang="en-US" dirty="0"/>
              <a:t>import </a:t>
            </a:r>
            <a:r>
              <a:rPr lang="en-US" dirty="0" err="1"/>
              <a:t>java.util.Calendar</a:t>
            </a:r>
            <a:r>
              <a:rPr lang="en-US" dirty="0"/>
              <a:t>;</a:t>
            </a:r>
          </a:p>
          <a:p>
            <a:pPr lvl="1"/>
            <a:endParaRPr lang="en-US" dirty="0"/>
          </a:p>
          <a:p>
            <a:pPr lvl="1"/>
            <a:r>
              <a:rPr lang="en-US" dirty="0"/>
              <a:t>public class HelloWorld </a:t>
            </a:r>
          </a:p>
          <a:p>
            <a:pPr lvl="1"/>
            <a:r>
              <a:rPr lang="en-US" dirty="0"/>
              <a:t>{</a:t>
            </a:r>
          </a:p>
          <a:p>
            <a:pPr lvl="1"/>
            <a:r>
              <a:rPr lang="en-US" dirty="0"/>
              <a:t>    static int </a:t>
            </a:r>
            <a:r>
              <a:rPr lang="en-US" dirty="0" err="1"/>
              <a:t>myNumber</a:t>
            </a:r>
            <a:r>
              <a:rPr lang="en-US" dirty="0"/>
              <a:t> = 123;</a:t>
            </a:r>
          </a:p>
          <a:p>
            <a:pPr lvl="1"/>
            <a:r>
              <a:rPr lang="en-US" dirty="0"/>
              <a:t>    public static void main(String[] </a:t>
            </a:r>
            <a:r>
              <a:rPr lang="en-US" dirty="0" err="1"/>
              <a:t>args</a:t>
            </a:r>
            <a:r>
              <a:rPr lang="en-US" dirty="0"/>
              <a:t>) {</a:t>
            </a:r>
          </a:p>
          <a:p>
            <a:pPr lvl="1"/>
            <a:r>
              <a:rPr lang="en-US" dirty="0"/>
              <a:t>        </a:t>
            </a:r>
            <a:r>
              <a:rPr lang="en-US" dirty="0" err="1"/>
              <a:t>System.out.println</a:t>
            </a:r>
            <a:r>
              <a:rPr lang="en-US" dirty="0"/>
              <a:t>("Hello everyone“);</a:t>
            </a:r>
          </a:p>
          <a:p>
            <a:pPr lvl="1"/>
            <a:r>
              <a:rPr lang="en-US" dirty="0"/>
              <a:t>        </a:t>
            </a:r>
            <a:r>
              <a:rPr lang="en-US" dirty="0" err="1"/>
              <a:t>System.out.println</a:t>
            </a:r>
            <a:r>
              <a:rPr lang="en-US" dirty="0"/>
              <a:t>(</a:t>
            </a:r>
            <a:r>
              <a:rPr lang="en-US" dirty="0" err="1"/>
              <a:t>Calendar.getInstance</a:t>
            </a:r>
            <a:r>
              <a:rPr lang="en-US" dirty="0"/>
              <a:t>().</a:t>
            </a:r>
            <a:r>
              <a:rPr lang="en-US" dirty="0" err="1"/>
              <a:t>getTime</a:t>
            </a:r>
            <a:r>
              <a:rPr lang="en-US" dirty="0"/>
              <a:t>());</a:t>
            </a:r>
          </a:p>
          <a:p>
            <a:pPr lvl="1"/>
            <a:r>
              <a:rPr lang="en-US" dirty="0"/>
              <a:t>    }</a:t>
            </a:r>
          </a:p>
          <a:p>
            <a:pPr lvl="1"/>
            <a:r>
              <a:rPr lang="en-US" dirty="0"/>
              <a:t>}</a:t>
            </a:r>
          </a:p>
        </p:txBody>
      </p:sp>
    </p:spTree>
    <p:extLst>
      <p:ext uri="{BB962C8B-B14F-4D97-AF65-F5344CB8AC3E}">
        <p14:creationId xmlns:p14="http://schemas.microsoft.com/office/powerpoint/2010/main" val="24182235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Branches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739423"/>
            <a:ext cx="11083377" cy="5025762"/>
          </a:xfrm>
        </p:spPr>
        <p:txBody>
          <a:bodyPr>
            <a:normAutofit/>
          </a:bodyPr>
          <a:lstStyle/>
          <a:p>
            <a:r>
              <a:rPr lang="en-US" dirty="0"/>
              <a:t>You can now test your feature and create multiple </a:t>
            </a:r>
            <a:r>
              <a:rPr lang="en-US" i="1" dirty="0"/>
              <a:t>commits</a:t>
            </a:r>
            <a:r>
              <a:rPr lang="en-US" dirty="0"/>
              <a:t> to </a:t>
            </a:r>
            <a:r>
              <a:rPr lang="en-US" i="1" dirty="0" err="1"/>
              <a:t>myfeature</a:t>
            </a:r>
            <a:r>
              <a:rPr lang="en-US" i="1" dirty="0"/>
              <a:t> </a:t>
            </a:r>
            <a:r>
              <a:rPr lang="en-US" dirty="0"/>
              <a:t>while developing it</a:t>
            </a:r>
          </a:p>
          <a:p>
            <a:r>
              <a:rPr lang="en-US" dirty="0"/>
              <a:t>Do </a:t>
            </a:r>
            <a:r>
              <a:rPr lang="en-US" dirty="0">
                <a:solidFill>
                  <a:srgbClr val="FF0000"/>
                </a:solidFill>
                <a:latin typeface="Consolas" panose="020B0609020204030204" pitchFamily="49" charset="0"/>
              </a:rPr>
              <a:t>git add HelloWorld.java</a:t>
            </a:r>
          </a:p>
          <a:p>
            <a:r>
              <a:rPr lang="en-US" dirty="0"/>
              <a:t>Change </a:t>
            </a:r>
            <a:r>
              <a:rPr lang="en-US" dirty="0">
                <a:latin typeface="Consolas" panose="020B0609020204030204" pitchFamily="49" charset="0"/>
              </a:rPr>
              <a:t>README.md</a:t>
            </a:r>
            <a:r>
              <a:rPr lang="en-US" dirty="0"/>
              <a:t> to say that the program prints the current time</a:t>
            </a:r>
          </a:p>
          <a:p>
            <a:r>
              <a:rPr lang="en-US" dirty="0"/>
              <a:t>Add the changes to the </a:t>
            </a:r>
            <a:r>
              <a:rPr lang="en-US" i="1" dirty="0"/>
              <a:t>index</a:t>
            </a:r>
            <a:r>
              <a:rPr lang="en-US" dirty="0"/>
              <a:t>: </a:t>
            </a:r>
            <a:r>
              <a:rPr lang="en-US" dirty="0">
                <a:solidFill>
                  <a:srgbClr val="FF0000"/>
                </a:solidFill>
                <a:latin typeface="Consolas" panose="020B0609020204030204" pitchFamily="49" charset="0"/>
              </a:rPr>
              <a:t>git add README.md</a:t>
            </a:r>
          </a:p>
          <a:p>
            <a:r>
              <a:rPr lang="en-US" dirty="0"/>
              <a:t>Once you are happy with your new edits, do </a:t>
            </a:r>
            <a:r>
              <a:rPr lang="en-US" dirty="0">
                <a:solidFill>
                  <a:srgbClr val="FF0000"/>
                </a:solidFill>
                <a:latin typeface="Consolas" panose="020B0609020204030204" pitchFamily="49" charset="0"/>
              </a:rPr>
              <a:t>git commit</a:t>
            </a:r>
            <a:r>
              <a:rPr lang="en-US" dirty="0"/>
              <a:t> </a:t>
            </a:r>
          </a:p>
          <a:p>
            <a:pPr marL="0" indent="0">
              <a:buNone/>
            </a:pPr>
            <a:endParaRPr lang="en-US" dirty="0"/>
          </a:p>
        </p:txBody>
      </p:sp>
    </p:spTree>
    <p:extLst>
      <p:ext uri="{BB962C8B-B14F-4D97-AF65-F5344CB8AC3E}">
        <p14:creationId xmlns:p14="http://schemas.microsoft.com/office/powerpoint/2010/main" val="6211688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Branches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739423"/>
            <a:ext cx="11083377" cy="5025762"/>
          </a:xfrm>
        </p:spPr>
        <p:txBody>
          <a:bodyPr>
            <a:normAutofit/>
          </a:bodyPr>
          <a:lstStyle/>
          <a:p>
            <a:r>
              <a:rPr lang="en-US" dirty="0"/>
              <a:t>To push the changes to the </a:t>
            </a:r>
            <a:r>
              <a:rPr lang="en-US" i="1" dirty="0"/>
              <a:t>remote</a:t>
            </a:r>
            <a:r>
              <a:rPr lang="en-US" dirty="0"/>
              <a:t>, we need to designate which branch in </a:t>
            </a:r>
            <a:r>
              <a:rPr lang="en-US" i="1" dirty="0"/>
              <a:t>remote origin </a:t>
            </a:r>
            <a:r>
              <a:rPr lang="en-US" dirty="0"/>
              <a:t>we want to push the local branch </a:t>
            </a:r>
            <a:r>
              <a:rPr lang="en-US" i="1" dirty="0" err="1"/>
              <a:t>myfeature</a:t>
            </a:r>
            <a:r>
              <a:rPr lang="en-US" dirty="0"/>
              <a:t> to</a:t>
            </a:r>
          </a:p>
          <a:p>
            <a:r>
              <a:rPr lang="en-US" dirty="0"/>
              <a:t>If you try </a:t>
            </a:r>
            <a:r>
              <a:rPr lang="en-US" dirty="0">
                <a:solidFill>
                  <a:srgbClr val="FF0000"/>
                </a:solidFill>
                <a:latin typeface="Consolas" panose="020B0609020204030204" pitchFamily="49" charset="0"/>
              </a:rPr>
              <a:t>git push</a:t>
            </a:r>
            <a:r>
              <a:rPr lang="en-US" dirty="0"/>
              <a:t>, Git will give you a very helpful error message</a:t>
            </a:r>
          </a:p>
          <a:p>
            <a:r>
              <a:rPr lang="en-US" dirty="0"/>
              <a:t>Instead type: </a:t>
            </a:r>
            <a:r>
              <a:rPr lang="en-US" dirty="0">
                <a:solidFill>
                  <a:srgbClr val="FF0000"/>
                </a:solidFill>
                <a:latin typeface="Consolas" panose="020B0609020204030204" pitchFamily="49" charset="0"/>
              </a:rPr>
              <a:t>git push --set-upstream origin </a:t>
            </a:r>
            <a:r>
              <a:rPr lang="en-US" dirty="0" err="1">
                <a:solidFill>
                  <a:srgbClr val="FF0000"/>
                </a:solidFill>
                <a:latin typeface="Consolas" panose="020B0609020204030204" pitchFamily="49" charset="0"/>
              </a:rPr>
              <a:t>myfeature</a:t>
            </a:r>
            <a:endParaRPr lang="en-US" dirty="0">
              <a:solidFill>
                <a:srgbClr val="FF0000"/>
              </a:solidFill>
              <a:latin typeface="Consolas" panose="020B0609020204030204" pitchFamily="49" charset="0"/>
            </a:endParaRPr>
          </a:p>
          <a:p>
            <a:pPr lvl="1"/>
            <a:r>
              <a:rPr lang="en-US" dirty="0"/>
              <a:t>This sets the </a:t>
            </a:r>
            <a:r>
              <a:rPr lang="en-US" i="1" dirty="0"/>
              <a:t>upstream branch </a:t>
            </a:r>
            <a:r>
              <a:rPr lang="en-US" dirty="0"/>
              <a:t>(remote branch) to be </a:t>
            </a:r>
            <a:r>
              <a:rPr lang="en-US" i="1" dirty="0"/>
              <a:t>origin/</a:t>
            </a:r>
            <a:r>
              <a:rPr lang="en-US" i="1" dirty="0" err="1"/>
              <a:t>myfeature</a:t>
            </a:r>
            <a:endParaRPr lang="en-US" i="1" dirty="0"/>
          </a:p>
          <a:p>
            <a:pPr lvl="1"/>
            <a:r>
              <a:rPr lang="en-US" dirty="0"/>
              <a:t>It also pushes the local branch </a:t>
            </a:r>
            <a:r>
              <a:rPr lang="en-US" i="1" dirty="0" err="1"/>
              <a:t>myfeature</a:t>
            </a:r>
            <a:r>
              <a:rPr lang="en-US" dirty="0"/>
              <a:t> to the remote</a:t>
            </a:r>
          </a:p>
          <a:p>
            <a:r>
              <a:rPr lang="en-US" dirty="0"/>
              <a:t>If you now look at GitHub project page you’ll see that there are two branches listed: </a:t>
            </a:r>
            <a:r>
              <a:rPr lang="en-US" i="1" dirty="0"/>
              <a:t>master</a:t>
            </a:r>
            <a:r>
              <a:rPr lang="en-US" dirty="0"/>
              <a:t> and </a:t>
            </a:r>
            <a:r>
              <a:rPr lang="en-US" i="1" dirty="0" err="1"/>
              <a:t>myfeature</a:t>
            </a:r>
            <a:endParaRPr lang="en-US" i="1" dirty="0"/>
          </a:p>
          <a:p>
            <a:pPr marL="0" indent="0">
              <a:buNone/>
            </a:pPr>
            <a:endParaRPr lang="en-US" dirty="0"/>
          </a:p>
        </p:txBody>
      </p:sp>
    </p:spTree>
    <p:extLst>
      <p:ext uri="{BB962C8B-B14F-4D97-AF65-F5344CB8AC3E}">
        <p14:creationId xmlns:p14="http://schemas.microsoft.com/office/powerpoint/2010/main" val="27035456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6C0-CC4E-409D-B50B-B0A8632ED257}"/>
              </a:ext>
            </a:extLst>
          </p:cNvPr>
          <p:cNvSpPr>
            <a:spLocks noGrp="1"/>
          </p:cNvSpPr>
          <p:nvPr>
            <p:ph type="title"/>
          </p:nvPr>
        </p:nvSpPr>
        <p:spPr/>
        <p:txBody>
          <a:bodyPr/>
          <a:lstStyle/>
          <a:p>
            <a:r>
              <a:rPr lang="en-US" dirty="0"/>
              <a:t>Branches</a:t>
            </a:r>
          </a:p>
        </p:txBody>
      </p:sp>
      <p:sp>
        <p:nvSpPr>
          <p:cNvPr id="3" name="Content Placeholder 2">
            <a:extLst>
              <a:ext uri="{FF2B5EF4-FFF2-40B4-BE49-F238E27FC236}">
                <a16:creationId xmlns:a16="http://schemas.microsoft.com/office/drawing/2014/main" id="{40F6C6B6-30C3-41A8-8D0C-856B600DC0E2}"/>
              </a:ext>
            </a:extLst>
          </p:cNvPr>
          <p:cNvSpPr>
            <a:spLocks noGrp="1"/>
          </p:cNvSpPr>
          <p:nvPr>
            <p:ph idx="1"/>
          </p:nvPr>
        </p:nvSpPr>
        <p:spPr>
          <a:xfrm>
            <a:off x="838199" y="1540042"/>
            <a:ext cx="11083377" cy="5225143"/>
          </a:xfrm>
        </p:spPr>
        <p:txBody>
          <a:bodyPr>
            <a:normAutofit/>
          </a:bodyPr>
          <a:lstStyle/>
          <a:p>
            <a:r>
              <a:rPr lang="en-US" dirty="0"/>
              <a:t>Now after some work suppose you are happy with what your (local) </a:t>
            </a:r>
            <a:r>
              <a:rPr lang="en-US" i="1" dirty="0" err="1"/>
              <a:t>myfeature</a:t>
            </a:r>
            <a:r>
              <a:rPr lang="en-US" dirty="0"/>
              <a:t> branch contains</a:t>
            </a:r>
          </a:p>
          <a:p>
            <a:r>
              <a:rPr lang="en-US" dirty="0"/>
              <a:t>We want to bring in the new features to </a:t>
            </a:r>
            <a:r>
              <a:rPr lang="en-US" i="1" dirty="0"/>
              <a:t>master</a:t>
            </a:r>
          </a:p>
          <a:p>
            <a:r>
              <a:rPr lang="en-US" dirty="0"/>
              <a:t>Simply </a:t>
            </a:r>
            <a:r>
              <a:rPr lang="en-US" i="1" dirty="0"/>
              <a:t>checkout</a:t>
            </a:r>
            <a:r>
              <a:rPr lang="en-US" dirty="0"/>
              <a:t> the </a:t>
            </a:r>
            <a:r>
              <a:rPr lang="en-US" i="1" dirty="0"/>
              <a:t>master</a:t>
            </a:r>
            <a:r>
              <a:rPr lang="en-US" dirty="0"/>
              <a:t> branch (target of </a:t>
            </a:r>
            <a:r>
              <a:rPr lang="en-US" i="1" dirty="0"/>
              <a:t>merge</a:t>
            </a:r>
            <a:r>
              <a:rPr lang="en-US" dirty="0"/>
              <a:t>): </a:t>
            </a:r>
            <a:br>
              <a:rPr lang="en-US" dirty="0"/>
            </a:br>
            <a:r>
              <a:rPr lang="en-US" dirty="0">
                <a:solidFill>
                  <a:srgbClr val="FF0000"/>
                </a:solidFill>
                <a:latin typeface="Consolas" panose="020B0609020204030204" pitchFamily="49" charset="0"/>
              </a:rPr>
              <a:t>git checkout master</a:t>
            </a:r>
          </a:p>
          <a:p>
            <a:r>
              <a:rPr lang="en-US" dirty="0"/>
              <a:t>Type </a:t>
            </a:r>
            <a:r>
              <a:rPr lang="en-US" dirty="0">
                <a:solidFill>
                  <a:srgbClr val="FF0000"/>
                </a:solidFill>
                <a:latin typeface="Consolas" panose="020B0609020204030204" pitchFamily="49" charset="0"/>
              </a:rPr>
              <a:t>git merge </a:t>
            </a:r>
            <a:r>
              <a:rPr lang="en-US" dirty="0" err="1">
                <a:solidFill>
                  <a:srgbClr val="FF0000"/>
                </a:solidFill>
                <a:latin typeface="Consolas" panose="020B0609020204030204" pitchFamily="49" charset="0"/>
              </a:rPr>
              <a:t>myfeature</a:t>
            </a:r>
            <a:r>
              <a:rPr lang="en-US" dirty="0"/>
              <a:t> to </a:t>
            </a:r>
            <a:r>
              <a:rPr lang="en-US" i="1" dirty="0"/>
              <a:t>merge</a:t>
            </a:r>
            <a:r>
              <a:rPr lang="en-US" dirty="0"/>
              <a:t> </a:t>
            </a:r>
            <a:r>
              <a:rPr lang="en-US" i="1" dirty="0" err="1"/>
              <a:t>myfeature</a:t>
            </a:r>
            <a:r>
              <a:rPr lang="en-US" dirty="0"/>
              <a:t> into </a:t>
            </a:r>
            <a:r>
              <a:rPr lang="en-US" i="1" dirty="0"/>
              <a:t>master</a:t>
            </a:r>
          </a:p>
          <a:p>
            <a:r>
              <a:rPr lang="en-US" dirty="0"/>
              <a:t>In this case there are no merge conflicts, but if there were you would have to deal with them as discussed earlier</a:t>
            </a:r>
          </a:p>
          <a:p>
            <a:r>
              <a:rPr lang="en-US" dirty="0">
                <a:solidFill>
                  <a:srgbClr val="FF0000"/>
                </a:solidFill>
                <a:latin typeface="Consolas" panose="020B0609020204030204" pitchFamily="49" charset="0"/>
              </a:rPr>
              <a:t>git push</a:t>
            </a:r>
            <a:r>
              <a:rPr lang="en-US" dirty="0"/>
              <a:t> the merged </a:t>
            </a:r>
            <a:r>
              <a:rPr lang="en-US" i="1" dirty="0"/>
              <a:t>master</a:t>
            </a:r>
            <a:r>
              <a:rPr lang="en-US" dirty="0"/>
              <a:t> back to the </a:t>
            </a:r>
            <a:r>
              <a:rPr lang="en-US" i="1" dirty="0"/>
              <a:t>remote; </a:t>
            </a:r>
            <a:r>
              <a:rPr lang="en-US" dirty="0"/>
              <a:t>the new feature is now rolled out</a:t>
            </a:r>
          </a:p>
          <a:p>
            <a:r>
              <a:rPr lang="en-US" dirty="0"/>
              <a:t>Btw: </a:t>
            </a:r>
            <a:r>
              <a:rPr lang="en-US" dirty="0">
                <a:solidFill>
                  <a:srgbClr val="FF0000"/>
                </a:solidFill>
                <a:latin typeface="Consolas" panose="020B0609020204030204" pitchFamily="49" charset="0"/>
              </a:rPr>
              <a:t>git pull</a:t>
            </a:r>
            <a:r>
              <a:rPr lang="en-US" dirty="0"/>
              <a:t> is shorthand for </a:t>
            </a:r>
            <a:r>
              <a:rPr lang="en-US" dirty="0">
                <a:solidFill>
                  <a:srgbClr val="FF0000"/>
                </a:solidFill>
                <a:latin typeface="Consolas" panose="020B0609020204030204" pitchFamily="49" charset="0"/>
              </a:rPr>
              <a:t>git fetch</a:t>
            </a:r>
            <a:r>
              <a:rPr lang="en-US" dirty="0"/>
              <a:t> followed by </a:t>
            </a:r>
            <a:r>
              <a:rPr lang="en-US" dirty="0">
                <a:solidFill>
                  <a:srgbClr val="FF0000"/>
                </a:solidFill>
                <a:latin typeface="Consolas" panose="020B0609020204030204" pitchFamily="49" charset="0"/>
              </a:rPr>
              <a:t>git merge</a:t>
            </a:r>
          </a:p>
          <a:p>
            <a:pPr marL="0" indent="0">
              <a:buNone/>
            </a:pPr>
            <a:endParaRPr lang="en-US" dirty="0"/>
          </a:p>
        </p:txBody>
      </p:sp>
      <p:sp>
        <p:nvSpPr>
          <p:cNvPr id="4" name="TextBox 3">
            <a:extLst>
              <a:ext uri="{FF2B5EF4-FFF2-40B4-BE49-F238E27FC236}">
                <a16:creationId xmlns:a16="http://schemas.microsoft.com/office/drawing/2014/main" id="{DE37512B-8FD5-4A31-A12E-F1A85FA751F0}"/>
              </a:ext>
            </a:extLst>
          </p:cNvPr>
          <p:cNvSpPr txBox="1"/>
          <p:nvPr/>
        </p:nvSpPr>
        <p:spPr>
          <a:xfrm>
            <a:off x="5829872" y="6488668"/>
            <a:ext cx="2172560" cy="369332"/>
          </a:xfrm>
          <a:prstGeom prst="rect">
            <a:avLst/>
          </a:prstGeom>
          <a:noFill/>
        </p:spPr>
        <p:txBody>
          <a:bodyPr wrap="square" rtlCol="0">
            <a:spAutoFit/>
          </a:bodyPr>
          <a:lstStyle/>
          <a:p>
            <a:r>
              <a:rPr lang="en-US" dirty="0"/>
              <a:t>download changes</a:t>
            </a:r>
          </a:p>
        </p:txBody>
      </p:sp>
      <p:sp>
        <p:nvSpPr>
          <p:cNvPr id="5" name="TextBox 4">
            <a:extLst>
              <a:ext uri="{FF2B5EF4-FFF2-40B4-BE49-F238E27FC236}">
                <a16:creationId xmlns:a16="http://schemas.microsoft.com/office/drawing/2014/main" id="{6ABB5AC0-08BB-4046-8FB8-5F3405B3FC78}"/>
              </a:ext>
            </a:extLst>
          </p:cNvPr>
          <p:cNvSpPr txBox="1"/>
          <p:nvPr/>
        </p:nvSpPr>
        <p:spPr>
          <a:xfrm>
            <a:off x="9667374" y="6488668"/>
            <a:ext cx="2172560" cy="369332"/>
          </a:xfrm>
          <a:prstGeom prst="rect">
            <a:avLst/>
          </a:prstGeom>
          <a:noFill/>
        </p:spPr>
        <p:txBody>
          <a:bodyPr wrap="square" rtlCol="0">
            <a:spAutoFit/>
          </a:bodyPr>
          <a:lstStyle/>
          <a:p>
            <a:r>
              <a:rPr lang="en-US" dirty="0"/>
              <a:t>merge changes</a:t>
            </a:r>
          </a:p>
        </p:txBody>
      </p:sp>
    </p:spTree>
    <p:extLst>
      <p:ext uri="{BB962C8B-B14F-4D97-AF65-F5344CB8AC3E}">
        <p14:creationId xmlns:p14="http://schemas.microsoft.com/office/powerpoint/2010/main" val="33292789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BA881-8215-46C0-AFE8-39A0FA2D38FF}"/>
              </a:ext>
            </a:extLst>
          </p:cNvPr>
          <p:cNvSpPr>
            <a:spLocks noGrp="1"/>
          </p:cNvSpPr>
          <p:nvPr>
            <p:ph type="title"/>
          </p:nvPr>
        </p:nvSpPr>
        <p:spPr/>
        <p:txBody>
          <a:bodyPr/>
          <a:lstStyle/>
          <a:p>
            <a:r>
              <a:rPr lang="en-US" dirty="0"/>
              <a:t>Appendix 1: Cherry-pick and Rebase</a:t>
            </a:r>
          </a:p>
        </p:txBody>
      </p:sp>
      <p:sp>
        <p:nvSpPr>
          <p:cNvPr id="3" name="Content Placeholder 2">
            <a:extLst>
              <a:ext uri="{FF2B5EF4-FFF2-40B4-BE49-F238E27FC236}">
                <a16:creationId xmlns:a16="http://schemas.microsoft.com/office/drawing/2014/main" id="{11AEBEA7-E02F-4D35-9E44-40B350BAE34F}"/>
              </a:ext>
            </a:extLst>
          </p:cNvPr>
          <p:cNvSpPr>
            <a:spLocks noGrp="1"/>
          </p:cNvSpPr>
          <p:nvPr>
            <p:ph idx="1"/>
          </p:nvPr>
        </p:nvSpPr>
        <p:spPr/>
        <p:txBody>
          <a:bodyPr/>
          <a:lstStyle/>
          <a:p>
            <a:r>
              <a:rPr lang="en-US" dirty="0"/>
              <a:t>It is also possible to bring specific commits from one branch to another</a:t>
            </a:r>
          </a:p>
          <a:p>
            <a:r>
              <a:rPr lang="en-US" dirty="0"/>
              <a:t>This can be done with </a:t>
            </a:r>
            <a:r>
              <a:rPr lang="en-US" dirty="0">
                <a:solidFill>
                  <a:srgbClr val="FF0000"/>
                </a:solidFill>
                <a:latin typeface="Consolas" panose="020B0609020204030204" pitchFamily="49" charset="0"/>
              </a:rPr>
              <a:t>git cherry-pick</a:t>
            </a:r>
            <a:r>
              <a:rPr lang="en-US" dirty="0"/>
              <a:t> or </a:t>
            </a:r>
            <a:r>
              <a:rPr lang="en-US" dirty="0">
                <a:solidFill>
                  <a:srgbClr val="FF0000"/>
                </a:solidFill>
                <a:latin typeface="Consolas" panose="020B0609020204030204" pitchFamily="49" charset="0"/>
              </a:rPr>
              <a:t>git rebase</a:t>
            </a:r>
          </a:p>
          <a:p>
            <a:r>
              <a:rPr lang="en-US" dirty="0"/>
              <a:t>These two are quite similar commands:</a:t>
            </a:r>
          </a:p>
          <a:p>
            <a:pPr lvl="1"/>
            <a:r>
              <a:rPr lang="en-US" dirty="0"/>
              <a:t>cherry-pick is intended for bringing in individually selected commits</a:t>
            </a:r>
          </a:p>
          <a:p>
            <a:pPr lvl="1"/>
            <a:r>
              <a:rPr lang="en-US" dirty="0"/>
              <a:t>rebase is intended more for bringing in an entire line of commits</a:t>
            </a:r>
          </a:p>
        </p:txBody>
      </p:sp>
    </p:spTree>
    <p:extLst>
      <p:ext uri="{BB962C8B-B14F-4D97-AF65-F5344CB8AC3E}">
        <p14:creationId xmlns:p14="http://schemas.microsoft.com/office/powerpoint/2010/main" val="32029101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BA881-8215-46C0-AFE8-39A0FA2D38FF}"/>
              </a:ext>
            </a:extLst>
          </p:cNvPr>
          <p:cNvSpPr>
            <a:spLocks noGrp="1"/>
          </p:cNvSpPr>
          <p:nvPr>
            <p:ph type="title"/>
          </p:nvPr>
        </p:nvSpPr>
        <p:spPr/>
        <p:txBody>
          <a:bodyPr/>
          <a:lstStyle/>
          <a:p>
            <a:r>
              <a:rPr lang="en-US" dirty="0"/>
              <a:t>Appendix 2: .</a:t>
            </a:r>
            <a:r>
              <a:rPr lang="en-US" dirty="0" err="1"/>
              <a:t>gitignore</a:t>
            </a:r>
            <a:endParaRPr lang="en-US" dirty="0"/>
          </a:p>
        </p:txBody>
      </p:sp>
      <p:sp>
        <p:nvSpPr>
          <p:cNvPr id="3" name="Content Placeholder 2">
            <a:extLst>
              <a:ext uri="{FF2B5EF4-FFF2-40B4-BE49-F238E27FC236}">
                <a16:creationId xmlns:a16="http://schemas.microsoft.com/office/drawing/2014/main" id="{11AEBEA7-E02F-4D35-9E44-40B350BAE34F}"/>
              </a:ext>
            </a:extLst>
          </p:cNvPr>
          <p:cNvSpPr>
            <a:spLocks noGrp="1"/>
          </p:cNvSpPr>
          <p:nvPr>
            <p:ph idx="1"/>
          </p:nvPr>
        </p:nvSpPr>
        <p:spPr>
          <a:xfrm>
            <a:off x="838199" y="1498790"/>
            <a:ext cx="11083377" cy="5359210"/>
          </a:xfrm>
        </p:spPr>
        <p:txBody>
          <a:bodyPr>
            <a:normAutofit/>
          </a:bodyPr>
          <a:lstStyle/>
          <a:p>
            <a:r>
              <a:rPr lang="en-US" dirty="0"/>
              <a:t>Sometimes your local copy of a repository ends up containing files that you have no intention of including in the repository itself</a:t>
            </a:r>
          </a:p>
          <a:p>
            <a:r>
              <a:rPr lang="en-US" dirty="0"/>
              <a:t>For example, compiling code might result in log files that are not supposed to be a part of the repository</a:t>
            </a:r>
          </a:p>
          <a:p>
            <a:r>
              <a:rPr lang="en-US" dirty="0"/>
              <a:t>Create a file </a:t>
            </a:r>
            <a:r>
              <a:rPr lang="en-US" dirty="0" err="1">
                <a:latin typeface="Consolas" panose="020B0609020204030204" pitchFamily="49" charset="0"/>
              </a:rPr>
              <a:t>testrepo</a:t>
            </a:r>
            <a:r>
              <a:rPr lang="en-US" dirty="0">
                <a:latin typeface="Consolas" panose="020B0609020204030204" pitchFamily="49" charset="0"/>
              </a:rPr>
              <a:t>/output.log</a:t>
            </a:r>
            <a:r>
              <a:rPr lang="en-US" dirty="0"/>
              <a:t> (don’t worry about any content)</a:t>
            </a:r>
          </a:p>
          <a:p>
            <a:r>
              <a:rPr lang="en-US" dirty="0">
                <a:solidFill>
                  <a:srgbClr val="FF0000"/>
                </a:solidFill>
                <a:latin typeface="Consolas" panose="020B0609020204030204" pitchFamily="49" charset="0"/>
              </a:rPr>
              <a:t>git status</a:t>
            </a:r>
            <a:r>
              <a:rPr lang="en-US" dirty="0"/>
              <a:t> will now show that file as a new file and suggests </a:t>
            </a:r>
            <a:r>
              <a:rPr lang="en-US" dirty="0">
                <a:solidFill>
                  <a:srgbClr val="FF0000"/>
                </a:solidFill>
                <a:latin typeface="Consolas" panose="020B0609020204030204" pitchFamily="49" charset="0"/>
              </a:rPr>
              <a:t>git add</a:t>
            </a:r>
            <a:r>
              <a:rPr lang="en-US" dirty="0"/>
              <a:t>ing it; this is definitely </a:t>
            </a:r>
            <a:r>
              <a:rPr lang="en-US" b="1" dirty="0"/>
              <a:t>not</a:t>
            </a:r>
            <a:r>
              <a:rPr lang="en-US" dirty="0"/>
              <a:t> what we want to do</a:t>
            </a:r>
          </a:p>
          <a:p>
            <a:r>
              <a:rPr lang="en-US" dirty="0"/>
              <a:t>To completely ignore </a:t>
            </a:r>
            <a:r>
              <a:rPr lang="en-US" dirty="0">
                <a:latin typeface="Consolas" panose="020B0609020204030204" pitchFamily="49" charset="0"/>
              </a:rPr>
              <a:t>output.log</a:t>
            </a:r>
            <a:r>
              <a:rPr lang="en-US" dirty="0"/>
              <a:t>, you can create a new file </a:t>
            </a:r>
            <a:r>
              <a:rPr lang="en-US" dirty="0" err="1">
                <a:latin typeface="Consolas" panose="020B0609020204030204" pitchFamily="49" charset="0"/>
              </a:rPr>
              <a:t>testrepo</a:t>
            </a:r>
            <a:r>
              <a:rPr lang="en-US" dirty="0">
                <a:latin typeface="Consolas" panose="020B0609020204030204" pitchFamily="49" charset="0"/>
              </a:rPr>
              <a:t>/.</a:t>
            </a:r>
            <a:r>
              <a:rPr lang="en-US" dirty="0" err="1">
                <a:latin typeface="Consolas" panose="020B0609020204030204" pitchFamily="49" charset="0"/>
              </a:rPr>
              <a:t>gitignore</a:t>
            </a:r>
            <a:r>
              <a:rPr lang="en-US" dirty="0"/>
              <a:t> containing just one line: </a:t>
            </a:r>
            <a:r>
              <a:rPr lang="en-US" dirty="0">
                <a:latin typeface="Consolas" panose="020B0609020204030204" pitchFamily="49" charset="0"/>
              </a:rPr>
              <a:t>output.log</a:t>
            </a:r>
          </a:p>
          <a:p>
            <a:pPr lvl="1"/>
            <a:r>
              <a:rPr lang="en-US" dirty="0"/>
              <a:t>You should </a:t>
            </a:r>
            <a:r>
              <a:rPr lang="en-US" i="1" dirty="0"/>
              <a:t>add</a:t>
            </a:r>
            <a:r>
              <a:rPr lang="en-US" dirty="0"/>
              <a:t>, </a:t>
            </a:r>
            <a:r>
              <a:rPr lang="en-US" i="1" dirty="0"/>
              <a:t>commit</a:t>
            </a:r>
            <a:r>
              <a:rPr lang="en-US" dirty="0"/>
              <a:t>, and </a:t>
            </a:r>
            <a:r>
              <a:rPr lang="en-US" i="1" dirty="0"/>
              <a:t>push </a:t>
            </a:r>
            <a:r>
              <a:rPr lang="en-US" dirty="0"/>
              <a:t>the </a:t>
            </a:r>
            <a:r>
              <a:rPr lang="en-US" dirty="0">
                <a:latin typeface="Consolas" panose="020B0609020204030204" pitchFamily="49" charset="0"/>
              </a:rPr>
              <a:t>.</a:t>
            </a:r>
            <a:r>
              <a:rPr lang="en-US" dirty="0" err="1">
                <a:latin typeface="Consolas" panose="020B0609020204030204" pitchFamily="49" charset="0"/>
              </a:rPr>
              <a:t>gitignore</a:t>
            </a:r>
            <a:r>
              <a:rPr lang="en-US" dirty="0"/>
              <a:t> file to </a:t>
            </a:r>
            <a:r>
              <a:rPr lang="en-US" i="1" dirty="0"/>
              <a:t>remote</a:t>
            </a:r>
          </a:p>
          <a:p>
            <a:pPr lvl="1"/>
            <a:r>
              <a:rPr lang="en-US" dirty="0"/>
              <a:t>Now </a:t>
            </a:r>
            <a:r>
              <a:rPr lang="en-US" dirty="0">
                <a:latin typeface="Consolas" panose="020B0609020204030204" pitchFamily="49" charset="0"/>
              </a:rPr>
              <a:t>output.log</a:t>
            </a:r>
            <a:r>
              <a:rPr lang="en-US" dirty="0"/>
              <a:t> should not show up anymore at all in git status</a:t>
            </a:r>
          </a:p>
          <a:p>
            <a:pPr lvl="1"/>
            <a:r>
              <a:rPr lang="en-US" dirty="0"/>
              <a:t>You can also use wildcards in </a:t>
            </a:r>
            <a:r>
              <a:rPr lang="en-US" dirty="0">
                <a:latin typeface="Consolas" panose="020B0609020204030204" pitchFamily="49" charset="0"/>
              </a:rPr>
              <a:t>.</a:t>
            </a:r>
            <a:r>
              <a:rPr lang="en-US" dirty="0" err="1">
                <a:latin typeface="Consolas" panose="020B0609020204030204" pitchFamily="49" charset="0"/>
              </a:rPr>
              <a:t>gitignore</a:t>
            </a:r>
            <a:r>
              <a:rPr lang="en-US" dirty="0"/>
              <a:t>: </a:t>
            </a:r>
            <a:r>
              <a:rPr lang="en-US" dirty="0">
                <a:latin typeface="Consolas" panose="020B0609020204030204" pitchFamily="49" charset="0"/>
              </a:rPr>
              <a:t>*.log</a:t>
            </a:r>
            <a:r>
              <a:rPr lang="en-US" dirty="0"/>
              <a:t> would ignore all .log files (try)</a:t>
            </a:r>
          </a:p>
        </p:txBody>
      </p:sp>
    </p:spTree>
    <p:extLst>
      <p:ext uri="{BB962C8B-B14F-4D97-AF65-F5344CB8AC3E}">
        <p14:creationId xmlns:p14="http://schemas.microsoft.com/office/powerpoint/2010/main" val="30897522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BA881-8215-46C0-AFE8-39A0FA2D38FF}"/>
              </a:ext>
            </a:extLst>
          </p:cNvPr>
          <p:cNvSpPr>
            <a:spLocks noGrp="1"/>
          </p:cNvSpPr>
          <p:nvPr>
            <p:ph type="title"/>
          </p:nvPr>
        </p:nvSpPr>
        <p:spPr/>
        <p:txBody>
          <a:bodyPr/>
          <a:lstStyle/>
          <a:p>
            <a:r>
              <a:rPr lang="en-US" dirty="0"/>
              <a:t>Appendix 3: Setting up SSH public key</a:t>
            </a:r>
          </a:p>
        </p:txBody>
      </p:sp>
      <p:sp>
        <p:nvSpPr>
          <p:cNvPr id="3" name="Content Placeholder 2">
            <a:extLst>
              <a:ext uri="{FF2B5EF4-FFF2-40B4-BE49-F238E27FC236}">
                <a16:creationId xmlns:a16="http://schemas.microsoft.com/office/drawing/2014/main" id="{11AEBEA7-E02F-4D35-9E44-40B350BAE34F}"/>
              </a:ext>
            </a:extLst>
          </p:cNvPr>
          <p:cNvSpPr>
            <a:spLocks noGrp="1"/>
          </p:cNvSpPr>
          <p:nvPr>
            <p:ph idx="1"/>
          </p:nvPr>
        </p:nvSpPr>
        <p:spPr>
          <a:xfrm>
            <a:off x="838199" y="1690688"/>
            <a:ext cx="11083377" cy="4998870"/>
          </a:xfrm>
        </p:spPr>
        <p:txBody>
          <a:bodyPr>
            <a:normAutofit/>
          </a:bodyPr>
          <a:lstStyle/>
          <a:p>
            <a:r>
              <a:rPr lang="en-US" dirty="0"/>
              <a:t>In terminal, type </a:t>
            </a:r>
            <a:r>
              <a:rPr lang="en-US" dirty="0" err="1">
                <a:latin typeface="Consolas" panose="020B0609020204030204" pitchFamily="49" charset="0"/>
              </a:rPr>
              <a:t>ssh</a:t>
            </a:r>
            <a:r>
              <a:rPr lang="en-US" dirty="0">
                <a:latin typeface="Consolas" panose="020B0609020204030204" pitchFamily="49" charset="0"/>
              </a:rPr>
              <a:t>-keygen</a:t>
            </a:r>
            <a:r>
              <a:rPr lang="en-US" dirty="0"/>
              <a:t> and hit &lt;enter&gt; until all the prompts are done (defaults are good)</a:t>
            </a:r>
          </a:p>
          <a:p>
            <a:r>
              <a:rPr lang="en-US" dirty="0"/>
              <a:t>You should now have a file </a:t>
            </a:r>
            <a:r>
              <a:rPr lang="en-US" dirty="0">
                <a:latin typeface="Consolas" panose="020B0609020204030204" pitchFamily="49" charset="0"/>
              </a:rPr>
              <a:t>~/.</a:t>
            </a:r>
            <a:r>
              <a:rPr lang="en-US" dirty="0" err="1">
                <a:latin typeface="Consolas" panose="020B0609020204030204" pitchFamily="49" charset="0"/>
              </a:rPr>
              <a:t>ssh</a:t>
            </a:r>
            <a:r>
              <a:rPr lang="en-US" dirty="0">
                <a:latin typeface="Consolas" panose="020B0609020204030204" pitchFamily="49" charset="0"/>
              </a:rPr>
              <a:t>/id_rsa.pub</a:t>
            </a:r>
            <a:r>
              <a:rPr lang="en-US" dirty="0"/>
              <a:t> (here </a:t>
            </a:r>
            <a:r>
              <a:rPr lang="en-US" dirty="0">
                <a:latin typeface="Consolas" panose="020B0609020204030204" pitchFamily="49" charset="0"/>
              </a:rPr>
              <a:t>~/</a:t>
            </a:r>
            <a:r>
              <a:rPr lang="en-US" dirty="0"/>
              <a:t> denotes your home directory)</a:t>
            </a:r>
          </a:p>
          <a:p>
            <a:r>
              <a:rPr lang="en-US" dirty="0"/>
              <a:t>Open this file (there should be one long line there)</a:t>
            </a:r>
          </a:p>
          <a:p>
            <a:r>
              <a:rPr lang="en-US" dirty="0"/>
              <a:t>Go to GitHub and your account settings; find the tab “SSH and GPG keys”</a:t>
            </a:r>
          </a:p>
          <a:p>
            <a:r>
              <a:rPr lang="en-US" dirty="0"/>
              <a:t>Click “New SSH key”</a:t>
            </a:r>
          </a:p>
          <a:p>
            <a:r>
              <a:rPr lang="en-US" dirty="0"/>
              <a:t>Choose any title and </a:t>
            </a:r>
            <a:r>
              <a:rPr lang="en-US" dirty="0" err="1"/>
              <a:t>copypaste</a:t>
            </a:r>
            <a:r>
              <a:rPr lang="en-US" dirty="0"/>
              <a:t> the entire contents of </a:t>
            </a:r>
            <a:r>
              <a:rPr lang="en-US" dirty="0">
                <a:latin typeface="Consolas" panose="020B0609020204030204" pitchFamily="49" charset="0"/>
              </a:rPr>
              <a:t>id_rsa.pub</a:t>
            </a:r>
            <a:r>
              <a:rPr lang="en-US" dirty="0"/>
              <a:t> there</a:t>
            </a:r>
          </a:p>
          <a:p>
            <a:r>
              <a:rPr lang="en-US" dirty="0"/>
              <a:t>Now you should be able to use the SSH URLs with GitHub, so it shouldn’t prompt for a GitHub password anymore</a:t>
            </a:r>
          </a:p>
          <a:p>
            <a:endParaRPr lang="en-US" dirty="0"/>
          </a:p>
        </p:txBody>
      </p:sp>
    </p:spTree>
    <p:extLst>
      <p:ext uri="{BB962C8B-B14F-4D97-AF65-F5344CB8AC3E}">
        <p14:creationId xmlns:p14="http://schemas.microsoft.com/office/powerpoint/2010/main" val="42580087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1282</TotalTime>
  <Words>4849</Words>
  <Application>Microsoft Macintosh PowerPoint</Application>
  <PresentationFormat>Widescreen</PresentationFormat>
  <Paragraphs>450</Paragraphs>
  <Slides>56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Calibri</vt:lpstr>
      <vt:lpstr>Calibri Light</vt:lpstr>
      <vt:lpstr>Consolas</vt:lpstr>
      <vt:lpstr>Office Theme</vt:lpstr>
      <vt:lpstr>Introduction to Git  Kim Laine | kim.laine@microsoft.com</vt:lpstr>
      <vt:lpstr>What is Git</vt:lpstr>
      <vt:lpstr>PowerPoint Presentation</vt:lpstr>
      <vt:lpstr>What is GitHub</vt:lpstr>
      <vt:lpstr>Learning Git</vt:lpstr>
      <vt:lpstr>What is Git good for</vt:lpstr>
      <vt:lpstr>Getting started</vt:lpstr>
      <vt:lpstr>Creating a GitHub project</vt:lpstr>
      <vt:lpstr>Creating a GitHub project</vt:lpstr>
      <vt:lpstr>Creating a GitHub project</vt:lpstr>
      <vt:lpstr>Creating a Git repository</vt:lpstr>
      <vt:lpstr>Creating a Git repository</vt:lpstr>
      <vt:lpstr>Creating a Git repository</vt:lpstr>
      <vt:lpstr>Adding a remote</vt:lpstr>
      <vt:lpstr>Adding a remote</vt:lpstr>
      <vt:lpstr>Adding an upstream branch for master</vt:lpstr>
      <vt:lpstr>Pushing to GitHub</vt:lpstr>
      <vt:lpstr>Revisiting GitHub.com</vt:lpstr>
      <vt:lpstr>Making changes</vt:lpstr>
      <vt:lpstr>Making changes</vt:lpstr>
      <vt:lpstr>Still more changes</vt:lpstr>
      <vt:lpstr>HEAD</vt:lpstr>
      <vt:lpstr>Working directory, index, and HEAD</vt:lpstr>
      <vt:lpstr>Working directory, index, and HEAD</vt:lpstr>
      <vt:lpstr>Working directory, index, and HEAD</vt:lpstr>
      <vt:lpstr>Checking out commits</vt:lpstr>
      <vt:lpstr>Checking out commits</vt:lpstr>
      <vt:lpstr>Checking out commits</vt:lpstr>
      <vt:lpstr>Reset</vt:lpstr>
      <vt:lpstr>Reset</vt:lpstr>
      <vt:lpstr>Reset</vt:lpstr>
      <vt:lpstr>Reset</vt:lpstr>
      <vt:lpstr>Branches are commits</vt:lpstr>
      <vt:lpstr>Branches vs HEAD</vt:lpstr>
      <vt:lpstr>Clone</vt:lpstr>
      <vt:lpstr>Clone</vt:lpstr>
      <vt:lpstr>Non-conflicting changes</vt:lpstr>
      <vt:lpstr>Non-conflicting changes</vt:lpstr>
      <vt:lpstr>Non-conflicting changes</vt:lpstr>
      <vt:lpstr>Non-conflicting changes</vt:lpstr>
      <vt:lpstr>Non-conflicting changes</vt:lpstr>
      <vt:lpstr>Conflicting changes</vt:lpstr>
      <vt:lpstr>Conflicting changes</vt:lpstr>
      <vt:lpstr>Conflicting changes</vt:lpstr>
      <vt:lpstr>Merging</vt:lpstr>
      <vt:lpstr>Merging</vt:lpstr>
      <vt:lpstr>Completing the merge</vt:lpstr>
      <vt:lpstr>Branches</vt:lpstr>
      <vt:lpstr>Branches</vt:lpstr>
      <vt:lpstr>Branches</vt:lpstr>
      <vt:lpstr>Branches</vt:lpstr>
      <vt:lpstr>Branches</vt:lpstr>
      <vt:lpstr>Branches</vt:lpstr>
      <vt:lpstr>Appendix 1: Cherry-pick and Rebase</vt:lpstr>
      <vt:lpstr>Appendix 2: .gitignore</vt:lpstr>
      <vt:lpstr>Appendix 3: Setting up SSH public key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Git</dc:title>
  <dc:creator>Kim Laine</dc:creator>
  <cp:lastModifiedBy>Megan Lee</cp:lastModifiedBy>
  <cp:revision>61</cp:revision>
  <dcterms:created xsi:type="dcterms:W3CDTF">2019-01-09T03:03:28Z</dcterms:created>
  <dcterms:modified xsi:type="dcterms:W3CDTF">2019-01-15T09:15:39Z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kilai@microsoft.com</vt:lpwstr>
  </property>
  <property fmtid="{D5CDD505-2E9C-101B-9397-08002B2CF9AE}" pid="5" name="MSIP_Label_f42aa342-8706-4288-bd11-ebb85995028c_SetDate">
    <vt:lpwstr>2019-01-09T07:29:27.2240989Z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